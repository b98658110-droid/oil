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Assalomu alaykum, hurmatli komissiya a’zolari. Mavzuim: «Neft va neft-kimyo chiqindilari qurilish kompozitlari uchun ikkilamchi xomashyo sifatida». Ixtisoslik 02.00.08, B bloki.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Mavzu B bloki va 02.00.08 ixtisosligiga mos. Mavzu nomidagi uch qism: obyekt, qo‘llanish sohasi va yondashuv. Pasport bandlarini aniq raqamlari bilan ayting.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Muammo: chiqindi tarkibi o‘zgaruvchan, tayyorlovsiz qo‘shish xavfli, bog‘liqlik asoslanmagan. Raqamlar manbalari slayd pastida. 7 mln t — maishiy chiqindi, neft chiqindisi emas: buni aniq ayting.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Manba — NQIZlar, iste’molchi — qurilish materiallari korxonalari. Namangan viloyatidagi aniq korxona nomlarini va mavjud bo‘lsa hamkorlik hujjatini ko‘rsating — 4-mezon uchun muhim.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Bitta umumlashtiruvchi maqsad va 6 ta vazifa; har bir vazifa natijaga olib keladi. Vazifalar ketma-ketligi dissertatsiya boblariga 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Obyekt — chiqindining o‘zi va uni qo‘llash jarayoni; predmet — tayyorlash usuli va xossa orasidagi bog‘liqlik. Ular vazifalarga qanday taqsimlanganini ko‘rsating.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bir manba bo‘yicha bitta asosiy natija. Scopus/WoS bazasidagi so‘nggi 5 yil manbalari: 2021–2024. Bo‘shliqlar — sizning tadqiqotingiz to‘ldiradigan joylar. Manbalar ro‘yxatini kengaytirish tavsiya etiladi.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«Ilk bor» kabi umumiy so‘zlar ishlatilmagan — farq aniq ko‘rsatilgan: bir zanjirda, mahalliy xomashyo uchun, model ko‘rinishida.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bir vazifa — o‘z usuli va natijasi. Ma’lumotlar zanjiri: namuna kodi orqali har bir natija xomashyo partiyasiga bog‘lanadi.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Sxema — 8 bosqich. Chiqindi ulushi 0–40% seriya. Quritish harorati va zarracha o‘lchamini aniq raqam bilan to‘ldiring.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Raqamli maqsadlar GOST 6133-2019 dagi marka qatoriga tayangan. Bular maqsad, natija emas — buni aniq ayting.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Universitet laboratoriyalari va kafedra nomlarini aniq kiriting. Hamkor tashkilot bo‘lsa, shartnoma yoki kelishuvni ayting.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Maqolalar — 8 ballgacha, patentlar — 7 ballgacha. Faqat haqiqiy nashrlarni yozing. E’lon qilinmagan ishlar ham dastlabki natija sifatida ko‘rsatiladi.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Natijalar raqamlar bilan — 8 ballgacha; tatbiq mexanizmi — 7 ballgacha. Pilot partiya uchun korxonani nomi bilan ayting.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Uch yillik reja, har semestr oxirida aniq mahsulot. So‘ng: savol-javob (5-mezon, 25 ball).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· Наманганский государственный технический университет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b98658110-droid.github.io/oil/" TargetMode="External"/><Relationship Id="rId2" Type="http://schemas.openxmlformats.org/officeDocument/2006/relationships/image" Target="../media/image-13-1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НАМАНГАНСКИЙ ГОСУДАРСТВЕННЫЙ ТЕХНИЧЕСКИЙ УНИВЕРСИТЕТ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научно-исследовательской работы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280160" y="1280160"/>
            <a:ext cx="9628632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417320"/>
            <a:ext cx="9628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ИССЛЕДОВАНИЯ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691640"/>
            <a:ext cx="8714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Нефтяные и нефтехимические отходы как вторичное сырьё для строительных композитов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154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Соискатель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3741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РАХМАНОВ АНВАР АКРАМОВИЧ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80160" y="3721608"/>
            <a:ext cx="4572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3154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работы или учёбы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33741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НОУ «ISTIQBOL ZAMON BOLALARI»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3721608"/>
            <a:ext cx="4572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38679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обучения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0873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докторантура (PhD)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80160" y="4434840"/>
            <a:ext cx="4572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38679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Научная специальность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40873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02.00.08 – Химия и технология нефти и газа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4434840"/>
            <a:ext cx="4572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45811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по программе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8006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B – новые материалы, химия и нанотехнологии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280160" y="5148072"/>
            <a:ext cx="4572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45811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презентации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8006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«___» ____________ 2026 г.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5148072"/>
            <a:ext cx="4572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80160" y="5349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Магистр по специальности «Методика преподавания точных и естественных наук (химия)»</a:t>
            </a:r>
            <a:endParaRPr lang="en-US" sz="1100" dirty="0"/>
          </a:p>
        </p:txBody>
      </p:sp>
      <p:pic>
        <p:nvPicPr>
          <p:cNvPr id="26" name="Image 0" descr="/tmp/claude-0/-home-claude/1a0f1fcd-2772-57a1-9475-1557efb8a840/scratchpad/phd/img/b0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5760720"/>
            <a:ext cx="2304288" cy="777240"/>
          </a:xfrm>
          <a:prstGeom prst="rect">
            <a:avLst/>
          </a:prstGeom>
        </p:spPr>
      </p:pic>
      <p:pic>
        <p:nvPicPr>
          <p:cNvPr id="27" name="Image 1" descr="/tmp/claude-0/-home-claude/1a0f1fcd-2772-57a1-9475-1557efb8a840/scratchpad/phd/img/b08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21608" y="5760720"/>
            <a:ext cx="2304288" cy="777240"/>
          </a:xfrm>
          <a:prstGeom prst="rect">
            <a:avLst/>
          </a:prstGeom>
        </p:spPr>
      </p:pic>
      <p:pic>
        <p:nvPicPr>
          <p:cNvPr id="28" name="Image 2" descr="/tmp/claude-0/-home-claude/1a0f1fcd-2772-57a1-9475-1557efb8a840/scratchpad/phd/img/b06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63056" y="5760720"/>
            <a:ext cx="2304288" cy="777240"/>
          </a:xfrm>
          <a:prstGeom prst="rect">
            <a:avLst/>
          </a:prstGeom>
        </p:spPr>
      </p:pic>
      <p:pic>
        <p:nvPicPr>
          <p:cNvPr id="29" name="Image 3" descr="/tmp/claude-0/-home-claude/1a0f1fcd-2772-57a1-9475-1557efb8a840/scratchpad/phd/img/b05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04504" y="5760720"/>
            <a:ext cx="2304288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9 ПРОГРАММЫ · АБЗАЦ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Соответствие темы приоритетным направлениям и паспорту специальности</a:t>
            </a:r>
            <a:endParaRPr lang="en-US" sz="2400" dirty="0"/>
          </a:p>
        </p:txBody>
      </p:sp>
      <p:sp>
        <p:nvSpPr>
          <p:cNvPr id="4" name="mezon"/>
          <p:cNvSpPr/>
          <p:nvPr/>
        </p:nvSpPr>
        <p:spPr>
          <a:xfrm>
            <a:off x="9921240" y="457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21240" y="457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1110996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47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ПОЛНОЕ НАЗВАНИЕ ТЕМЫ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574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Нефтяные и нефтехимические отходы как вторичное сырьё для строительных композитов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48640" y="278892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2971800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2971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Приоритетное направление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4747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B – новые материалы, химия и нанотехнологии: получение новых композиционных материалов из промышленных отходов, ресурсосбережение.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297680" y="278892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26280" y="2971800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262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0" y="2971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с госполитикой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26280" y="34747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по обращению с твёрдыми бытовыми отходами на 2019–2028 гг. (постановление Президента от 17.04.2019): развитие системы переработки отходов.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046720" y="278892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75320" y="2971800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753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778240" y="2971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специальности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275320" y="34747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02.00.08 – Химия и технология нефти и газа: технология переработки нефтяных и нефтехимических отходов и получения из них продукции. Пункты паспорта: </a:t>
            </a:r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highlight>
                  <a:srgbClr val="FFF1C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[№ __, № __ — указать]</a:t>
            </a:r>
            <a:pPr indent="0" marL="0">
              <a:buNone/>
            </a:pPr>
            <a:r>
              <a:rPr lang="en-US" sz="12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НАЗВАНИЕ ТЕМЫ ОТРАЖАЕТ СОДЕРЖАНИЕ ИССЛЕДОВАНИЯ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48640" y="5138928"/>
            <a:ext cx="3611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" y="5212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Нефтяные и нефтехимические отходы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5669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исследования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160520" y="53492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297680" y="5138928"/>
            <a:ext cx="3611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480560" y="5212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строительных композитов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480560" y="5669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применения и продукт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7909560" y="53492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046720" y="5138928"/>
            <a:ext cx="3611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29600" y="5212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вторичное сырьё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0" y="5669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подход: отход — ресурс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9 ПРОГРАММЫ · АБЗАЦ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Актуальность темы: научная проблема, требующая решения</a:t>
            </a:r>
            <a:endParaRPr lang="en-US" sz="2400" dirty="0"/>
          </a:p>
        </p:txBody>
      </p:sp>
      <p:sp>
        <p:nvSpPr>
          <p:cNvPr id="4" name="mezon"/>
          <p:cNvSpPr/>
          <p:nvPr/>
        </p:nvSpPr>
        <p:spPr>
          <a:xfrm>
            <a:off x="9921240" y="457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21240" y="457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5760720" cy="20574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874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НАУЧНАЯ ПРОБЛЕМА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148840"/>
            <a:ext cx="5349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нефтяных и нефтехимических отходов меняется в зависимости от источника и времени. Их введение в строительный композит без подготовки может снизить прочность, долговечность и экологическую безопасность. Взаимосвязь между составом отхода, способом подготовки и свойствами композита системно не обоснована.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92240" y="1737360"/>
            <a:ext cx="5166360" cy="621792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29400" y="173736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≈60 млн т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173736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нефтешлама ежегодно образуется в нефтяной отрасли (в мире) </a:t>
            </a:r>
            <a:pPr indent="0" marL="0">
              <a:buNone/>
            </a:pPr>
            <a:r>
              <a:rPr lang="en-US" sz="1050" b="1" dirty="0">
                <a:solidFill>
                  <a:srgbClr val="E8C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92240" y="2441448"/>
            <a:ext cx="5166360" cy="621792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29400" y="2441448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≈5 т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458200" y="244144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нефтешлама образуется на каждые 1000 т сырой нефти </a:t>
            </a:r>
            <a:pPr indent="0" marL="0">
              <a:buNone/>
            </a:pPr>
            <a:r>
              <a:rPr lang="en-US" sz="1050" b="1" dirty="0">
                <a:solidFill>
                  <a:srgbClr val="E8C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92240" y="3145536"/>
            <a:ext cx="51663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29400" y="3145536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млн т / 26%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458200" y="314553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бытовых отходов в год в Узбекистане и доля перерабатываемых (общая ситуация с отходами) </a:t>
            </a:r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3977640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1" name="Image 0" descr="/tmp/claude-0/-home-claude/1a0f1fcd-2772-57a1-9475-1557efb8a840/scratchpad/phd/img/b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4114800"/>
            <a:ext cx="1325880" cy="13258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2194560" y="41148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с развитием республики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2194560" y="44805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переработки отходов (2019–2028); спрос на строительные материалы; экономия природного сырья.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172200" y="3977640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5" name="Image 1" descr="/tmp/claude-0/-home-claude/1a0f1fcd-2772-57a1-9475-1557efb8a840/scratchpad/phd/img/b08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4114800"/>
            <a:ext cx="1325880" cy="132588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818120" y="41148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с мировой наукой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7818120" y="44805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Циркулярная экономика: активные исследования применения нефтешлама в цементе, кирпиче и асфальте [4].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587044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Hasan A.M.A. et al. Environ. Sci. Pollut. Res. 2024, 31, 8369–8386. doi:10.1007/s11356-023-31674-3 (по Hu et al., 2013)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Niu A., Sun X., Lin C. Molecules 2022, 27, 7795. doi:10.3390/molecules27227795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Kun.uz, 06.08.2022 — данные зампредседателя Госкомэкологии У. Халилова в Сенате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Jagaba A.H. et al. Cleaner and Circular Bioeconomy 2022, 3, 100029. doi:10.1016/j.clcb.2022.100029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9 ПРОГРАММЫ · АБЗАЦ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Связь проблемы с потребностями производства и региона</a:t>
            </a:r>
            <a:endParaRPr lang="en-US" sz="2400" dirty="0"/>
          </a:p>
        </p:txBody>
      </p:sp>
      <p:sp>
        <p:nvSpPr>
          <p:cNvPr id="4" name="mezon"/>
          <p:cNvSpPr/>
          <p:nvPr/>
        </p:nvSpPr>
        <p:spPr>
          <a:xfrm>
            <a:off x="9921240" y="457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21240" y="457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1 И 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190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ИСТОЧНИКА ОТХОДОВ ДО ПОТРЕБИТЕЛЯ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2560320" cy="164592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12140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246888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НПЗ: Ферганский НПЗ (Ферганская долина), Бухарский НПЗ — в процессе модернизации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108960" y="260604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364992" y="2011680"/>
            <a:ext cx="2560320" cy="164592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29584" y="212140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Отход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3529584" y="246888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Нефтешлам, отработанное масло, полимерные отходы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925312" y="260604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181344" y="2011680"/>
            <a:ext cx="2560320" cy="164592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45936" y="212140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Переработка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345936" y="246888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Характеризация, подготовка, получение композита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741664" y="260604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997696" y="2011680"/>
            <a:ext cx="2560320" cy="164592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62288" y="212140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Потребитель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9162288" y="246888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Предприятия стройматериалов Наманганской области: </a:t>
            </a:r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highlight>
                  <a:srgbClr val="FFF1C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[названия предприятий]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11109960" cy="585216"/>
          </a:xfrm>
          <a:prstGeom prst="roundRect">
            <a:avLst>
              <a:gd name="adj" fmla="val 9375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384048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Планы отрасли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3429000" y="3840480"/>
            <a:ext cx="8092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Ферганском НПЗ после ремонта выпуск битума вырос на 60%, дизтоплива — на 30% [5]. Запланирована модернизация Бухарского и Ферганского НПЗ [6].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4498848"/>
            <a:ext cx="11109960" cy="585216"/>
          </a:xfrm>
          <a:prstGeom prst="roundRect">
            <a:avLst>
              <a:gd name="adj" fmla="val 9375"/>
            </a:avLst>
          </a:prstGeom>
          <a:solidFill>
            <a:srgbClr val="FFFBEF"/>
          </a:solidFill>
          <a:ln w="12700">
            <a:solidFill>
              <a:srgbClr val="E8CE8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" y="449884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Сотрудничество с предприятием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3429000" y="4498848"/>
            <a:ext cx="8092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highlight>
                  <a:srgbClr val="FFF1C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[Если есть: переписка, анкета или договор о сотрудничестве — название предприятия и дата]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5157216"/>
            <a:ext cx="11109960" cy="585216"/>
          </a:xfrm>
          <a:prstGeom prst="roundRect">
            <a:avLst>
              <a:gd name="adj" fmla="val 9375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1520" y="515721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проблему не решить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429000" y="5157216"/>
            <a:ext cx="8092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Сохраняются затраты на хранение и утилизацию отходов; риск загрязнения почвы и воды; расход первичного природного сырья в строительстве не снижается.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87044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Spot.uz, 06.10.2026 — о Ферганском НПЗ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УзА — «Бухарский и Ферганский НПЗ будут модернизированы»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9 ПРОГРАММЫ · АБЗАЦ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задачи исследования</a:t>
            </a:r>
            <a:endParaRPr lang="en-US" sz="2400" dirty="0"/>
          </a:p>
        </p:txBody>
      </p:sp>
      <p:sp>
        <p:nvSpPr>
          <p:cNvPr id="4" name="mezon"/>
          <p:cNvSpPr/>
          <p:nvPr/>
        </p:nvSpPr>
        <p:spPr>
          <a:xfrm>
            <a:off x="9921240" y="457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21240" y="457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1110996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57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Разработать и научно обосновать подход к получению строительных композитов из отобранных нефтяных и нефтехимических отходов.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697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697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ОЖИДАЕМЫЙ РЕЗУЛЬТАТ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2999232"/>
            <a:ext cx="11109960" cy="475488"/>
          </a:xfrm>
          <a:prstGeom prst="roundRect">
            <a:avLst>
              <a:gd name="adj" fmla="val 1153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306324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299923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Проанализировать источники и отобрать перспективные виды отходов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299923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183880" y="29992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источников, рейтинг кандидатов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3547872"/>
            <a:ext cx="11109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5800" y="361188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354787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состав и свойства отходов, определить способы подготовки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863840" y="354787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183880" y="35478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Паспорта отходов, способ подготовки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096512"/>
            <a:ext cx="11109960" cy="475488"/>
          </a:xfrm>
          <a:prstGeom prst="roundRect">
            <a:avLst>
              <a:gd name="adj" fmla="val 1153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5800" y="416052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" y="4160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409651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Изготовить образцы композитов на основе отходов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7863840" y="409651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183880" y="409651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Серии составов с изменяемой долей отхода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4645152"/>
            <a:ext cx="11109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85800" y="470916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85800" y="4709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280160" y="464515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Испытать образцы по физико-механическим и экологическим показателям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863840" y="464515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183880" y="4645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результатов испытаний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48640" y="5193792"/>
            <a:ext cx="11109960" cy="475488"/>
          </a:xfrm>
          <a:prstGeom prst="roundRect">
            <a:avLst>
              <a:gd name="adj" fmla="val 1153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85800" y="525780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85800" y="5257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1280160" y="519379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Оптимизировать состав и условия изготовления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7863840" y="519379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8183880" y="519379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Математическая модель, оптимальный диапазон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548640" y="5742432"/>
            <a:ext cx="11109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85800" y="580644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85800" y="5806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1280160" y="574243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Оценить техническую, экологическую и экономическую целесообразность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7863840" y="574243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8183880" y="57424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Технико-экономическое обоснование, рекомендации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9 ПРОГРАММЫ · АБЗАЦ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 и предмет исследования</a:t>
            </a:r>
            <a:endParaRPr lang="en-US" sz="2400" dirty="0"/>
          </a:p>
        </p:txBody>
      </p:sp>
      <p:sp>
        <p:nvSpPr>
          <p:cNvPr id="4" name="mezon"/>
          <p:cNvSpPr/>
          <p:nvPr/>
        </p:nvSpPr>
        <p:spPr>
          <a:xfrm>
            <a:off x="9921240" y="457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21240" y="457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3474720" cy="2514600"/>
          </a:xfrm>
          <a:prstGeom prst="roundRect">
            <a:avLst>
              <a:gd name="adj" fmla="val 2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 исследования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286000"/>
            <a:ext cx="3017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Отбираемые нефтяные и нефтехимические отходы: нефтешлам, отработанное масло, полимерные отходы — процесс их вовлечения в строительные композиты.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60520" y="1737360"/>
            <a:ext cx="3474720" cy="2514600"/>
          </a:xfrm>
          <a:prstGeom prst="roundRect">
            <a:avLst>
              <a:gd name="adj" fmla="val 218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8912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Предмет исследования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2286000"/>
            <a:ext cx="3017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Взаимосвязь между способами подготовки и модификации отходов и свойствами полученных на их основе строительных композитов.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434840"/>
            <a:ext cx="70866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553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РАЗЛИЧИЕ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82803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Объект: </a:t>
            </a:r>
            <a:pPr indent="0" marL="0">
              <a:buNone/>
            </a:pPr>
            <a:r>
              <a:rPr lang="en-US" sz="12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изучается — отход и процесс его применения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157216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Предмет: </a:t>
            </a:r>
            <a:pPr indent="0" marL="0">
              <a:buNone/>
            </a:pPr>
            <a:r>
              <a:rPr lang="en-US" sz="12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сторона объекта — связь «способ подготовки → свойство»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4864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ЦЕЛИ И ЗАДАЧАМ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705856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изучается в задачах 1–2 (отбор, характеризация), предмет — в задачах 3–5 (получение композита, испытания, оптимизация); задача 6 оценивает результат.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7863840" y="1737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КАНДИДАТЫ-ОТХОДЫ (ПРЕДВАРИТЕЛЬНОЕ СРАВНЕНИЕ)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2029968"/>
          <a:ext cx="37947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234440"/>
                <a:gridCol w="1417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Отход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Источник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Оценка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Нефтешлам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Нефтепереработка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Перспективный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Отработанное масло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Техобслуживание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Очень перспективный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Полимерные отходы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Нефтехимия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Перспективный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pic>
        <p:nvPicPr>
          <p:cNvPr id="22" name="Image 0" descr="/tmp/claude-0/-home-claude/1a0f1fcd-2772-57a1-9475-1557efb8a840/scratchpad/phd/img/b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3840480"/>
            <a:ext cx="379476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9 ПРОГРАММЫ · АБЗАЦ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Анализ отечественной и зарубежной литературы по теме</a:t>
            </a:r>
            <a:endParaRPr lang="en-US" sz="2400" dirty="0"/>
          </a:p>
        </p:txBody>
      </p:sp>
      <p:sp>
        <p:nvSpPr>
          <p:cNvPr id="4" name="mezon"/>
          <p:cNvSpPr/>
          <p:nvPr/>
        </p:nvSpPr>
        <p:spPr>
          <a:xfrm>
            <a:off x="9921240" y="457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21240" y="457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49808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5440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Источник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Основной результат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Jagaba et al., 2022 [4]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Зола нефтешлама может заменить &lt;20% цемента; геополимерный раствор с 10% золы — 31 МПа на 28 сут.; добавка до 5% в глиняную массу не ухудшила технические свойства.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Kankia et al., 2021 [7]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Зола нефтешлама в цементном растворе 0–20%; оптимум — 8,19% золы при В/Ц = 0,52 (метод поверхности отклика); водопоглощение росло линейно.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Hasan et al., 2024 [1]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Обзор методов переработки нефтешлама; опыт получения строительных и дорожных материалов, испытания в качестве добавки к битуму.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Niu et al., 2022 [2]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Систематический обзор исследований нефтешлама: характеризация, экологическое воздействие и переработка.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Отечественный: Абдурахмонов А.Б. [8]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Диссертация PhD, 02.00.08: технология получения малосернистого кокса из нефтяных остатков — опыт переработки местных нефтяных остатков.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275320" y="1737360"/>
            <a:ext cx="3383280" cy="3886200"/>
          </a:xfrm>
          <a:prstGeom prst="roundRect">
            <a:avLst>
              <a:gd name="adj" fmla="val 16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03920" y="18745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НЕДОСТАТОЧНО ИЗУЧЕННЫЕ АСПЕКТЫ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8503920" y="224028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Системная характеристика нефтяных отходов Узбекистана для строительных композитов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Комплексная модель связи «способ подготовки → свойство»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 долговременной стойкости и вымывании опасных компонентов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8503920" y="5029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C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Уточняется в ходе анализа литературы.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66928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Hasan A.M.A. et al. Environ. Sci. Pollut. Res. 2024, 31, 8369–8386. doi:10.1007/s11356-023-31674-3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Niu A., Sun X., Lin C. Molecules 2022, 27, 7795. doi:10.3390/molecules27227795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Jagaba A.H. et al. Cleaner and Circular Bioeconomy 2022, 3, 100029. doi:10.1016/j.clcb.2022.100029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Kankia M.U. et al. Materials 2021, 14(21), 6308. doi:10.3390/ma14216308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УзА — объявление о защите диссертации PhD Абдурахмонова А.Б. (02.00.08)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9 ПРОГРАММЫ · АБЗАЦ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Ожидаемая научная новизна и рабочая гипотеза</a:t>
            </a:r>
            <a:endParaRPr lang="en-US" sz="2400" dirty="0"/>
          </a:p>
        </p:txBody>
      </p:sp>
      <p:sp>
        <p:nvSpPr>
          <p:cNvPr id="4" name="mezon"/>
          <p:cNvSpPr/>
          <p:nvPr/>
        </p:nvSpPr>
        <p:spPr>
          <a:xfrm>
            <a:off x="9921240" y="457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21240" y="457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5120640" cy="4434840"/>
          </a:xfrm>
          <a:prstGeom prst="roundRect">
            <a:avLst>
              <a:gd name="adj" fmla="val 123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01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РАБОЧАЯ ГИПОТЕЗА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103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60604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Если состав и свойства отхода охарактеризованы, отход подготовлен в соответствии с выбранной матрицей, а его дозировка в композите определена экспериментально, можно получить строительный композит, отвечающий установленным требованиям.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0749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Проверяется: влияние доли отхода и способа подготовки на прочность, водопоглощение, долговечность и вымывание.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897880" y="1737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ОЖИДАЕМАЯ НАУЧНАЯ НОВИЗНА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97880" y="2029968"/>
            <a:ext cx="5760720" cy="82296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35040" y="2029968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202996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Регрессионные модели связи «состав → способ подготовки → свойство композита» для отобранных местных нефтяных отходов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897880" y="2962656"/>
            <a:ext cx="5760720" cy="82296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35040" y="2962656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296265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Технологические границы доли отхода в конкретной матрице, сохраняющие прочность и экологическую безопасность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897880" y="3895344"/>
            <a:ext cx="5760720" cy="82296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035040" y="3895344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389534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критериев отбора нефтяных отходов для строительных композитов (наличие, стабильность, совместимость, безопасность)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897880" y="4919472"/>
            <a:ext cx="5760720" cy="1252728"/>
          </a:xfrm>
          <a:prstGeom prst="roundRect">
            <a:avLst>
              <a:gd name="adj" fmla="val 4380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80760" y="50292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ОТЛИЧИЕ ОТ СУЩЕСТВУЮЩИХ РЕШЕНИЙ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080760" y="528523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известных работах обычно изучается один отход и одно свойство. Здесь для местного сырья отбор, подготовка, свойства и вымывание изучаются в одной цепочке.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9 ПРОГРАММЫ · АБЗАЦ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Применяемые методы и методология исследования</a:t>
            </a:r>
            <a:endParaRPr lang="en-US" sz="2400" dirty="0"/>
          </a:p>
        </p:txBody>
      </p:sp>
      <p:sp>
        <p:nvSpPr>
          <p:cNvPr id="4" name="mezon"/>
          <p:cNvSpPr/>
          <p:nvPr/>
        </p:nvSpPr>
        <p:spPr>
          <a:xfrm>
            <a:off x="9921240" y="457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21240" y="457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91640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подход: системный и экспериментально-статистический — спланированные эксперименты по цепочке «сырьё → подготовка → композит → свойство».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76809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977640"/>
                <a:gridCol w="1920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Задача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Отбор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Анализ документов, интервью, отбор проб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Карта источников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Характеризация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Гранулометрия, влажность, PXRD, FTIR, TG/DSC, SEM-EDS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Паспорт отхода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Получение композита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Дозирование по массе/объёму, формование, твердение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Серии составов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Испытания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Сжатие/изгиб, плотность, водопоглощение, морозостойкость, вымывание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База испытаний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Оптимизация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План эксперимента, метод поверхности отклика, регрессия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Модель, диапазон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Оценка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Функциональная единица, CAPEX/OPEX, сравнение сценариев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Технико-экономическое обоснование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458200" y="2194560"/>
            <a:ext cx="3200400" cy="210312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1" name="Image 0" descr="/tmp/claude-0/-home-claude/1a0f1fcd-2772-57a1-9475-1557efb8a840/scratchpad/phd/img/a3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5360" y="2331720"/>
            <a:ext cx="1143000" cy="1143000"/>
          </a:xfrm>
          <a:prstGeom prst="rect">
            <a:avLst/>
          </a:prstGeom>
        </p:spPr>
      </p:pic>
      <p:pic>
        <p:nvPicPr>
          <p:cNvPr id="12" name="Image 1" descr="/tmp/claude-0/-home-claude/1a0f1fcd-2772-57a1-9475-1557efb8a840/scratchpad/phd/img/a3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829800" y="2331720"/>
            <a:ext cx="1143000" cy="11430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595360" y="3566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методов: химический состав и структура (PXRD, FTIR, SEM) объясняют свойства; статистический план даёт надёжную модель при малом числе опытов.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8458200" y="4462272"/>
            <a:ext cx="320040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8595360" y="4462272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пробы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8458200" y="4800600"/>
            <a:ext cx="320040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8595360" y="4800600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Лабораторный журнал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458200" y="5138928"/>
            <a:ext cx="320040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595360" y="5138928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Единая база данных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458200" y="5477256"/>
            <a:ext cx="320040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595360" y="5477256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Статистический анализ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458200" y="5815584"/>
            <a:ext cx="3200400" cy="283464"/>
          </a:xfrm>
          <a:prstGeom prst="roundRect">
            <a:avLst>
              <a:gd name="adj" fmla="val 1935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595360" y="5815584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Вывод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11 ПРОГРАММЫ · БЛОК B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синтеза, технологические режимы и методика испытаний</a:t>
            </a:r>
            <a:endParaRPr lang="en-US" sz="2400" dirty="0"/>
          </a:p>
        </p:txBody>
      </p:sp>
      <p:sp>
        <p:nvSpPr>
          <p:cNvPr id="4" name="mezon"/>
          <p:cNvSpPr/>
          <p:nvPr/>
        </p:nvSpPr>
        <p:spPr>
          <a:xfrm>
            <a:off x="9921240" y="457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21240" y="457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190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ПРИНЦИПИАЛЬНАЯ СХЕМА ПОЛУЧЕНИЯ КОМПОЗИТА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256032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201168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01168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Приёмка и сортировка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3108960" y="2157984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364992" y="2011680"/>
            <a:ext cx="256032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74720" y="201168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822192" y="201168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Сушка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925312" y="2157984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81344" y="2011680"/>
            <a:ext cx="256032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91072" y="201168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638544" y="201168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Измельчение, просеивание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741664" y="2157984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997696" y="2011680"/>
            <a:ext cx="256032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07424" y="201168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454896" y="201168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Модификация / стабилизация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2880360"/>
            <a:ext cx="2560320" cy="713232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288036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005840" y="28803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Смешивание с вяжущим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3108960" y="3026664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3364992" y="2880360"/>
            <a:ext cx="2560320" cy="713232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74720" y="288036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3822192" y="28803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Формование, уплотнение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5925312" y="3026664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6181344" y="2880360"/>
            <a:ext cx="2560320" cy="713232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291072" y="288036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638544" y="28803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Твердение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8741664" y="3026664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8997696" y="2880360"/>
            <a:ext cx="2560320" cy="713232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07424" y="288036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9454896" y="28803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Испытание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3840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ПЛАНИРУЕМЫЕ РЕЖИМЫ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69494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0292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отхода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(контроль) · 10 · 20 · 30 · 40%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Вяжущее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Портландцемент (основное), полимер — для сравнения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Сушка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постоянной массы,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5A00"/>
                          </a:solidFill>
                          <a:highlight>
                            <a:srgbClr val="FFF1C2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[температура, °C]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Размер частиц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Задаётся просеиванием,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5A00"/>
                          </a:solidFill>
                          <a:highlight>
                            <a:srgbClr val="FFF1C2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[мм]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Твердение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и 28 суток, нормальные условия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Повторы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менее 3 образцов на состав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7"/>
          <p:cNvSpPr/>
          <p:nvPr/>
        </p:nvSpPr>
        <p:spPr>
          <a:xfrm>
            <a:off x="7726680" y="3840480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7909560" y="39502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АНАЛИТИЧЕСКОЕ ОБОРУДОВАНИЕ</a:t>
            </a:r>
            <a:endParaRPr lang="en-US" sz="950" dirty="0"/>
          </a:p>
        </p:txBody>
      </p:sp>
      <p:sp>
        <p:nvSpPr>
          <p:cNvPr id="43" name="Text 39"/>
          <p:cNvSpPr txBox="1"/>
          <p:nvPr/>
        </p:nvSpPr>
        <p:spPr>
          <a:xfrm>
            <a:off x="7909560" y="4224528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PXRD — фазовый состав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SEM-EDS — микроструктура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FTIR — функциональные группы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TG/DSC — термическое поведение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Гидравлический пресс — прочность</a:t>
            </a:r>
            <a:endParaRPr lang="en-US" sz="1150" dirty="0"/>
          </a:p>
        </p:txBody>
      </p:sp>
      <p:pic>
        <p:nvPicPr>
          <p:cNvPr id="44" name="Image 0" descr="/tmp/claude-0/-home-claude/1a0f1fcd-2772-57a1-9475-1557efb8a840/scratchpad/phd/img/a2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32720" y="4224528"/>
            <a:ext cx="1188720" cy="1463040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7909560" y="5897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Наличие — на слайде 12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11 ПРОГРАММЫ · БЛОК B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Целевые свойства, сырьевая база и экологические аспекты</a:t>
            </a:r>
            <a:endParaRPr lang="en-US" sz="2400" dirty="0"/>
          </a:p>
        </p:txBody>
      </p:sp>
      <p:sp>
        <p:nvSpPr>
          <p:cNvPr id="4" name="mezon"/>
          <p:cNvSpPr/>
          <p:nvPr/>
        </p:nvSpPr>
        <p:spPr>
          <a:xfrm>
            <a:off x="9921240" y="457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21240" y="457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1907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ЦЕЛЕВЫЕ ПОКАЗАТЕЛИ (ДЛЯ СТЕНОВЫХ КАМНЕЙ, ПО ГОСТ 6133-2019)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2670048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10312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M50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88920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марка по прочности на сжатие (в стандарте M25–M300)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64992" y="2011680"/>
            <a:ext cx="2670048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47872" y="210312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F25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3547872" y="2788920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марка по морозостойкости (в стандарте F15–F200)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81344" y="2011680"/>
            <a:ext cx="2670048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64224" y="210312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10%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6364224" y="2788920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отхода — исходная цель, уточняется экспериментально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997696" y="2011680"/>
            <a:ext cx="2670048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80576" y="210312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норма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9180576" y="2788920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вымывание опасных компонентов не выше действующих норм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56616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Целевые значения предварительные; подтверждаются в тех же условиях, что и контрольный состав.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97764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Местное сырьё и импортозамещение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" y="464515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Отходы местных НПЗ заменяют часть цемента и заполнителя; снижается расход первичного природного сырья.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297680" y="397764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98848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Экологическая безопасность и экономия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498848" y="464515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Отход утилизируется; учитывается энергия сушки и измельчения; вымывание контролируется.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046720" y="397764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47888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Экспериментальное подтверждение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247888" y="464515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литературе при замене 8–10% цемента золой нефтешлама прочность была не ниже контрольного состава [4, 7] — это обосновывает реальность целей.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9 ПРОГРАММЫ · АБЗАЦ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Материально-техническая база и её наличие</a:t>
            </a:r>
            <a:endParaRPr lang="en-US" sz="2400" dirty="0"/>
          </a:p>
        </p:txBody>
      </p:sp>
      <p:sp>
        <p:nvSpPr>
          <p:cNvPr id="4" name="mezon"/>
          <p:cNvSpPr/>
          <p:nvPr/>
        </p:nvSpPr>
        <p:spPr>
          <a:xfrm>
            <a:off x="9921240" y="457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21240" y="457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50392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  <a:gridCol w="1737360"/>
                <a:gridCol w="17373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Оборудование / средство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Назначение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университете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организации-партнёре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Сушильный шкаф, мельница, сита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Подготовка отхода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5A00"/>
                          </a:solidFill>
                          <a:highlight>
                            <a:srgbClr val="FFF1C2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[лаборатория]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Гидравлический пресс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Испытания на сжатие и изгиб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5A00"/>
                          </a:solidFill>
                          <a:highlight>
                            <a:srgbClr val="FFF1C2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[лаборатория]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5A00"/>
                          </a:solidFill>
                          <a:highlight>
                            <a:srgbClr val="FFF1C2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[организация]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Камера морозостойкости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Циклы замораживания-оттаивания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5A00"/>
                          </a:solidFill>
                          <a:highlight>
                            <a:srgbClr val="FFF1C2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[есть / нет]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5A00"/>
                          </a:solidFill>
                          <a:highlight>
                            <a:srgbClr val="FFF1C2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[организация]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Дифрактометр PXRD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Фазовый состав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5A00"/>
                          </a:solidFill>
                          <a:highlight>
                            <a:srgbClr val="FFF1C2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[есть / нет]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5A00"/>
                          </a:solidFill>
                          <a:highlight>
                            <a:srgbClr val="FFF1C2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[организация]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Микроскоп SEM-EDS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Микроструктура и элементный состав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5A00"/>
                          </a:solidFill>
                          <a:highlight>
                            <a:srgbClr val="FFF1C2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[есть / нет]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5A00"/>
                          </a:solidFill>
                          <a:highlight>
                            <a:srgbClr val="FFF1C2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[организация]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ИК-спектрометр FTIR, TG/DSC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Функциональные группы, термоанализ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5A00"/>
                          </a:solidFill>
                          <a:highlight>
                            <a:srgbClr val="FFF1C2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[есть / нет]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5A00"/>
                          </a:solidFill>
                          <a:highlight>
                            <a:srgbClr val="FFF1C2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[организация]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Программные средства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План эксперимента и статистика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/ Excel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/tmp/claude-0/-home-claude/1a0f1fcd-2772-57a1-9475-1557efb8a840/scratchpad/phd/img/a2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281160" y="1737360"/>
            <a:ext cx="2377440" cy="1828800"/>
          </a:xfrm>
          <a:prstGeom prst="rect">
            <a:avLst/>
          </a:prstGeom>
        </p:spPr>
      </p:pic>
      <p:pic>
        <p:nvPicPr>
          <p:cNvPr id="10" name="Image 1" descr="/tmp/claude-0/-home-claude/1a0f1fcd-2772-57a1-9475-1557efb8a840/scratchpad/phd/img/a2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81160" y="3657600"/>
            <a:ext cx="2377440" cy="182880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48640" y="5623560"/>
            <a:ext cx="11109960" cy="566928"/>
          </a:xfrm>
          <a:prstGeom prst="roundRect">
            <a:avLst>
              <a:gd name="adj" fmla="val 9677"/>
            </a:avLst>
          </a:prstGeom>
          <a:solidFill>
            <a:srgbClr val="FFFBEF"/>
          </a:solidFill>
          <a:ln w="12700">
            <a:solidFill>
              <a:srgbClr val="E8CE8A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777240" y="56235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Недостающее оборудование: испытания по договору с научной организацией-партнёром </a:t>
            </a:r>
            <a:pPr indent="0" marL="0">
              <a:buNone/>
            </a:pPr>
            <a:r>
              <a:rPr lang="en-US" sz="1150" b="1" dirty="0">
                <a:solidFill>
                  <a:srgbClr val="8A5A00"/>
                </a:solidFill>
                <a:highlight>
                  <a:srgbClr val="FFF1C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[название организации]</a:t>
            </a:r>
            <a:pPr indent="0" marL="0">
              <a:buNone/>
            </a:pPr>
            <a:r>
              <a:rPr lang="en-US" sz="11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9 ПРОГРАММЫ · АБЗАЦ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Предварительные результаты исследований по теме</a:t>
            </a:r>
            <a:endParaRPr lang="en-US" sz="2400" dirty="0"/>
          </a:p>
        </p:txBody>
      </p:sp>
      <p:sp>
        <p:nvSpPr>
          <p:cNvPr id="4" name="mezon"/>
          <p:cNvSpPr/>
          <p:nvPr/>
        </p:nvSpPr>
        <p:spPr>
          <a:xfrm>
            <a:off x="9921240" y="457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21240" y="457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5120640" cy="822960"/>
          </a:xfrm>
          <a:prstGeom prst="roundRect">
            <a:avLst>
              <a:gd name="adj" fmla="val 6667"/>
            </a:avLst>
          </a:prstGeom>
          <a:solidFill>
            <a:srgbClr val="FFFBEF"/>
          </a:solidFill>
          <a:ln w="12700">
            <a:solidFill>
              <a:srgbClr val="E8CE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8105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Научные статьи и тезисы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1214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8A5A00"/>
                </a:solidFill>
                <a:highlight>
                  <a:srgbClr val="FFF1C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[Автор(ы), название, журнал или конференция, год]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670048"/>
            <a:ext cx="5120640" cy="822960"/>
          </a:xfrm>
          <a:prstGeom prst="roundRect">
            <a:avLst>
              <a:gd name="adj" fmla="val 6667"/>
            </a:avLst>
          </a:prstGeom>
          <a:solidFill>
            <a:srgbClr val="FFFBEF"/>
          </a:solidFill>
          <a:ln w="12700">
            <a:solidFill>
              <a:srgbClr val="E8CE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743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Патенты и свидетельства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0540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8A5A00"/>
                </a:solidFill>
                <a:highlight>
                  <a:srgbClr val="FFF1C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[Номер и дата — если есть]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602736"/>
            <a:ext cx="5120640" cy="822960"/>
          </a:xfrm>
          <a:prstGeom prst="roundRect">
            <a:avLst>
              <a:gd name="adj" fmla="val 6667"/>
            </a:avLst>
          </a:prstGeom>
          <a:solidFill>
            <a:srgbClr val="FFFBEF"/>
          </a:solidFill>
          <a:ln w="12700">
            <a:solidFill>
              <a:srgbClr val="E8CE8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6758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Конкурсы, олимпиады, проекты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9867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8A5A00"/>
                </a:solidFill>
                <a:highlight>
                  <a:srgbClr val="FFF1C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[Если есть — название и год]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897880" y="1737360"/>
            <a:ext cx="5760720" cy="4434840"/>
          </a:xfrm>
          <a:prstGeom prst="roundRect">
            <a:avLst>
              <a:gd name="adj" fmla="val 123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72200" y="19019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НЕОПУБЛИКОВАННЫЕ ПРЕДВАРИТЕЛЬНЫЕ ИЗЫСКАНИЯ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2267712"/>
            <a:ext cx="5257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диссертации: структура из 7 глав, подробный план на 50 слайдов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Методика выявления и подтверждения источников отходов (документ — интервью — проба)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предварительного сравнения трёх кандидатов-отходов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литературы: международные источники 2021–2024 гг.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Интерактивная веб-версия проекта (UZ/RU)</a:t>
            </a:r>
            <a:endParaRPr lang="en-US" sz="1450" dirty="0"/>
          </a:p>
        </p:txBody>
      </p:sp>
      <p:sp>
        <p:nvSpPr>
          <p:cNvPr id="20" name="Text 17">
            <a:hlinkClick r:id="rId1" tooltip=""/>
          </p:cNvPr>
          <p:cNvSpPr txBox="1"/>
          <p:nvPr/>
        </p:nvSpPr>
        <p:spPr>
          <a:xfrm>
            <a:off x="6172200" y="55778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b98658110-droid.github.io/oil</a:t>
            </a:r>
            <a:endParaRPr lang="en-US" sz="1300" dirty="0"/>
          </a:p>
        </p:txBody>
      </p:sp>
      <p:pic>
        <p:nvPicPr>
          <p:cNvPr id="21" name="Image 0" descr="/tmp/claude-0/-home-claude/1a0f1fcd-2772-57a1-9475-1557efb8a840/scratchpad/phd/img/b0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4572000"/>
            <a:ext cx="512064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9 ПРОГРАММЫ · АБЗАЦ 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Ожидаемые результаты, внедрение и перспективы коммерциализации</a:t>
            </a:r>
            <a:endParaRPr lang="en-US" sz="2400" dirty="0"/>
          </a:p>
        </p:txBody>
      </p:sp>
      <p:sp>
        <p:nvSpPr>
          <p:cNvPr id="4" name="mezon"/>
          <p:cNvSpPr/>
          <p:nvPr/>
        </p:nvSpPr>
        <p:spPr>
          <a:xfrm>
            <a:off x="9921240" y="457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21240" y="457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190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ИЗМЕРИМЫЕ РЕЗУЛЬТАТЫ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173736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2084832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3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743200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паспорта отходов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14016" y="2011680"/>
            <a:ext cx="173736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523744" y="2084832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× 3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2523744" y="2743200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серии составов × повторов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79392" y="2011680"/>
            <a:ext cx="173736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89120" y="2084832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4389120" y="2743200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регрессионная модель и оптимальный диапазон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44768" y="2011680"/>
            <a:ext cx="173736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54496" y="2084832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3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6254496" y="2743200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научные статьи (ВАК, международные)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10144" y="2011680"/>
            <a:ext cx="173736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19872" y="2084832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8119872" y="2743200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на патент на изобретение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875520" y="2011680"/>
            <a:ext cx="173736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985248" y="2084832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9985248" y="2743200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внедрения (пилот)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3657600"/>
            <a:ext cx="361188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9808" y="382219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261872" y="38221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Научно-практическая значимость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49808" y="434340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Обосновывается связь состава отхода и свойств композита; разрабатываются рекомендации по отбору сырья, подготовке и контролю качества.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4297680" y="3657600"/>
            <a:ext cx="361188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498848" y="382219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498848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010912" y="38221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 внедрения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4498848" y="434340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Лаборатория → пилотная партия на предприятии стройматериалов </a:t>
            </a:r>
            <a:pPr indent="0" marL="0">
              <a:buNone/>
            </a:pPr>
            <a:r>
              <a:rPr lang="en-US" sz="1350" b="1" dirty="0">
                <a:solidFill>
                  <a:srgbClr val="8A5A00"/>
                </a:solidFill>
                <a:highlight>
                  <a:srgbClr val="FFF1C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[предприятие]</a:t>
            </a:r>
            <a:pPr indent="0" marL="0">
              <a:buNone/>
            </a:pPr>
            <a:r>
              <a:rPr lang="en-US" sz="13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акт внедрения → технологический регламент.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8046720" y="3657600"/>
            <a:ext cx="361188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47888" y="382219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247888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8759952" y="38221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Коммерциализация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8247888" y="434340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Продукция: стеновые блоки, тротуарная плитка. Лицензия или трансфер технологии на основе патента; услуга утилизации отходов для НПЗ.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9 ПРОГРАММЫ · АБЗАЦ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и этапы исследовательской работы</a:t>
            </a:r>
            <a:endParaRPr lang="en-US" sz="2400" dirty="0"/>
          </a:p>
        </p:txBody>
      </p:sp>
      <p:sp>
        <p:nvSpPr>
          <p:cNvPr id="4" name="mezon"/>
          <p:cNvSpPr/>
          <p:nvPr/>
        </p:nvSpPr>
        <p:spPr>
          <a:xfrm>
            <a:off x="9921240" y="457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21240" y="457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109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5486400"/>
                <a:gridCol w="3474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Основные работы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Научный продукт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1-й год · 1-й семестр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Анализ литературы, карта источников, отбор проб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Обзорная статья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1-й год · 2-й семестр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Характеризация отходов (PXRD, FTIR, TG/DSC, SEM)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Паспорта отходов, тезисы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2-й год · 3-й семестр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Подготовка и модификация, серии композитов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Статья (ВАК)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2-й год · 4-й семестр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Физико-механические и экологические испытания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Статья (международная), заявка на патент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3-й год · 5-й семестр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Оптимизация, пилотная партия, технико-экономическая оценка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Акт внедрения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3-й год · 6-й семестр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Завершение диссертации, предварительная экспертиза, защита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Диссертация, автореферат</a:t>
                      </a:r>
                      <a:endParaRPr lang="en-US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71500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Благодарю за внимание!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D B-blok">
  <a:themeElements>
    <a:clrScheme name="PhD B-blok">
      <a:dk1>
        <a:srgbClr val="1F2633"/>
      </a:dk1>
      <a:lt1>
        <a:srgbClr val="FFFFFF"/>
      </a:lt1>
      <a:dk2>
        <a:srgbClr val="1E2761"/>
      </a:dk2>
      <a:lt2>
        <a:srgbClr val="F4F6FB"/>
      </a:lt2>
      <a:accent1>
        <a:srgbClr val="1E2761"/>
      </a:accent1>
      <a:accent2>
        <a:srgbClr val="C9A227"/>
      </a:accent2>
      <a:accent3>
        <a:srgbClr val="3B4A8C"/>
      </a:accent3>
      <a:accent4>
        <a:srgbClr val="6A7290"/>
      </a:accent4>
      <a:accent5>
        <a:srgbClr val="CADCFC"/>
      </a:accent5>
      <a:accent6>
        <a:srgbClr val="E8CE8A"/>
      </a:accent6>
      <a:hlink>
        <a:srgbClr val="3B4A8C"/>
      </a:hlink>
      <a:folHlink>
        <a:srgbClr val="6A7290"/>
      </a:folHlink>
    </a:clrScheme>
    <a:fontScheme name="PhD B-blo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Нефтяные и нефтехимические отходы как вторичное сырьё для строительных композитов</dc:title>
  <dc:subject>PptxGenJS Presentation</dc:subject>
  <dc:creator>Raxmanov Anvar Akramovich</dc:creator>
  <cp:lastModifiedBy>Raxmanov Anvar Akramovich</cp:lastModifiedBy>
  <cp:revision>1</cp:revision>
  <dcterms:created xsi:type="dcterms:W3CDTF">2026-10-21T14:15:44Z</dcterms:created>
  <dcterms:modified xsi:type="dcterms:W3CDTF">2026-10-21T14:15:44Z</dcterms:modified>
</cp:coreProperties>
</file>