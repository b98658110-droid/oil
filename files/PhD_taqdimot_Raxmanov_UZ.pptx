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Assalomu alaykum, hurmatli komissiya a’zolari. Mavzuim: «Neft va neft-kimyo chiqindilari qurilish kompozitlari uchun ikkilamchi xomashyo sifatida». Ixtisoslik 02.00.08, B bloki.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Mavzu B bloki va 02.00.08 ixtisosligiga mos. Mavzu nomidagi uch qism: obyekt, qo‘llanish sohasi va yondashuv. Pasport bandlarini aniq raqamlari bilan ayting.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Muammo: chiqindi tarkibi o‘zgaruvchan, tayyorlovsiz qo‘shish xavfli, bog‘liqlik asoslanmagan. Raqamlar manbalari slayd pastida. 7 mln t — maishiy chiqindi, neft chiqindisi emas: buni aniq ayting.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 — NQIZlar, iste’molchi — qurilish materiallari korxonalari. Namangan viloyatidagi aniq korxona nomlarini va mavjud bo‘lsa hamkorlik hujjatini ko‘rsating — 4-mezon uchun muhim.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Bitta umumlashtiruvchi maqsad va 6 ta vazifa; har bir vazifa natijaga olib keladi. Vazifalar ketma-ketligi dissertatsiya boblariga 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Obyekt — chiqindining o‘zi va uni qo‘llash jarayoni; predmet — tayyorlash usuli va xossa orasidagi bog‘liqlik. Ular vazifalarga qanday taqsimlanganini ko‘rsating.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 bir manba bo‘yicha bitta asosiy natija. Scopus/WoS bazasidagi so‘nggi 5 yil manbalari: 2021–2024. Bo‘shliqlar — sizning tadqiqotingiz to‘ldiradigan joylar. Manbalar ro‘yxatini kengaytirish tavsiya etiladi.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«Ilk bor» kabi umumiy so‘zlar ishlatilmagan — farq aniq ko‘rsatilgan: bir zanjirda, mahalliy xomashyo uchun, model ko‘rinishida.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 bir vazifa — o‘z usuli va natijasi. Ma’lumotlar zanjiri: namuna kodi orqali har bir natija xomashyo partiyasiga bog‘lanadi.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Sxema — 8 bosqich. Chiqindi ulushi 0–40% seriya. Quritish harorati va zarracha o‘lchamini aniq raqam bilan to‘ldiring.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Raqamli maqsadlar GOST 6133-2019 dagi marka qatoriga tayangan. Bular maqsad, natija emas — buni aniq ayting.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Universitet laboratoriyalari va kafedra nomlarini aniq kiriting. Hamkor tashkilot bo‘lsa, shartnoma yoki kelishuvni ayting.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Maqolalar — 8 ballgacha, patentlar — 7 ballgacha. Faqat haqiqiy nashrlarni yozing. E’lon qilinmagan ishlar ham dastlabki natija sifatida ko‘rsatiladi.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Natijalar raqamlar bilan — 8 ballgacha; tatbiq mexanizmi — 7 ballgacha. Pilot partiya uchun korxonani nomi bilan ayting.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Uch yillik reja, har semestr oxirida aniq mahsulot. So‘ng: savol-javob (5-mezon, 25 ball).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6400800" cy="274320"/>
          </a:xfrm>
          <a:prstGeom prst="rect">
            <a:avLst/>
          </a:prstGeom>
          <a:noFill/>
          <a:ln/>
        </p:spPr>
        <p:txBody>
          <a:bodyPr wrap="square" lIns="0" tIns="0" rIns="0" bIns="0" rtlCol="0" anchor="ctr"/>
          <a:lstStyle/>
          <a:p>
            <a:pPr indent="0" marL="0">
              <a:buNone/>
            </a:pPr>
            <a:r>
              <a:rPr lang="en-US" sz="900" i="1" dirty="0">
                <a:solidFill>
                  <a:srgbClr val="8A93AE"/>
                </a:solidFill>
                <a:latin typeface="Calibri" pitchFamily="34" charset="0"/>
                <a:ea typeface="Calibri" pitchFamily="34" charset="-122"/>
                <a:cs typeface="Calibri" pitchFamily="34" charset="-120"/>
              </a:rPr>
              <a:t>PhD · Namangan davlat texnika universiteti</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b98658110-droid.github.io/oil/" TargetMode="External"/><Relationship Id="rId2" Type="http://schemas.openxmlformats.org/officeDocument/2006/relationships/image" Target="../media/image-13-1.jp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411480"/>
            <a:ext cx="11091672" cy="274320"/>
          </a:xfrm>
          <a:prstGeom prst="rect">
            <a:avLst/>
          </a:prstGeom>
          <a:noFill/>
          <a:ln/>
        </p:spPr>
        <p:txBody>
          <a:bodyPr wrap="square" lIns="0" tIns="0" rIns="0" bIns="0" rtlCol="0" anchor="t"/>
          <a:lstStyle/>
          <a:p>
            <a:pPr algn="ctr" indent="0" marL="0">
              <a:buNone/>
            </a:pPr>
            <a:r>
              <a:rPr lang="en-US" sz="1200" b="1" spc="200" kern="0" dirty="0">
                <a:solidFill>
                  <a:srgbClr val="C9A227"/>
                </a:solidFill>
                <a:latin typeface="Calibri" pitchFamily="34" charset="0"/>
                <a:ea typeface="Calibri" pitchFamily="34" charset="-122"/>
                <a:cs typeface="Calibri" pitchFamily="34" charset="-120"/>
              </a:rPr>
              <a:t>NAMANGAN DAVLAT TEXNIKA UNIVERSITETI</a:t>
            </a:r>
            <a:endParaRPr lang="en-US" sz="1200" dirty="0"/>
          </a:p>
        </p:txBody>
      </p:sp>
      <p:sp>
        <p:nvSpPr>
          <p:cNvPr id="3" name="Text 1"/>
          <p:cNvSpPr txBox="1"/>
          <p:nvPr/>
        </p:nvSpPr>
        <p:spPr>
          <a:xfrm>
            <a:off x="548640" y="749808"/>
            <a:ext cx="11091672" cy="320040"/>
          </a:xfrm>
          <a:prstGeom prst="rect">
            <a:avLst/>
          </a:prstGeom>
          <a:noFill/>
          <a:ln/>
        </p:spPr>
        <p:txBody>
          <a:bodyPr wrap="square" lIns="0" tIns="0" rIns="0" bIns="0" rtlCol="0" anchor="t"/>
          <a:lstStyle/>
          <a:p>
            <a:pPr algn="ctr" indent="0" marL="0">
              <a:buNone/>
            </a:pPr>
            <a:r>
              <a:rPr lang="en-US" sz="1500" dirty="0">
                <a:solidFill>
                  <a:srgbClr val="58607C"/>
                </a:solidFill>
                <a:latin typeface="Calibri" pitchFamily="34" charset="0"/>
                <a:ea typeface="Calibri" pitchFamily="34" charset="-122"/>
                <a:cs typeface="Calibri" pitchFamily="34" charset="-120"/>
              </a:rPr>
              <a:t>Ilmiy tadqiqot ishi taqdimoti</a:t>
            </a:r>
            <a:endParaRPr lang="en-US" sz="1500" dirty="0"/>
          </a:p>
        </p:txBody>
      </p:sp>
      <p:sp>
        <p:nvSpPr>
          <p:cNvPr id="4" name="Shape 2"/>
          <p:cNvSpPr/>
          <p:nvPr/>
        </p:nvSpPr>
        <p:spPr>
          <a:xfrm>
            <a:off x="1280160" y="1280160"/>
            <a:ext cx="9628632" cy="1600200"/>
          </a:xfrm>
          <a:prstGeom prst="roundRect">
            <a:avLst>
              <a:gd name="adj" fmla="val 3429"/>
            </a:avLst>
          </a:prstGeom>
          <a:solidFill>
            <a:srgbClr val="F4F6FB"/>
          </a:solidFill>
          <a:ln w="12700">
            <a:solidFill>
              <a:srgbClr val="CADCFC"/>
            </a:solidFill>
            <a:prstDash val="solid"/>
          </a:ln>
        </p:spPr>
      </p:sp>
      <p:sp>
        <p:nvSpPr>
          <p:cNvPr id="5" name="Text 3"/>
          <p:cNvSpPr txBox="1"/>
          <p:nvPr/>
        </p:nvSpPr>
        <p:spPr>
          <a:xfrm>
            <a:off x="1280160" y="1417320"/>
            <a:ext cx="9628632" cy="228600"/>
          </a:xfrm>
          <a:prstGeom prst="rect">
            <a:avLst/>
          </a:prstGeom>
          <a:noFill/>
          <a:ln/>
        </p:spPr>
        <p:txBody>
          <a:bodyPr wrap="square" lIns="0" tIns="0" rIns="0" bIns="0" rtlCol="0" anchor="t"/>
          <a:lstStyle/>
          <a:p>
            <a:pPr algn="ctr" indent="0" marL="0">
              <a:buNone/>
            </a:pPr>
            <a:r>
              <a:rPr lang="en-US" sz="950" b="1" spc="150" kern="0" dirty="0">
                <a:solidFill>
                  <a:srgbClr val="1E2761"/>
                </a:solidFill>
                <a:latin typeface="Calibri" pitchFamily="34" charset="0"/>
                <a:ea typeface="Calibri" pitchFamily="34" charset="-122"/>
                <a:cs typeface="Calibri" pitchFamily="34" charset="-120"/>
              </a:rPr>
              <a:t>TADQIQOT MAVZUSI</a:t>
            </a:r>
            <a:endParaRPr lang="en-US" sz="950" dirty="0"/>
          </a:p>
        </p:txBody>
      </p:sp>
      <p:sp>
        <p:nvSpPr>
          <p:cNvPr id="6" name="Text 4"/>
          <p:cNvSpPr txBox="1"/>
          <p:nvPr/>
        </p:nvSpPr>
        <p:spPr>
          <a:xfrm>
            <a:off x="1737360" y="1691640"/>
            <a:ext cx="8714232" cy="1051560"/>
          </a:xfrm>
          <a:prstGeom prst="rect">
            <a:avLst/>
          </a:prstGeom>
          <a:noFill/>
          <a:ln/>
        </p:spPr>
        <p:txBody>
          <a:bodyPr wrap="square" lIns="0" tIns="0" rIns="0" bIns="0" rtlCol="0" anchor="ctr">
            <a:normAutofit/>
          </a:bodyPr>
          <a:lstStyle/>
          <a:p>
            <a:pPr algn="ctr" indent="0" marL="0">
              <a:buNone/>
            </a:pPr>
            <a:r>
              <a:rPr lang="en-US" sz="2600" b="1" dirty="0">
                <a:solidFill>
                  <a:srgbClr val="1E2761"/>
                </a:solidFill>
                <a:latin typeface="Cambria" pitchFamily="34" charset="0"/>
                <a:ea typeface="Cambria" pitchFamily="34" charset="-122"/>
                <a:cs typeface="Cambria" pitchFamily="34" charset="-120"/>
              </a:rPr>
              <a:t>Neft va neft-kimyo chiqindilari qurilish kompozitlari uchun ikkilamchi xomashyo sifatida</a:t>
            </a:r>
            <a:endParaRPr lang="en-US" sz="2600" dirty="0"/>
          </a:p>
        </p:txBody>
      </p:sp>
      <p:sp>
        <p:nvSpPr>
          <p:cNvPr id="7" name="Text 5"/>
          <p:cNvSpPr txBox="1"/>
          <p:nvPr/>
        </p:nvSpPr>
        <p:spPr>
          <a:xfrm>
            <a:off x="1280160" y="3154680"/>
            <a:ext cx="4572000" cy="201168"/>
          </a:xfrm>
          <a:prstGeom prst="rect">
            <a:avLst/>
          </a:prstGeom>
          <a:noFill/>
          <a:ln/>
        </p:spPr>
        <p:txBody>
          <a:bodyPr wrap="square" lIns="0" tIns="0" rIns="0" bIns="0" rtlCol="0" anchor="t"/>
          <a:lstStyle/>
          <a:p>
            <a:pPr indent="0" marL="0">
              <a:buNone/>
            </a:pPr>
            <a:r>
              <a:rPr lang="en-US" sz="950" b="1" spc="100" kern="0" dirty="0">
                <a:solidFill>
                  <a:srgbClr val="C9A227"/>
                </a:solidFill>
                <a:latin typeface="Calibri" pitchFamily="34" charset="0"/>
                <a:ea typeface="Calibri" pitchFamily="34" charset="-122"/>
                <a:cs typeface="Calibri" pitchFamily="34" charset="-120"/>
              </a:rPr>
              <a:t>Talabgor</a:t>
            </a:r>
            <a:endParaRPr lang="en-US" sz="950" dirty="0"/>
          </a:p>
        </p:txBody>
      </p:sp>
      <p:sp>
        <p:nvSpPr>
          <p:cNvPr id="8" name="Text 6"/>
          <p:cNvSpPr txBox="1"/>
          <p:nvPr/>
        </p:nvSpPr>
        <p:spPr>
          <a:xfrm>
            <a:off x="1280160" y="3374136"/>
            <a:ext cx="4572000" cy="310896"/>
          </a:xfrm>
          <a:prstGeom prst="rect">
            <a:avLst/>
          </a:prstGeom>
          <a:noFill/>
          <a:ln/>
        </p:spPr>
        <p:txBody>
          <a:bodyPr wrap="square" lIns="0" tIns="0" rIns="0" bIns="0" rtlCol="0" anchor="ctr">
            <a:normAutofit/>
          </a:bodyPr>
          <a:lstStyle/>
          <a:p>
            <a:pPr indent="0" marL="0">
              <a:buNone/>
            </a:pPr>
            <a:r>
              <a:rPr lang="en-US" sz="1500" b="1" dirty="0">
                <a:solidFill>
                  <a:srgbClr val="1F2633"/>
                </a:solidFill>
                <a:latin typeface="Calibri" pitchFamily="34" charset="0"/>
                <a:ea typeface="Calibri" pitchFamily="34" charset="-122"/>
                <a:cs typeface="Calibri" pitchFamily="34" charset="-120"/>
              </a:rPr>
              <a:t>RAXMANOV ANVAR AKRAMOVICH</a:t>
            </a:r>
            <a:endParaRPr lang="en-US" sz="1500" dirty="0"/>
          </a:p>
        </p:txBody>
      </p:sp>
      <p:sp>
        <p:nvSpPr>
          <p:cNvPr id="9" name="Shape 7"/>
          <p:cNvSpPr/>
          <p:nvPr/>
        </p:nvSpPr>
        <p:spPr>
          <a:xfrm>
            <a:off x="1280160" y="3721608"/>
            <a:ext cx="4572000" cy="0"/>
          </a:xfrm>
          <a:prstGeom prst="line">
            <a:avLst/>
          </a:prstGeom>
          <a:noFill/>
          <a:ln w="12700">
            <a:solidFill>
              <a:srgbClr val="CADCFC"/>
            </a:solidFill>
            <a:prstDash val="solid"/>
          </a:ln>
        </p:spPr>
      </p:sp>
      <p:sp>
        <p:nvSpPr>
          <p:cNvPr id="10" name="Text 8"/>
          <p:cNvSpPr txBox="1"/>
          <p:nvPr/>
        </p:nvSpPr>
        <p:spPr>
          <a:xfrm>
            <a:off x="6309360" y="3154680"/>
            <a:ext cx="4572000" cy="201168"/>
          </a:xfrm>
          <a:prstGeom prst="rect">
            <a:avLst/>
          </a:prstGeom>
          <a:noFill/>
          <a:ln/>
        </p:spPr>
        <p:txBody>
          <a:bodyPr wrap="square" lIns="0" tIns="0" rIns="0" bIns="0" rtlCol="0" anchor="t"/>
          <a:lstStyle/>
          <a:p>
            <a:pPr indent="0" marL="0">
              <a:buNone/>
            </a:pPr>
            <a:r>
              <a:rPr lang="en-US" sz="950" b="1" spc="100" kern="0" dirty="0">
                <a:solidFill>
                  <a:srgbClr val="C9A227"/>
                </a:solidFill>
                <a:latin typeface="Calibri" pitchFamily="34" charset="0"/>
                <a:ea typeface="Calibri" pitchFamily="34" charset="-122"/>
                <a:cs typeface="Calibri" pitchFamily="34" charset="-120"/>
              </a:rPr>
              <a:t>Ish yoki o‘qish joyi</a:t>
            </a:r>
            <a:endParaRPr lang="en-US" sz="950" dirty="0"/>
          </a:p>
        </p:txBody>
      </p:sp>
      <p:sp>
        <p:nvSpPr>
          <p:cNvPr id="11" name="Text 9"/>
          <p:cNvSpPr txBox="1"/>
          <p:nvPr/>
        </p:nvSpPr>
        <p:spPr>
          <a:xfrm>
            <a:off x="6309360" y="3374136"/>
            <a:ext cx="4572000" cy="310896"/>
          </a:xfrm>
          <a:prstGeom prst="rect">
            <a:avLst/>
          </a:prstGeom>
          <a:noFill/>
          <a:ln/>
        </p:spPr>
        <p:txBody>
          <a:bodyPr wrap="square" lIns="0" tIns="0" rIns="0" bIns="0" rtlCol="0" anchor="ctr">
            <a:normAutofit/>
          </a:bodyPr>
          <a:lstStyle/>
          <a:p>
            <a:pPr indent="0" marL="0">
              <a:buNone/>
            </a:pPr>
            <a:r>
              <a:rPr lang="en-US" sz="1300" dirty="0">
                <a:solidFill>
                  <a:srgbClr val="1F2633"/>
                </a:solidFill>
                <a:latin typeface="Calibri" pitchFamily="34" charset="0"/>
                <a:ea typeface="Calibri" pitchFamily="34" charset="-122"/>
                <a:cs typeface="Calibri" pitchFamily="34" charset="-120"/>
              </a:rPr>
              <a:t>“ISTIQBOL ZAMON BOLALARI” NTM</a:t>
            </a:r>
            <a:endParaRPr lang="en-US" sz="1300" dirty="0"/>
          </a:p>
        </p:txBody>
      </p:sp>
      <p:sp>
        <p:nvSpPr>
          <p:cNvPr id="12" name="Shape 10"/>
          <p:cNvSpPr/>
          <p:nvPr/>
        </p:nvSpPr>
        <p:spPr>
          <a:xfrm>
            <a:off x="6309360" y="3721608"/>
            <a:ext cx="4572000" cy="0"/>
          </a:xfrm>
          <a:prstGeom prst="line">
            <a:avLst/>
          </a:prstGeom>
          <a:noFill/>
          <a:ln w="12700">
            <a:solidFill>
              <a:srgbClr val="CADCFC"/>
            </a:solidFill>
            <a:prstDash val="solid"/>
          </a:ln>
        </p:spPr>
      </p:sp>
      <p:sp>
        <p:nvSpPr>
          <p:cNvPr id="13" name="Text 11"/>
          <p:cNvSpPr txBox="1"/>
          <p:nvPr/>
        </p:nvSpPr>
        <p:spPr>
          <a:xfrm>
            <a:off x="1280160" y="3867912"/>
            <a:ext cx="4572000" cy="201168"/>
          </a:xfrm>
          <a:prstGeom prst="rect">
            <a:avLst/>
          </a:prstGeom>
          <a:noFill/>
          <a:ln/>
        </p:spPr>
        <p:txBody>
          <a:bodyPr wrap="square" lIns="0" tIns="0" rIns="0" bIns="0" rtlCol="0" anchor="t"/>
          <a:lstStyle/>
          <a:p>
            <a:pPr indent="0" marL="0">
              <a:buNone/>
            </a:pPr>
            <a:r>
              <a:rPr lang="en-US" sz="950" b="1" spc="100" kern="0" dirty="0">
                <a:solidFill>
                  <a:srgbClr val="C9A227"/>
                </a:solidFill>
                <a:latin typeface="Calibri" pitchFamily="34" charset="0"/>
                <a:ea typeface="Calibri" pitchFamily="34" charset="-122"/>
                <a:cs typeface="Calibri" pitchFamily="34" charset="-120"/>
              </a:rPr>
              <a:t>Ta’lim shakli</a:t>
            </a:r>
            <a:endParaRPr lang="en-US" sz="950" dirty="0"/>
          </a:p>
        </p:txBody>
      </p:sp>
      <p:sp>
        <p:nvSpPr>
          <p:cNvPr id="14" name="Text 12"/>
          <p:cNvSpPr txBox="1"/>
          <p:nvPr/>
        </p:nvSpPr>
        <p:spPr>
          <a:xfrm>
            <a:off x="1280160" y="4087368"/>
            <a:ext cx="4572000" cy="310896"/>
          </a:xfrm>
          <a:prstGeom prst="rect">
            <a:avLst/>
          </a:prstGeom>
          <a:noFill/>
          <a:ln/>
        </p:spPr>
        <p:txBody>
          <a:bodyPr wrap="square" lIns="0" tIns="0" rIns="0" bIns="0" rtlCol="0" anchor="ctr">
            <a:normAutofit/>
          </a:bodyPr>
          <a:lstStyle/>
          <a:p>
            <a:pPr indent="0" marL="0">
              <a:buNone/>
            </a:pPr>
            <a:r>
              <a:rPr lang="en-US" sz="1300" dirty="0">
                <a:solidFill>
                  <a:srgbClr val="1F2633"/>
                </a:solidFill>
                <a:latin typeface="Calibri" pitchFamily="34" charset="0"/>
                <a:ea typeface="Calibri" pitchFamily="34" charset="-122"/>
                <a:cs typeface="Calibri" pitchFamily="34" charset="-120"/>
              </a:rPr>
              <a:t>Tayanch doktorantura (PhD)</a:t>
            </a:r>
            <a:endParaRPr lang="en-US" sz="1300" dirty="0"/>
          </a:p>
        </p:txBody>
      </p:sp>
      <p:sp>
        <p:nvSpPr>
          <p:cNvPr id="15" name="Shape 13"/>
          <p:cNvSpPr/>
          <p:nvPr/>
        </p:nvSpPr>
        <p:spPr>
          <a:xfrm>
            <a:off x="1280160" y="4434840"/>
            <a:ext cx="4572000" cy="0"/>
          </a:xfrm>
          <a:prstGeom prst="line">
            <a:avLst/>
          </a:prstGeom>
          <a:noFill/>
          <a:ln w="12700">
            <a:solidFill>
              <a:srgbClr val="CADCFC"/>
            </a:solidFill>
            <a:prstDash val="solid"/>
          </a:ln>
        </p:spPr>
      </p:sp>
      <p:sp>
        <p:nvSpPr>
          <p:cNvPr id="16" name="Text 14"/>
          <p:cNvSpPr txBox="1"/>
          <p:nvPr/>
        </p:nvSpPr>
        <p:spPr>
          <a:xfrm>
            <a:off x="6309360" y="3867912"/>
            <a:ext cx="4572000" cy="201168"/>
          </a:xfrm>
          <a:prstGeom prst="rect">
            <a:avLst/>
          </a:prstGeom>
          <a:noFill/>
          <a:ln/>
        </p:spPr>
        <p:txBody>
          <a:bodyPr wrap="square" lIns="0" tIns="0" rIns="0" bIns="0" rtlCol="0" anchor="t"/>
          <a:lstStyle/>
          <a:p>
            <a:pPr indent="0" marL="0">
              <a:buNone/>
            </a:pPr>
            <a:r>
              <a:rPr lang="en-US" sz="950" b="1" spc="100" kern="0" dirty="0">
                <a:solidFill>
                  <a:srgbClr val="C9A227"/>
                </a:solidFill>
                <a:latin typeface="Calibri" pitchFamily="34" charset="0"/>
                <a:ea typeface="Calibri" pitchFamily="34" charset="-122"/>
                <a:cs typeface="Calibri" pitchFamily="34" charset="-120"/>
              </a:rPr>
              <a:t>Ilmiy ixtisoslik</a:t>
            </a:r>
            <a:endParaRPr lang="en-US" sz="950" dirty="0"/>
          </a:p>
        </p:txBody>
      </p:sp>
      <p:sp>
        <p:nvSpPr>
          <p:cNvPr id="17" name="Text 15"/>
          <p:cNvSpPr txBox="1"/>
          <p:nvPr/>
        </p:nvSpPr>
        <p:spPr>
          <a:xfrm>
            <a:off x="6309360" y="4087368"/>
            <a:ext cx="4572000" cy="310896"/>
          </a:xfrm>
          <a:prstGeom prst="rect">
            <a:avLst/>
          </a:prstGeom>
          <a:noFill/>
          <a:ln/>
        </p:spPr>
        <p:txBody>
          <a:bodyPr wrap="square" lIns="0" tIns="0" rIns="0" bIns="0" rtlCol="0" anchor="ctr">
            <a:normAutofit/>
          </a:bodyPr>
          <a:lstStyle/>
          <a:p>
            <a:pPr indent="0" marL="0">
              <a:buNone/>
            </a:pPr>
            <a:r>
              <a:rPr lang="en-US" sz="1300" dirty="0">
                <a:solidFill>
                  <a:srgbClr val="1F2633"/>
                </a:solidFill>
                <a:latin typeface="Calibri" pitchFamily="34" charset="0"/>
                <a:ea typeface="Calibri" pitchFamily="34" charset="-122"/>
                <a:cs typeface="Calibri" pitchFamily="34" charset="-120"/>
              </a:rPr>
              <a:t>02.00.08 – Neft va gaz kimyosi va texnologiyasi</a:t>
            </a:r>
            <a:endParaRPr lang="en-US" sz="1300" dirty="0"/>
          </a:p>
        </p:txBody>
      </p:sp>
      <p:sp>
        <p:nvSpPr>
          <p:cNvPr id="18" name="Shape 16"/>
          <p:cNvSpPr/>
          <p:nvPr/>
        </p:nvSpPr>
        <p:spPr>
          <a:xfrm>
            <a:off x="6309360" y="4434840"/>
            <a:ext cx="4572000" cy="0"/>
          </a:xfrm>
          <a:prstGeom prst="line">
            <a:avLst/>
          </a:prstGeom>
          <a:noFill/>
          <a:ln w="12700">
            <a:solidFill>
              <a:srgbClr val="CADCFC"/>
            </a:solidFill>
            <a:prstDash val="solid"/>
          </a:ln>
        </p:spPr>
      </p:sp>
      <p:sp>
        <p:nvSpPr>
          <p:cNvPr id="19" name="Text 17"/>
          <p:cNvSpPr txBox="1"/>
          <p:nvPr/>
        </p:nvSpPr>
        <p:spPr>
          <a:xfrm>
            <a:off x="1280160" y="4581144"/>
            <a:ext cx="4572000" cy="201168"/>
          </a:xfrm>
          <a:prstGeom prst="rect">
            <a:avLst/>
          </a:prstGeom>
          <a:noFill/>
          <a:ln/>
        </p:spPr>
        <p:txBody>
          <a:bodyPr wrap="square" lIns="0" tIns="0" rIns="0" bIns="0" rtlCol="0" anchor="t"/>
          <a:lstStyle/>
          <a:p>
            <a:pPr indent="0" marL="0">
              <a:buNone/>
            </a:pPr>
            <a:r>
              <a:rPr lang="en-US" sz="950" b="1" spc="100" kern="0" dirty="0">
                <a:solidFill>
                  <a:srgbClr val="C9A227"/>
                </a:solidFill>
                <a:latin typeface="Calibri" pitchFamily="34" charset="0"/>
                <a:ea typeface="Calibri" pitchFamily="34" charset="-122"/>
                <a:cs typeface="Calibri" pitchFamily="34" charset="-120"/>
              </a:rPr>
              <a:t>Dastur bo‘yicha blok</a:t>
            </a:r>
            <a:endParaRPr lang="en-US" sz="950" dirty="0"/>
          </a:p>
        </p:txBody>
      </p:sp>
      <p:sp>
        <p:nvSpPr>
          <p:cNvPr id="20" name="Text 18"/>
          <p:cNvSpPr txBox="1"/>
          <p:nvPr/>
        </p:nvSpPr>
        <p:spPr>
          <a:xfrm>
            <a:off x="1280160" y="4800600"/>
            <a:ext cx="4572000" cy="310896"/>
          </a:xfrm>
          <a:prstGeom prst="rect">
            <a:avLst/>
          </a:prstGeom>
          <a:noFill/>
          <a:ln/>
        </p:spPr>
        <p:txBody>
          <a:bodyPr wrap="square" lIns="0" tIns="0" rIns="0" bIns="0" rtlCol="0" anchor="ctr">
            <a:normAutofit/>
          </a:bodyPr>
          <a:lstStyle/>
          <a:p>
            <a:pPr indent="0" marL="0">
              <a:buNone/>
            </a:pPr>
            <a:r>
              <a:rPr lang="en-US" sz="1300" dirty="0">
                <a:solidFill>
                  <a:srgbClr val="1F2633"/>
                </a:solidFill>
                <a:latin typeface="Calibri" pitchFamily="34" charset="0"/>
                <a:ea typeface="Calibri" pitchFamily="34" charset="-122"/>
                <a:cs typeface="Calibri" pitchFamily="34" charset="-120"/>
              </a:rPr>
              <a:t>B bloki – yangi materiallar, kimyo va nanotexnologiyalar</a:t>
            </a:r>
            <a:endParaRPr lang="en-US" sz="1300" dirty="0"/>
          </a:p>
        </p:txBody>
      </p:sp>
      <p:sp>
        <p:nvSpPr>
          <p:cNvPr id="21" name="Shape 19"/>
          <p:cNvSpPr/>
          <p:nvPr/>
        </p:nvSpPr>
        <p:spPr>
          <a:xfrm>
            <a:off x="1280160" y="5148072"/>
            <a:ext cx="4572000" cy="0"/>
          </a:xfrm>
          <a:prstGeom prst="line">
            <a:avLst/>
          </a:prstGeom>
          <a:noFill/>
          <a:ln w="12700">
            <a:solidFill>
              <a:srgbClr val="CADCFC"/>
            </a:solidFill>
            <a:prstDash val="solid"/>
          </a:ln>
        </p:spPr>
      </p:sp>
      <p:sp>
        <p:nvSpPr>
          <p:cNvPr id="22" name="Text 20"/>
          <p:cNvSpPr txBox="1"/>
          <p:nvPr/>
        </p:nvSpPr>
        <p:spPr>
          <a:xfrm>
            <a:off x="6309360" y="4581144"/>
            <a:ext cx="4572000" cy="201168"/>
          </a:xfrm>
          <a:prstGeom prst="rect">
            <a:avLst/>
          </a:prstGeom>
          <a:noFill/>
          <a:ln/>
        </p:spPr>
        <p:txBody>
          <a:bodyPr wrap="square" lIns="0" tIns="0" rIns="0" bIns="0" rtlCol="0" anchor="t"/>
          <a:lstStyle/>
          <a:p>
            <a:pPr indent="0" marL="0">
              <a:buNone/>
            </a:pPr>
            <a:r>
              <a:rPr lang="en-US" sz="950" b="1" spc="100" kern="0" dirty="0">
                <a:solidFill>
                  <a:srgbClr val="C9A227"/>
                </a:solidFill>
                <a:latin typeface="Calibri" pitchFamily="34" charset="0"/>
                <a:ea typeface="Calibri" pitchFamily="34" charset="-122"/>
                <a:cs typeface="Calibri" pitchFamily="34" charset="-120"/>
              </a:rPr>
              <a:t>Taqdimot sanasi</a:t>
            </a:r>
            <a:endParaRPr lang="en-US" sz="950" dirty="0"/>
          </a:p>
        </p:txBody>
      </p:sp>
      <p:sp>
        <p:nvSpPr>
          <p:cNvPr id="23" name="Text 21"/>
          <p:cNvSpPr txBox="1"/>
          <p:nvPr/>
        </p:nvSpPr>
        <p:spPr>
          <a:xfrm>
            <a:off x="6309360" y="4800600"/>
            <a:ext cx="4572000" cy="310896"/>
          </a:xfrm>
          <a:prstGeom prst="rect">
            <a:avLst/>
          </a:prstGeom>
          <a:noFill/>
          <a:ln/>
        </p:spPr>
        <p:txBody>
          <a:bodyPr wrap="square" lIns="0" tIns="0" rIns="0" bIns="0" rtlCol="0" anchor="ctr">
            <a:normAutofit/>
          </a:bodyPr>
          <a:lstStyle/>
          <a:p>
            <a:pPr indent="0" marL="0">
              <a:buNone/>
            </a:pPr>
            <a:r>
              <a:rPr lang="en-US" sz="1300" dirty="0">
                <a:solidFill>
                  <a:srgbClr val="1F2633"/>
                </a:solidFill>
                <a:latin typeface="Calibri" pitchFamily="34" charset="0"/>
                <a:ea typeface="Calibri" pitchFamily="34" charset="-122"/>
                <a:cs typeface="Calibri" pitchFamily="34" charset="-120"/>
              </a:rPr>
              <a:t>2026-yil “___” ____________</a:t>
            </a:r>
            <a:endParaRPr lang="en-US" sz="1300" dirty="0"/>
          </a:p>
        </p:txBody>
      </p:sp>
      <p:sp>
        <p:nvSpPr>
          <p:cNvPr id="24" name="Shape 22"/>
          <p:cNvSpPr/>
          <p:nvPr/>
        </p:nvSpPr>
        <p:spPr>
          <a:xfrm>
            <a:off x="6309360" y="5148072"/>
            <a:ext cx="4572000" cy="0"/>
          </a:xfrm>
          <a:prstGeom prst="line">
            <a:avLst/>
          </a:prstGeom>
          <a:noFill/>
          <a:ln w="12700">
            <a:solidFill>
              <a:srgbClr val="CADCFC"/>
            </a:solidFill>
            <a:prstDash val="solid"/>
          </a:ln>
        </p:spPr>
      </p:sp>
      <p:sp>
        <p:nvSpPr>
          <p:cNvPr id="25" name="Text 23"/>
          <p:cNvSpPr txBox="1"/>
          <p:nvPr/>
        </p:nvSpPr>
        <p:spPr>
          <a:xfrm>
            <a:off x="1280160" y="5349240"/>
            <a:ext cx="9601200" cy="274320"/>
          </a:xfrm>
          <a:prstGeom prst="rect">
            <a:avLst/>
          </a:prstGeom>
          <a:noFill/>
          <a:ln/>
        </p:spPr>
        <p:txBody>
          <a:bodyPr wrap="square" lIns="0" tIns="0" rIns="0" bIns="0" rtlCol="0" anchor="t"/>
          <a:lstStyle/>
          <a:p>
            <a:pPr indent="0" marL="0">
              <a:buNone/>
            </a:pPr>
            <a:r>
              <a:rPr lang="en-US" sz="1100" i="1" dirty="0">
                <a:solidFill>
                  <a:srgbClr val="58607C"/>
                </a:solidFill>
                <a:latin typeface="Calibri" pitchFamily="34" charset="0"/>
                <a:ea typeface="Calibri" pitchFamily="34" charset="-122"/>
                <a:cs typeface="Calibri" pitchFamily="34" charset="-120"/>
              </a:rPr>
              <a:t>«Aniq va tabiiy fanlarni o‘qitish metodikasi (kimyo)» mutaxassisligi magistri</a:t>
            </a:r>
            <a:endParaRPr lang="en-US" sz="1100" dirty="0"/>
          </a:p>
        </p:txBody>
      </p:sp>
      <p:pic>
        <p:nvPicPr>
          <p:cNvPr id="26" name="Image 0" descr="/tmp/claude-0/-home-claude/1a0f1fcd-2772-57a1-9475-1557efb8a840/scratchpad/phd/img/b00.jpg">    </p:cNvPr>
          <p:cNvPicPr>
            <a:picLocks noChangeAspect="1"/>
          </p:cNvPicPr>
          <p:nvPr/>
        </p:nvPicPr>
        <p:blipFill>
          <a:blip r:embed="rId1"/>
          <a:srcRect l="0" r="0" t="0" b="0"/>
          <a:stretch/>
        </p:blipFill>
        <p:spPr>
          <a:xfrm>
            <a:off x="1280160" y="5760720"/>
            <a:ext cx="2304288" cy="777240"/>
          </a:xfrm>
          <a:prstGeom prst="rect">
            <a:avLst/>
          </a:prstGeom>
        </p:spPr>
      </p:pic>
      <p:pic>
        <p:nvPicPr>
          <p:cNvPr id="27" name="Image 1" descr="/tmp/claude-0/-home-claude/1a0f1fcd-2772-57a1-9475-1557efb8a840/scratchpad/phd/img/b08.jpg">    </p:cNvPr>
          <p:cNvPicPr>
            <a:picLocks noChangeAspect="1"/>
          </p:cNvPicPr>
          <p:nvPr/>
        </p:nvPicPr>
        <p:blipFill>
          <a:blip r:embed="rId2"/>
          <a:srcRect l="0" r="0" t="0" b="0"/>
          <a:stretch/>
        </p:blipFill>
        <p:spPr>
          <a:xfrm>
            <a:off x="3721608" y="5760720"/>
            <a:ext cx="2304288" cy="777240"/>
          </a:xfrm>
          <a:prstGeom prst="rect">
            <a:avLst/>
          </a:prstGeom>
        </p:spPr>
      </p:pic>
      <p:pic>
        <p:nvPicPr>
          <p:cNvPr id="28" name="Image 2" descr="/tmp/claude-0/-home-claude/1a0f1fcd-2772-57a1-9475-1557efb8a840/scratchpad/phd/img/b06.jpg">    </p:cNvPr>
          <p:cNvPicPr>
            <a:picLocks noChangeAspect="1"/>
          </p:cNvPicPr>
          <p:nvPr/>
        </p:nvPicPr>
        <p:blipFill>
          <a:blip r:embed="rId3"/>
          <a:srcRect l="0" r="0" t="0" b="0"/>
          <a:stretch/>
        </p:blipFill>
        <p:spPr>
          <a:xfrm>
            <a:off x="6163056" y="5760720"/>
            <a:ext cx="2304288" cy="777240"/>
          </a:xfrm>
          <a:prstGeom prst="rect">
            <a:avLst/>
          </a:prstGeom>
        </p:spPr>
      </p:pic>
      <p:pic>
        <p:nvPicPr>
          <p:cNvPr id="29" name="Image 3" descr="/tmp/claude-0/-home-claude/1a0f1fcd-2772-57a1-9475-1557efb8a840/scratchpad/phd/img/b05.jpg">    </p:cNvPr>
          <p:cNvPicPr>
            <a:picLocks noChangeAspect="1"/>
          </p:cNvPicPr>
          <p:nvPr/>
        </p:nvPicPr>
        <p:blipFill>
          <a:blip r:embed="rId4"/>
          <a:srcRect l="0" r="0" t="0" b="0"/>
          <a:stretch/>
        </p:blipFill>
        <p:spPr>
          <a:xfrm>
            <a:off x="8604504" y="5760720"/>
            <a:ext cx="2304288" cy="7772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7772400" cy="228600"/>
          </a:xfrm>
          <a:prstGeom prst="rect">
            <a:avLst/>
          </a:prstGeom>
          <a:noFill/>
          <a:ln/>
        </p:spPr>
        <p:txBody>
          <a:bodyPr wrap="square" lIns="0" tIns="0" rIns="0" bIns="0" rtlCol="0" anchor="t"/>
          <a:lstStyle/>
          <a:p>
            <a:pPr indent="0" marL="0">
              <a:buNone/>
            </a:pPr>
            <a:r>
              <a:rPr lang="en-US" sz="1000" b="1" spc="150" kern="0" dirty="0">
                <a:solidFill>
                  <a:srgbClr val="C9A227"/>
                </a:solidFill>
                <a:latin typeface="Calibri" pitchFamily="34" charset="0"/>
                <a:ea typeface="Calibri" pitchFamily="34" charset="-122"/>
                <a:cs typeface="Calibri" pitchFamily="34" charset="-120"/>
              </a:rPr>
              <a:t>DASTURNING 9-BANDI · 1-XATBOSHI</a:t>
            </a:r>
            <a:endParaRPr lang="en-US" sz="1000" dirty="0"/>
          </a:p>
        </p:txBody>
      </p:sp>
      <p:sp>
        <p:nvSpPr>
          <p:cNvPr id="3" name="Text 1"/>
          <p:cNvSpPr txBox="1"/>
          <p:nvPr/>
        </p:nvSpPr>
        <p:spPr>
          <a:xfrm>
            <a:off x="548640" y="658368"/>
            <a:ext cx="8778240" cy="868680"/>
          </a:xfrm>
          <a:prstGeom prst="rect">
            <a:avLst/>
          </a:prstGeom>
          <a:noFill/>
          <a:ln/>
        </p:spPr>
        <p:txBody>
          <a:bodyPr wrap="square" lIns="0" tIns="0" rIns="0" bIns="0" rtlCol="0" anchor="ctr">
            <a:normAutofit/>
          </a:bodyPr>
          <a:lstStyle/>
          <a:p>
            <a:pPr indent="0" marL="0">
              <a:buNone/>
            </a:pPr>
            <a:r>
              <a:rPr lang="en-US" sz="2400" b="1" dirty="0">
                <a:solidFill>
                  <a:srgbClr val="1E2761"/>
                </a:solidFill>
                <a:latin typeface="Cambria" pitchFamily="34" charset="0"/>
                <a:ea typeface="Cambria" pitchFamily="34" charset="-122"/>
                <a:cs typeface="Cambria" pitchFamily="34" charset="-120"/>
              </a:rPr>
              <a:t>Tadqiqot mavzusining ustuvor yo‘nalishlarga va ixtisoslik pasportiga mosligi</a:t>
            </a:r>
            <a:endParaRPr lang="en-US" sz="2400" dirty="0"/>
          </a:p>
        </p:txBody>
      </p:sp>
      <p:sp>
        <p:nvSpPr>
          <p:cNvPr id="4" name="mezon"/>
          <p:cNvSpPr/>
          <p:nvPr/>
        </p:nvSpPr>
        <p:spPr>
          <a:xfrm>
            <a:off x="9921240" y="457200"/>
            <a:ext cx="1737360" cy="566928"/>
          </a:xfrm>
          <a:prstGeom prst="roundRect">
            <a:avLst>
              <a:gd name="adj" fmla="val 9677"/>
            </a:avLst>
          </a:prstGeom>
          <a:solidFill>
            <a:srgbClr val="1E2761"/>
          </a:solidFill>
          <a:ln w="12700">
            <a:solidFill>
              <a:srgbClr val="1E2761"/>
            </a:solidFill>
            <a:prstDash val="solid"/>
          </a:ln>
        </p:spPr>
      </p:sp>
      <p:sp>
        <p:nvSpPr>
          <p:cNvPr id="5" name="Text 3"/>
          <p:cNvSpPr txBox="1"/>
          <p:nvPr/>
        </p:nvSpPr>
        <p:spPr>
          <a:xfrm>
            <a:off x="9921240" y="457200"/>
            <a:ext cx="1737360" cy="566928"/>
          </a:xfrm>
          <a:prstGeom prst="rect">
            <a:avLst/>
          </a:prstGeom>
          <a:noFill/>
          <a:ln/>
        </p:spPr>
        <p:txBody>
          <a:bodyPr wrap="square" lIns="0" tIns="0" rIns="0" bIns="0" rtlCol="0" anchor="ctr"/>
          <a:lstStyle/>
          <a:p>
            <a:pPr algn="ctr" indent="0" marL="0">
              <a:buNone/>
            </a:pPr>
            <a:r>
              <a:rPr lang="en-US" sz="1100" b="1" spc="100" kern="0" dirty="0">
                <a:solidFill>
                  <a:srgbClr val="C9A227"/>
                </a:solidFill>
                <a:latin typeface="Calibri" pitchFamily="34" charset="0"/>
                <a:ea typeface="Calibri" pitchFamily="34" charset="-122"/>
                <a:cs typeface="Calibri" pitchFamily="34" charset="-120"/>
              </a:rPr>
              <a:t>1-MEZON</a:t>
            </a:r>
            <a:endParaRPr lang="en-US" sz="1100" dirty="0"/>
          </a:p>
        </p:txBody>
      </p:sp>
      <p:sp>
        <p:nvSpPr>
          <p:cNvPr id="6" name="Text 4"/>
          <p:cNvSpPr txBox="1"/>
          <p:nvPr/>
        </p:nvSpPr>
        <p:spPr>
          <a:xfrm>
            <a:off x="10241280" y="6419088"/>
            <a:ext cx="1417320" cy="274320"/>
          </a:xfrm>
          <a:prstGeom prst="rect">
            <a:avLst/>
          </a:prstGeom>
          <a:noFill/>
          <a:ln/>
        </p:spPr>
        <p:txBody>
          <a:bodyPr wrap="square" lIns="0" tIns="0" rIns="0" bIns="0" rtlCol="0" anchor="t"/>
          <a:lstStyle/>
          <a:p>
            <a:pPr algn="r" indent="0" marL="0">
              <a:buNone/>
            </a:pPr>
            <a:r>
              <a:rPr lang="en-US" sz="900" dirty="0">
                <a:solidFill>
                  <a:srgbClr val="8A93AE"/>
                </a:solidFill>
                <a:latin typeface="Calibri" pitchFamily="34" charset="0"/>
                <a:ea typeface="Calibri" pitchFamily="34" charset="-122"/>
                <a:cs typeface="Calibri" pitchFamily="34" charset="-120"/>
              </a:rPr>
              <a:t>2 / 15</a:t>
            </a:r>
            <a:endParaRPr lang="en-US" sz="900" dirty="0"/>
          </a:p>
        </p:txBody>
      </p:sp>
      <p:sp>
        <p:nvSpPr>
          <p:cNvPr id="8" name="Shape 5"/>
          <p:cNvSpPr/>
          <p:nvPr/>
        </p:nvSpPr>
        <p:spPr>
          <a:xfrm>
            <a:off x="548640" y="1737360"/>
            <a:ext cx="11109960" cy="868680"/>
          </a:xfrm>
          <a:prstGeom prst="roundRect">
            <a:avLst>
              <a:gd name="adj" fmla="val 6316"/>
            </a:avLst>
          </a:prstGeom>
          <a:solidFill>
            <a:srgbClr val="1E2761"/>
          </a:solidFill>
          <a:ln w="12700">
            <a:solidFill>
              <a:srgbClr val="1E2761"/>
            </a:solidFill>
            <a:prstDash val="solid"/>
          </a:ln>
        </p:spPr>
      </p:sp>
      <p:sp>
        <p:nvSpPr>
          <p:cNvPr id="9" name="Text 6"/>
          <p:cNvSpPr txBox="1"/>
          <p:nvPr/>
        </p:nvSpPr>
        <p:spPr>
          <a:xfrm>
            <a:off x="822960" y="1847088"/>
            <a:ext cx="5486400" cy="228600"/>
          </a:xfrm>
          <a:prstGeom prst="rect">
            <a:avLst/>
          </a:prstGeom>
          <a:noFill/>
          <a:ln/>
        </p:spPr>
        <p:txBody>
          <a:bodyPr wrap="square" lIns="0" tIns="0" rIns="0" bIns="0" rtlCol="0" anchor="t"/>
          <a:lstStyle/>
          <a:p>
            <a:pPr indent="0" marL="0">
              <a:buNone/>
            </a:pPr>
            <a:r>
              <a:rPr lang="en-US" sz="950" b="1" spc="120" kern="0" dirty="0">
                <a:solidFill>
                  <a:srgbClr val="C9A227"/>
                </a:solidFill>
                <a:latin typeface="Calibri" pitchFamily="34" charset="0"/>
                <a:ea typeface="Calibri" pitchFamily="34" charset="-122"/>
                <a:cs typeface="Calibri" pitchFamily="34" charset="-120"/>
              </a:rPr>
              <a:t>MAVZUNING TO‘LIQ NOMI</a:t>
            </a:r>
            <a:endParaRPr lang="en-US" sz="950" dirty="0"/>
          </a:p>
        </p:txBody>
      </p:sp>
      <p:sp>
        <p:nvSpPr>
          <p:cNvPr id="10" name="Text 7"/>
          <p:cNvSpPr txBox="1"/>
          <p:nvPr/>
        </p:nvSpPr>
        <p:spPr>
          <a:xfrm>
            <a:off x="822960" y="2057400"/>
            <a:ext cx="10607040" cy="502920"/>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Cambria" pitchFamily="34" charset="0"/>
                <a:ea typeface="Cambria" pitchFamily="34" charset="-122"/>
                <a:cs typeface="Cambria" pitchFamily="34" charset="-120"/>
              </a:rPr>
              <a:t>Neft va neft-kimyo chiqindilari qurilish kompozitlari uchun ikkilamchi xomashyo sifatida</a:t>
            </a:r>
            <a:endParaRPr lang="en-US" sz="1900" dirty="0"/>
          </a:p>
        </p:txBody>
      </p:sp>
      <p:sp>
        <p:nvSpPr>
          <p:cNvPr id="11" name="Shape 8"/>
          <p:cNvSpPr/>
          <p:nvPr/>
        </p:nvSpPr>
        <p:spPr>
          <a:xfrm>
            <a:off x="548640" y="2788920"/>
            <a:ext cx="3611880" cy="1828800"/>
          </a:xfrm>
          <a:prstGeom prst="roundRect">
            <a:avLst>
              <a:gd name="adj" fmla="val 3000"/>
            </a:avLst>
          </a:prstGeom>
          <a:solidFill>
            <a:srgbClr val="F4F6FB"/>
          </a:solidFill>
          <a:ln w="12700">
            <a:solidFill>
              <a:srgbClr val="CADCFC"/>
            </a:solidFill>
            <a:prstDash val="solid"/>
          </a:ln>
        </p:spPr>
      </p:sp>
      <p:sp>
        <p:nvSpPr>
          <p:cNvPr id="12" name="Shape 9"/>
          <p:cNvSpPr/>
          <p:nvPr/>
        </p:nvSpPr>
        <p:spPr>
          <a:xfrm>
            <a:off x="777240" y="2971800"/>
            <a:ext cx="384048" cy="384048"/>
          </a:xfrm>
          <a:prstGeom prst="ellipse">
            <a:avLst/>
          </a:prstGeom>
          <a:solidFill>
            <a:srgbClr val="C9A227"/>
          </a:solidFill>
          <a:ln w="12700">
            <a:solidFill>
              <a:srgbClr val="C9A227"/>
            </a:solidFill>
            <a:prstDash val="solid"/>
          </a:ln>
        </p:spPr>
      </p:sp>
      <p:sp>
        <p:nvSpPr>
          <p:cNvPr id="13" name="Text 10"/>
          <p:cNvSpPr txBox="1"/>
          <p:nvPr/>
        </p:nvSpPr>
        <p:spPr>
          <a:xfrm>
            <a:off x="777240" y="2971800"/>
            <a:ext cx="384048" cy="384048"/>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1</a:t>
            </a:r>
            <a:endParaRPr lang="en-US" sz="1300" dirty="0"/>
          </a:p>
        </p:txBody>
      </p:sp>
      <p:sp>
        <p:nvSpPr>
          <p:cNvPr id="14" name="Text 11"/>
          <p:cNvSpPr txBox="1"/>
          <p:nvPr/>
        </p:nvSpPr>
        <p:spPr>
          <a:xfrm>
            <a:off x="1280160" y="2971800"/>
            <a:ext cx="2743200" cy="3840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Ustuvor yo‘nalish</a:t>
            </a:r>
            <a:endParaRPr lang="en-US" sz="1300" dirty="0"/>
          </a:p>
        </p:txBody>
      </p:sp>
      <p:sp>
        <p:nvSpPr>
          <p:cNvPr id="15" name="Text 12"/>
          <p:cNvSpPr txBox="1"/>
          <p:nvPr/>
        </p:nvSpPr>
        <p:spPr>
          <a:xfrm>
            <a:off x="777240" y="3474720"/>
            <a:ext cx="3200400" cy="1097280"/>
          </a:xfrm>
          <a:prstGeom prst="rect">
            <a:avLst/>
          </a:prstGeom>
          <a:noFill/>
          <a:ln/>
        </p:spPr>
        <p:txBody>
          <a:bodyPr wrap="square" lIns="0" tIns="0" rIns="0" bIns="0" rtlCol="0" anchor="t">
            <a:normAutofit/>
          </a:bodyPr>
          <a:lstStyle/>
          <a:p>
            <a:pPr indent="0" marL="0">
              <a:buNone/>
            </a:pPr>
            <a:r>
              <a:rPr lang="en-US" sz="1250" dirty="0">
                <a:solidFill>
                  <a:srgbClr val="1F2633"/>
                </a:solidFill>
                <a:latin typeface="Calibri" pitchFamily="34" charset="0"/>
                <a:ea typeface="Calibri" pitchFamily="34" charset="-122"/>
                <a:cs typeface="Calibri" pitchFamily="34" charset="-120"/>
              </a:rPr>
              <a:t>B bloki – yangi materiallar, kimyo va nanotexnologiyalar: sanoat chiqindilaridan yangi kompozit materiallar olish, resurs tejamkorligi.</a:t>
            </a:r>
            <a:endParaRPr lang="en-US" sz="1250" dirty="0"/>
          </a:p>
        </p:txBody>
      </p:sp>
      <p:sp>
        <p:nvSpPr>
          <p:cNvPr id="16" name="Shape 13"/>
          <p:cNvSpPr/>
          <p:nvPr/>
        </p:nvSpPr>
        <p:spPr>
          <a:xfrm>
            <a:off x="4297680" y="2788920"/>
            <a:ext cx="3611880" cy="1828800"/>
          </a:xfrm>
          <a:prstGeom prst="roundRect">
            <a:avLst>
              <a:gd name="adj" fmla="val 3000"/>
            </a:avLst>
          </a:prstGeom>
          <a:solidFill>
            <a:srgbClr val="F4F6FB"/>
          </a:solidFill>
          <a:ln w="12700">
            <a:solidFill>
              <a:srgbClr val="CADCFC"/>
            </a:solidFill>
            <a:prstDash val="solid"/>
          </a:ln>
        </p:spPr>
      </p:sp>
      <p:sp>
        <p:nvSpPr>
          <p:cNvPr id="17" name="Shape 14"/>
          <p:cNvSpPr/>
          <p:nvPr/>
        </p:nvSpPr>
        <p:spPr>
          <a:xfrm>
            <a:off x="4526280" y="2971800"/>
            <a:ext cx="384048" cy="384048"/>
          </a:xfrm>
          <a:prstGeom prst="ellipse">
            <a:avLst/>
          </a:prstGeom>
          <a:solidFill>
            <a:srgbClr val="C9A227"/>
          </a:solidFill>
          <a:ln w="12700">
            <a:solidFill>
              <a:srgbClr val="C9A227"/>
            </a:solidFill>
            <a:prstDash val="solid"/>
          </a:ln>
        </p:spPr>
      </p:sp>
      <p:sp>
        <p:nvSpPr>
          <p:cNvPr id="18" name="Text 15"/>
          <p:cNvSpPr txBox="1"/>
          <p:nvPr/>
        </p:nvSpPr>
        <p:spPr>
          <a:xfrm>
            <a:off x="4526280" y="2971800"/>
            <a:ext cx="384048" cy="384048"/>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2</a:t>
            </a:r>
            <a:endParaRPr lang="en-US" sz="1300" dirty="0"/>
          </a:p>
        </p:txBody>
      </p:sp>
      <p:sp>
        <p:nvSpPr>
          <p:cNvPr id="19" name="Text 16"/>
          <p:cNvSpPr txBox="1"/>
          <p:nvPr/>
        </p:nvSpPr>
        <p:spPr>
          <a:xfrm>
            <a:off x="5029200" y="2971800"/>
            <a:ext cx="2743200" cy="3840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Davlat siyosati bilan bog‘liqligi</a:t>
            </a:r>
            <a:endParaRPr lang="en-US" sz="1300" dirty="0"/>
          </a:p>
        </p:txBody>
      </p:sp>
      <p:sp>
        <p:nvSpPr>
          <p:cNvPr id="20" name="Text 17"/>
          <p:cNvSpPr txBox="1"/>
          <p:nvPr/>
        </p:nvSpPr>
        <p:spPr>
          <a:xfrm>
            <a:off x="4526280" y="3474720"/>
            <a:ext cx="3200400" cy="1097280"/>
          </a:xfrm>
          <a:prstGeom prst="rect">
            <a:avLst/>
          </a:prstGeom>
          <a:noFill/>
          <a:ln/>
        </p:spPr>
        <p:txBody>
          <a:bodyPr wrap="square" lIns="0" tIns="0" rIns="0" bIns="0" rtlCol="0" anchor="t">
            <a:normAutofit/>
          </a:bodyPr>
          <a:lstStyle/>
          <a:p>
            <a:pPr indent="0" marL="0">
              <a:buNone/>
            </a:pPr>
            <a:r>
              <a:rPr lang="en-US" sz="1250" dirty="0">
                <a:solidFill>
                  <a:srgbClr val="1F2633"/>
                </a:solidFill>
                <a:latin typeface="Calibri" pitchFamily="34" charset="0"/>
                <a:ea typeface="Calibri" pitchFamily="34" charset="-122"/>
                <a:cs typeface="Calibri" pitchFamily="34" charset="-120"/>
              </a:rPr>
              <a:t>Qattiq maishiy chiqindilar bilan bog‘liq ishlarni amalga oshirish strategiyasi (2019–2028, Prezident qarori, 17.04.2019): chiqindilarni qayta ishlash tizimini rivojlantirish.</a:t>
            </a:r>
            <a:endParaRPr lang="en-US" sz="1250" dirty="0"/>
          </a:p>
        </p:txBody>
      </p:sp>
      <p:sp>
        <p:nvSpPr>
          <p:cNvPr id="21" name="Shape 18"/>
          <p:cNvSpPr/>
          <p:nvPr/>
        </p:nvSpPr>
        <p:spPr>
          <a:xfrm>
            <a:off x="8046720" y="2788920"/>
            <a:ext cx="3611880" cy="1828800"/>
          </a:xfrm>
          <a:prstGeom prst="roundRect">
            <a:avLst>
              <a:gd name="adj" fmla="val 3000"/>
            </a:avLst>
          </a:prstGeom>
          <a:solidFill>
            <a:srgbClr val="F4F6FB"/>
          </a:solidFill>
          <a:ln w="12700">
            <a:solidFill>
              <a:srgbClr val="CADCFC"/>
            </a:solidFill>
            <a:prstDash val="solid"/>
          </a:ln>
        </p:spPr>
      </p:sp>
      <p:sp>
        <p:nvSpPr>
          <p:cNvPr id="22" name="Shape 19"/>
          <p:cNvSpPr/>
          <p:nvPr/>
        </p:nvSpPr>
        <p:spPr>
          <a:xfrm>
            <a:off x="8275320" y="2971800"/>
            <a:ext cx="384048" cy="384048"/>
          </a:xfrm>
          <a:prstGeom prst="ellipse">
            <a:avLst/>
          </a:prstGeom>
          <a:solidFill>
            <a:srgbClr val="C9A227"/>
          </a:solidFill>
          <a:ln w="12700">
            <a:solidFill>
              <a:srgbClr val="C9A227"/>
            </a:solidFill>
            <a:prstDash val="solid"/>
          </a:ln>
        </p:spPr>
      </p:sp>
      <p:sp>
        <p:nvSpPr>
          <p:cNvPr id="23" name="Text 20"/>
          <p:cNvSpPr txBox="1"/>
          <p:nvPr/>
        </p:nvSpPr>
        <p:spPr>
          <a:xfrm>
            <a:off x="8275320" y="2971800"/>
            <a:ext cx="384048" cy="384048"/>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3</a:t>
            </a:r>
            <a:endParaRPr lang="en-US" sz="1300" dirty="0"/>
          </a:p>
        </p:txBody>
      </p:sp>
      <p:sp>
        <p:nvSpPr>
          <p:cNvPr id="24" name="Text 21"/>
          <p:cNvSpPr txBox="1"/>
          <p:nvPr/>
        </p:nvSpPr>
        <p:spPr>
          <a:xfrm>
            <a:off x="8778240" y="2971800"/>
            <a:ext cx="2743200" cy="3840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Ixtisoslik pasporti</a:t>
            </a:r>
            <a:endParaRPr lang="en-US" sz="1300" dirty="0"/>
          </a:p>
        </p:txBody>
      </p:sp>
      <p:sp>
        <p:nvSpPr>
          <p:cNvPr id="25" name="Text 22"/>
          <p:cNvSpPr txBox="1"/>
          <p:nvPr/>
        </p:nvSpPr>
        <p:spPr>
          <a:xfrm>
            <a:off x="8275320" y="3474720"/>
            <a:ext cx="3200400" cy="1097280"/>
          </a:xfrm>
          <a:prstGeom prst="rect">
            <a:avLst/>
          </a:prstGeom>
          <a:noFill/>
          <a:ln/>
        </p:spPr>
        <p:txBody>
          <a:bodyPr wrap="square" lIns="0" tIns="0" rIns="0" bIns="0" rtlCol="0" anchor="t">
            <a:normAutofit/>
          </a:bodyPr>
          <a:lstStyle/>
          <a:p>
            <a:pPr indent="0" marL="0">
              <a:buNone/>
            </a:pPr>
            <a:r>
              <a:rPr lang="en-US" sz="1250" dirty="0">
                <a:solidFill>
                  <a:srgbClr val="1F2633"/>
                </a:solidFill>
                <a:latin typeface="Calibri" pitchFamily="34" charset="0"/>
                <a:ea typeface="Calibri" pitchFamily="34" charset="-122"/>
                <a:cs typeface="Calibri" pitchFamily="34" charset="-120"/>
              </a:rPr>
              <a:t>02.00.08 – Neft va gaz kimyosi va texnologiyasi: neft va neft-kimyo chiqindilarini qayta ishlash va ulardan mahsulot olish texnologiyasi. Pasport bandlari: </a:t>
            </a:r>
            <a:pPr indent="0" marL="0">
              <a:buNone/>
            </a:pPr>
            <a:r>
              <a:rPr lang="en-US" sz="1250" b="1" dirty="0">
                <a:solidFill>
                  <a:srgbClr val="8A5A00"/>
                </a:solidFill>
                <a:highlight>
                  <a:srgbClr val="FFF1C2"/>
                </a:highlight>
                <a:latin typeface="Calibri" pitchFamily="34" charset="0"/>
                <a:ea typeface="Calibri" pitchFamily="34" charset="-122"/>
                <a:cs typeface="Calibri" pitchFamily="34" charset="-120"/>
              </a:rPr>
              <a:t>[№ __, № __ — ko‘rsating]</a:t>
            </a:r>
            <a:pPr indent="0" marL="0">
              <a:buNone/>
            </a:pPr>
            <a:r>
              <a:rPr lang="en-US" sz="1250" dirty="0">
                <a:solidFill>
                  <a:srgbClr val="1F2633"/>
                </a:solidFill>
                <a:latin typeface="Calibri" pitchFamily="34" charset="0"/>
                <a:ea typeface="Calibri" pitchFamily="34" charset="-122"/>
                <a:cs typeface="Calibri" pitchFamily="34" charset="-120"/>
              </a:rPr>
              <a:t>.</a:t>
            </a:r>
            <a:endParaRPr lang="en-US" sz="1250" dirty="0"/>
          </a:p>
        </p:txBody>
      </p:sp>
      <p:sp>
        <p:nvSpPr>
          <p:cNvPr id="26" name="Text 23"/>
          <p:cNvSpPr txBox="1"/>
          <p:nvPr/>
        </p:nvSpPr>
        <p:spPr>
          <a:xfrm>
            <a:off x="548640" y="4846320"/>
            <a:ext cx="7315200" cy="228600"/>
          </a:xfrm>
          <a:prstGeom prst="rect">
            <a:avLst/>
          </a:prstGeom>
          <a:noFill/>
          <a:ln/>
        </p:spPr>
        <p:txBody>
          <a:bodyPr wrap="square" lIns="0" tIns="0" rIns="0" bIns="0" rtlCol="0" anchor="t"/>
          <a:lstStyle/>
          <a:p>
            <a:pPr indent="0" marL="0">
              <a:buNone/>
            </a:pPr>
            <a:r>
              <a:rPr lang="en-US" sz="950" b="1" spc="120" kern="0" dirty="0">
                <a:solidFill>
                  <a:srgbClr val="C9A227"/>
                </a:solidFill>
                <a:latin typeface="Calibri" pitchFamily="34" charset="0"/>
                <a:ea typeface="Calibri" pitchFamily="34" charset="-122"/>
                <a:cs typeface="Calibri" pitchFamily="34" charset="-120"/>
              </a:rPr>
              <a:t>MAVZU NOMI TADQIQOT MAZMUNINI QANDAY IFODALAYDI</a:t>
            </a:r>
            <a:endParaRPr lang="en-US" sz="950" dirty="0"/>
          </a:p>
        </p:txBody>
      </p:sp>
      <p:sp>
        <p:nvSpPr>
          <p:cNvPr id="27" name="Shape 24"/>
          <p:cNvSpPr/>
          <p:nvPr/>
        </p:nvSpPr>
        <p:spPr>
          <a:xfrm>
            <a:off x="548640" y="5138928"/>
            <a:ext cx="3611880" cy="960120"/>
          </a:xfrm>
          <a:prstGeom prst="roundRect">
            <a:avLst>
              <a:gd name="adj" fmla="val 5714"/>
            </a:avLst>
          </a:prstGeom>
          <a:solidFill>
            <a:srgbClr val="FFFFFF"/>
          </a:solidFill>
          <a:ln w="12700">
            <a:solidFill>
              <a:srgbClr val="CADCFC"/>
            </a:solidFill>
            <a:prstDash val="solid"/>
          </a:ln>
        </p:spPr>
      </p:sp>
      <p:sp>
        <p:nvSpPr>
          <p:cNvPr id="28" name="Text 25"/>
          <p:cNvSpPr txBox="1"/>
          <p:nvPr/>
        </p:nvSpPr>
        <p:spPr>
          <a:xfrm>
            <a:off x="731520" y="5212080"/>
            <a:ext cx="3246120" cy="457200"/>
          </a:xfrm>
          <a:prstGeom prst="rect">
            <a:avLst/>
          </a:prstGeom>
          <a:noFill/>
          <a:ln/>
        </p:spPr>
        <p:txBody>
          <a:bodyPr wrap="square" lIns="0" tIns="0" rIns="0" bIns="0" rtlCol="0" anchor="ctr">
            <a:normAutofit/>
          </a:bodyPr>
          <a:lstStyle/>
          <a:p>
            <a:pPr indent="0" marL="0">
              <a:buNone/>
            </a:pPr>
            <a:r>
              <a:rPr lang="en-US" sz="1300" b="1" dirty="0">
                <a:solidFill>
                  <a:srgbClr val="1E2761"/>
                </a:solidFill>
                <a:latin typeface="Cambria" pitchFamily="34" charset="0"/>
                <a:ea typeface="Cambria" pitchFamily="34" charset="-122"/>
                <a:cs typeface="Cambria" pitchFamily="34" charset="-120"/>
              </a:rPr>
              <a:t>Neft va neft-kimyo chiqindilari</a:t>
            </a:r>
            <a:endParaRPr lang="en-US" sz="1300" dirty="0"/>
          </a:p>
        </p:txBody>
      </p:sp>
      <p:sp>
        <p:nvSpPr>
          <p:cNvPr id="29" name="Text 26"/>
          <p:cNvSpPr txBox="1"/>
          <p:nvPr/>
        </p:nvSpPr>
        <p:spPr>
          <a:xfrm>
            <a:off x="731520" y="5669280"/>
            <a:ext cx="3246120" cy="320040"/>
          </a:xfrm>
          <a:prstGeom prst="rect">
            <a:avLst/>
          </a:prstGeom>
          <a:noFill/>
          <a:ln/>
        </p:spPr>
        <p:txBody>
          <a:bodyPr wrap="square" lIns="0" tIns="0" rIns="0" bIns="0" rtlCol="0" anchor="t"/>
          <a:lstStyle/>
          <a:p>
            <a:pPr indent="0" marL="0">
              <a:buNone/>
            </a:pPr>
            <a:r>
              <a:rPr lang="en-US" sz="1100" i="1" dirty="0">
                <a:solidFill>
                  <a:srgbClr val="58607C"/>
                </a:solidFill>
                <a:latin typeface="Calibri" pitchFamily="34" charset="0"/>
                <a:ea typeface="Calibri" pitchFamily="34" charset="-122"/>
                <a:cs typeface="Calibri" pitchFamily="34" charset="-120"/>
              </a:rPr>
              <a:t>tadqiqot obyekti</a:t>
            </a:r>
            <a:endParaRPr lang="en-US" sz="1100" dirty="0"/>
          </a:p>
        </p:txBody>
      </p:sp>
      <p:sp>
        <p:nvSpPr>
          <p:cNvPr id="30" name="Text 27"/>
          <p:cNvSpPr txBox="1"/>
          <p:nvPr/>
        </p:nvSpPr>
        <p:spPr>
          <a:xfrm>
            <a:off x="4160520" y="5349240"/>
            <a:ext cx="137160" cy="457200"/>
          </a:xfrm>
          <a:prstGeom prst="rect">
            <a:avLst/>
          </a:prstGeom>
          <a:noFill/>
          <a:ln/>
        </p:spPr>
        <p:txBody>
          <a:bodyPr wrap="square" lIns="0" tIns="0" rIns="0" bIns="0" rtlCol="0" anchor="t"/>
          <a:lstStyle/>
          <a:p>
            <a:pPr algn="ctr" indent="0" marL="0">
              <a:buNone/>
            </a:pPr>
            <a:r>
              <a:rPr lang="en-US" sz="1600" b="1" dirty="0">
                <a:solidFill>
                  <a:srgbClr val="C9A227"/>
                </a:solidFill>
                <a:latin typeface="Calibri" pitchFamily="34" charset="0"/>
                <a:ea typeface="Calibri" pitchFamily="34" charset="-122"/>
                <a:cs typeface="Calibri" pitchFamily="34" charset="-120"/>
              </a:rPr>
              <a:t>+</a:t>
            </a:r>
            <a:endParaRPr lang="en-US" sz="1600" dirty="0"/>
          </a:p>
        </p:txBody>
      </p:sp>
      <p:sp>
        <p:nvSpPr>
          <p:cNvPr id="31" name="Shape 28"/>
          <p:cNvSpPr/>
          <p:nvPr/>
        </p:nvSpPr>
        <p:spPr>
          <a:xfrm>
            <a:off x="4297680" y="5138928"/>
            <a:ext cx="3611880" cy="960120"/>
          </a:xfrm>
          <a:prstGeom prst="roundRect">
            <a:avLst>
              <a:gd name="adj" fmla="val 5714"/>
            </a:avLst>
          </a:prstGeom>
          <a:solidFill>
            <a:srgbClr val="FFFFFF"/>
          </a:solidFill>
          <a:ln w="12700">
            <a:solidFill>
              <a:srgbClr val="CADCFC"/>
            </a:solidFill>
            <a:prstDash val="solid"/>
          </a:ln>
        </p:spPr>
      </p:sp>
      <p:sp>
        <p:nvSpPr>
          <p:cNvPr id="32" name="Text 29"/>
          <p:cNvSpPr txBox="1"/>
          <p:nvPr/>
        </p:nvSpPr>
        <p:spPr>
          <a:xfrm>
            <a:off x="4480560" y="5212080"/>
            <a:ext cx="3246120" cy="457200"/>
          </a:xfrm>
          <a:prstGeom prst="rect">
            <a:avLst/>
          </a:prstGeom>
          <a:noFill/>
          <a:ln/>
        </p:spPr>
        <p:txBody>
          <a:bodyPr wrap="square" lIns="0" tIns="0" rIns="0" bIns="0" rtlCol="0" anchor="ctr">
            <a:normAutofit/>
          </a:bodyPr>
          <a:lstStyle/>
          <a:p>
            <a:pPr indent="0" marL="0">
              <a:buNone/>
            </a:pPr>
            <a:r>
              <a:rPr lang="en-US" sz="1300" b="1" dirty="0">
                <a:solidFill>
                  <a:srgbClr val="1E2761"/>
                </a:solidFill>
                <a:latin typeface="Cambria" pitchFamily="34" charset="0"/>
                <a:ea typeface="Cambria" pitchFamily="34" charset="-122"/>
                <a:cs typeface="Cambria" pitchFamily="34" charset="-120"/>
              </a:rPr>
              <a:t>qurilish kompozitlari uchun</a:t>
            </a:r>
            <a:endParaRPr lang="en-US" sz="1300" dirty="0"/>
          </a:p>
        </p:txBody>
      </p:sp>
      <p:sp>
        <p:nvSpPr>
          <p:cNvPr id="33" name="Text 30"/>
          <p:cNvSpPr txBox="1"/>
          <p:nvPr/>
        </p:nvSpPr>
        <p:spPr>
          <a:xfrm>
            <a:off x="4480560" y="5669280"/>
            <a:ext cx="3246120" cy="320040"/>
          </a:xfrm>
          <a:prstGeom prst="rect">
            <a:avLst/>
          </a:prstGeom>
          <a:noFill/>
          <a:ln/>
        </p:spPr>
        <p:txBody>
          <a:bodyPr wrap="square" lIns="0" tIns="0" rIns="0" bIns="0" rtlCol="0" anchor="t"/>
          <a:lstStyle/>
          <a:p>
            <a:pPr indent="0" marL="0">
              <a:buNone/>
            </a:pPr>
            <a:r>
              <a:rPr lang="en-US" sz="1100" i="1" dirty="0">
                <a:solidFill>
                  <a:srgbClr val="58607C"/>
                </a:solidFill>
                <a:latin typeface="Calibri" pitchFamily="34" charset="0"/>
                <a:ea typeface="Calibri" pitchFamily="34" charset="-122"/>
                <a:cs typeface="Calibri" pitchFamily="34" charset="-120"/>
              </a:rPr>
              <a:t>qo‘llanish sohasi va mahsulot</a:t>
            </a:r>
            <a:endParaRPr lang="en-US" sz="1100" dirty="0"/>
          </a:p>
        </p:txBody>
      </p:sp>
      <p:sp>
        <p:nvSpPr>
          <p:cNvPr id="34" name="Text 31"/>
          <p:cNvSpPr txBox="1"/>
          <p:nvPr/>
        </p:nvSpPr>
        <p:spPr>
          <a:xfrm>
            <a:off x="7909560" y="5349240"/>
            <a:ext cx="137160" cy="457200"/>
          </a:xfrm>
          <a:prstGeom prst="rect">
            <a:avLst/>
          </a:prstGeom>
          <a:noFill/>
          <a:ln/>
        </p:spPr>
        <p:txBody>
          <a:bodyPr wrap="square" lIns="0" tIns="0" rIns="0" bIns="0" rtlCol="0" anchor="t"/>
          <a:lstStyle/>
          <a:p>
            <a:pPr algn="ctr" indent="0" marL="0">
              <a:buNone/>
            </a:pPr>
            <a:r>
              <a:rPr lang="en-US" sz="1600" b="1" dirty="0">
                <a:solidFill>
                  <a:srgbClr val="C9A227"/>
                </a:solidFill>
                <a:latin typeface="Calibri" pitchFamily="34" charset="0"/>
                <a:ea typeface="Calibri" pitchFamily="34" charset="-122"/>
                <a:cs typeface="Calibri" pitchFamily="34" charset="-120"/>
              </a:rPr>
              <a:t>+</a:t>
            </a:r>
            <a:endParaRPr lang="en-US" sz="1600" dirty="0"/>
          </a:p>
        </p:txBody>
      </p:sp>
      <p:sp>
        <p:nvSpPr>
          <p:cNvPr id="35" name="Shape 32"/>
          <p:cNvSpPr/>
          <p:nvPr/>
        </p:nvSpPr>
        <p:spPr>
          <a:xfrm>
            <a:off x="8046720" y="5138928"/>
            <a:ext cx="3611880" cy="960120"/>
          </a:xfrm>
          <a:prstGeom prst="roundRect">
            <a:avLst>
              <a:gd name="adj" fmla="val 5714"/>
            </a:avLst>
          </a:prstGeom>
          <a:solidFill>
            <a:srgbClr val="FFFFFF"/>
          </a:solidFill>
          <a:ln w="12700">
            <a:solidFill>
              <a:srgbClr val="CADCFC"/>
            </a:solidFill>
            <a:prstDash val="solid"/>
          </a:ln>
        </p:spPr>
      </p:sp>
      <p:sp>
        <p:nvSpPr>
          <p:cNvPr id="36" name="Text 33"/>
          <p:cNvSpPr txBox="1"/>
          <p:nvPr/>
        </p:nvSpPr>
        <p:spPr>
          <a:xfrm>
            <a:off x="8229600" y="5212080"/>
            <a:ext cx="3246120" cy="457200"/>
          </a:xfrm>
          <a:prstGeom prst="rect">
            <a:avLst/>
          </a:prstGeom>
          <a:noFill/>
          <a:ln/>
        </p:spPr>
        <p:txBody>
          <a:bodyPr wrap="square" lIns="0" tIns="0" rIns="0" bIns="0" rtlCol="0" anchor="ctr">
            <a:normAutofit/>
          </a:bodyPr>
          <a:lstStyle/>
          <a:p>
            <a:pPr indent="0" marL="0">
              <a:buNone/>
            </a:pPr>
            <a:r>
              <a:rPr lang="en-US" sz="1300" b="1" dirty="0">
                <a:solidFill>
                  <a:srgbClr val="1E2761"/>
                </a:solidFill>
                <a:latin typeface="Cambria" pitchFamily="34" charset="0"/>
                <a:ea typeface="Cambria" pitchFamily="34" charset="-122"/>
                <a:cs typeface="Cambria" pitchFamily="34" charset="-120"/>
              </a:rPr>
              <a:t>ikkilamchi xomashyo sifatida</a:t>
            </a:r>
            <a:endParaRPr lang="en-US" sz="1300" dirty="0"/>
          </a:p>
        </p:txBody>
      </p:sp>
      <p:sp>
        <p:nvSpPr>
          <p:cNvPr id="37" name="Text 34"/>
          <p:cNvSpPr txBox="1"/>
          <p:nvPr/>
        </p:nvSpPr>
        <p:spPr>
          <a:xfrm>
            <a:off x="8229600" y="5669280"/>
            <a:ext cx="3246120" cy="320040"/>
          </a:xfrm>
          <a:prstGeom prst="rect">
            <a:avLst/>
          </a:prstGeom>
          <a:noFill/>
          <a:ln/>
        </p:spPr>
        <p:txBody>
          <a:bodyPr wrap="square" lIns="0" tIns="0" rIns="0" bIns="0" rtlCol="0" anchor="t"/>
          <a:lstStyle/>
          <a:p>
            <a:pPr indent="0" marL="0">
              <a:buNone/>
            </a:pPr>
            <a:r>
              <a:rPr lang="en-US" sz="1100" i="1" dirty="0">
                <a:solidFill>
                  <a:srgbClr val="58607C"/>
                </a:solidFill>
                <a:latin typeface="Calibri" pitchFamily="34" charset="0"/>
                <a:ea typeface="Calibri" pitchFamily="34" charset="-122"/>
                <a:cs typeface="Calibri" pitchFamily="34" charset="-120"/>
              </a:rPr>
              <a:t>yondashuv: chiqindi — resurs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7772400" cy="228600"/>
          </a:xfrm>
          <a:prstGeom prst="rect">
            <a:avLst/>
          </a:prstGeom>
          <a:noFill/>
          <a:ln/>
        </p:spPr>
        <p:txBody>
          <a:bodyPr wrap="square" lIns="0" tIns="0" rIns="0" bIns="0" rtlCol="0" anchor="t"/>
          <a:lstStyle/>
          <a:p>
            <a:pPr indent="0" marL="0">
              <a:buNone/>
            </a:pPr>
            <a:r>
              <a:rPr lang="en-US" sz="1000" b="1" spc="150" kern="0" dirty="0">
                <a:solidFill>
                  <a:srgbClr val="C9A227"/>
                </a:solidFill>
                <a:latin typeface="Calibri" pitchFamily="34" charset="0"/>
                <a:ea typeface="Calibri" pitchFamily="34" charset="-122"/>
                <a:cs typeface="Calibri" pitchFamily="34" charset="-120"/>
              </a:rPr>
              <a:t>DASTURNING 9-BANDI · 2-XATBOSHI</a:t>
            </a:r>
            <a:endParaRPr lang="en-US" sz="1000" dirty="0"/>
          </a:p>
        </p:txBody>
      </p:sp>
      <p:sp>
        <p:nvSpPr>
          <p:cNvPr id="3" name="Text 1"/>
          <p:cNvSpPr txBox="1"/>
          <p:nvPr/>
        </p:nvSpPr>
        <p:spPr>
          <a:xfrm>
            <a:off x="548640" y="658368"/>
            <a:ext cx="8778240" cy="868680"/>
          </a:xfrm>
          <a:prstGeom prst="rect">
            <a:avLst/>
          </a:prstGeom>
          <a:noFill/>
          <a:ln/>
        </p:spPr>
        <p:txBody>
          <a:bodyPr wrap="square" lIns="0" tIns="0" rIns="0" bIns="0" rtlCol="0" anchor="ctr">
            <a:normAutofit/>
          </a:bodyPr>
          <a:lstStyle/>
          <a:p>
            <a:pPr indent="0" marL="0">
              <a:buNone/>
            </a:pPr>
            <a:r>
              <a:rPr lang="en-US" sz="2400" b="1" dirty="0">
                <a:solidFill>
                  <a:srgbClr val="1E2761"/>
                </a:solidFill>
                <a:latin typeface="Cambria" pitchFamily="34" charset="0"/>
                <a:ea typeface="Cambria" pitchFamily="34" charset="-122"/>
                <a:cs typeface="Cambria" pitchFamily="34" charset="-120"/>
              </a:rPr>
              <a:t>Mavzuning dolzarbligi: hal etilishi lozim bo‘lgan ilmiy muammo</a:t>
            </a:r>
            <a:endParaRPr lang="en-US" sz="2400" dirty="0"/>
          </a:p>
        </p:txBody>
      </p:sp>
      <p:sp>
        <p:nvSpPr>
          <p:cNvPr id="4" name="mezon"/>
          <p:cNvSpPr/>
          <p:nvPr/>
        </p:nvSpPr>
        <p:spPr>
          <a:xfrm>
            <a:off x="9921240" y="457200"/>
            <a:ext cx="1737360" cy="566928"/>
          </a:xfrm>
          <a:prstGeom prst="roundRect">
            <a:avLst>
              <a:gd name="adj" fmla="val 9677"/>
            </a:avLst>
          </a:prstGeom>
          <a:solidFill>
            <a:srgbClr val="1E2761"/>
          </a:solidFill>
          <a:ln w="12700">
            <a:solidFill>
              <a:srgbClr val="1E2761"/>
            </a:solidFill>
            <a:prstDash val="solid"/>
          </a:ln>
        </p:spPr>
      </p:sp>
      <p:sp>
        <p:nvSpPr>
          <p:cNvPr id="5" name="Text 3"/>
          <p:cNvSpPr txBox="1"/>
          <p:nvPr/>
        </p:nvSpPr>
        <p:spPr>
          <a:xfrm>
            <a:off x="9921240" y="457200"/>
            <a:ext cx="1737360" cy="566928"/>
          </a:xfrm>
          <a:prstGeom prst="rect">
            <a:avLst/>
          </a:prstGeom>
          <a:noFill/>
          <a:ln/>
        </p:spPr>
        <p:txBody>
          <a:bodyPr wrap="square" lIns="0" tIns="0" rIns="0" bIns="0" rtlCol="0" anchor="ctr"/>
          <a:lstStyle/>
          <a:p>
            <a:pPr algn="ctr" indent="0" marL="0">
              <a:buNone/>
            </a:pPr>
            <a:r>
              <a:rPr lang="en-US" sz="1100" b="1" spc="100" kern="0" dirty="0">
                <a:solidFill>
                  <a:srgbClr val="C9A227"/>
                </a:solidFill>
                <a:latin typeface="Calibri" pitchFamily="34" charset="0"/>
                <a:ea typeface="Calibri" pitchFamily="34" charset="-122"/>
                <a:cs typeface="Calibri" pitchFamily="34" charset="-120"/>
              </a:rPr>
              <a:t>1-MEZON</a:t>
            </a:r>
            <a:endParaRPr lang="en-US" sz="1100" dirty="0"/>
          </a:p>
        </p:txBody>
      </p:sp>
      <p:sp>
        <p:nvSpPr>
          <p:cNvPr id="6" name="Text 4"/>
          <p:cNvSpPr txBox="1"/>
          <p:nvPr/>
        </p:nvSpPr>
        <p:spPr>
          <a:xfrm>
            <a:off x="10241280" y="6419088"/>
            <a:ext cx="1417320" cy="274320"/>
          </a:xfrm>
          <a:prstGeom prst="rect">
            <a:avLst/>
          </a:prstGeom>
          <a:noFill/>
          <a:ln/>
        </p:spPr>
        <p:txBody>
          <a:bodyPr wrap="square" lIns="0" tIns="0" rIns="0" bIns="0" rtlCol="0" anchor="t"/>
          <a:lstStyle/>
          <a:p>
            <a:pPr algn="r" indent="0" marL="0">
              <a:buNone/>
            </a:pPr>
            <a:r>
              <a:rPr lang="en-US" sz="900" dirty="0">
                <a:solidFill>
                  <a:srgbClr val="8A93AE"/>
                </a:solidFill>
                <a:latin typeface="Calibri" pitchFamily="34" charset="0"/>
                <a:ea typeface="Calibri" pitchFamily="34" charset="-122"/>
                <a:cs typeface="Calibri" pitchFamily="34" charset="-120"/>
              </a:rPr>
              <a:t>3 / 15</a:t>
            </a:r>
            <a:endParaRPr lang="en-US" sz="900" dirty="0"/>
          </a:p>
        </p:txBody>
      </p:sp>
      <p:sp>
        <p:nvSpPr>
          <p:cNvPr id="8" name="Shape 5"/>
          <p:cNvSpPr/>
          <p:nvPr/>
        </p:nvSpPr>
        <p:spPr>
          <a:xfrm>
            <a:off x="548640" y="1737360"/>
            <a:ext cx="5760720" cy="2057400"/>
          </a:xfrm>
          <a:prstGeom prst="roundRect">
            <a:avLst>
              <a:gd name="adj" fmla="val 2667"/>
            </a:avLst>
          </a:prstGeom>
          <a:solidFill>
            <a:srgbClr val="F4F6FB"/>
          </a:solidFill>
          <a:ln w="12700">
            <a:solidFill>
              <a:srgbClr val="CADCFC"/>
            </a:solidFill>
            <a:prstDash val="solid"/>
          </a:ln>
        </p:spPr>
      </p:sp>
      <p:sp>
        <p:nvSpPr>
          <p:cNvPr id="9" name="Text 6"/>
          <p:cNvSpPr txBox="1"/>
          <p:nvPr/>
        </p:nvSpPr>
        <p:spPr>
          <a:xfrm>
            <a:off x="777240" y="1874520"/>
            <a:ext cx="4572000" cy="228600"/>
          </a:xfrm>
          <a:prstGeom prst="rect">
            <a:avLst/>
          </a:prstGeom>
          <a:noFill/>
          <a:ln/>
        </p:spPr>
        <p:txBody>
          <a:bodyPr wrap="square" lIns="0" tIns="0" rIns="0" bIns="0" rtlCol="0" anchor="t"/>
          <a:lstStyle/>
          <a:p>
            <a:pPr indent="0" marL="0">
              <a:buNone/>
            </a:pPr>
            <a:r>
              <a:rPr lang="en-US" sz="950" b="1" spc="120" kern="0" dirty="0">
                <a:solidFill>
                  <a:srgbClr val="C9A227"/>
                </a:solidFill>
                <a:latin typeface="Calibri" pitchFamily="34" charset="0"/>
                <a:ea typeface="Calibri" pitchFamily="34" charset="-122"/>
                <a:cs typeface="Calibri" pitchFamily="34" charset="-120"/>
              </a:rPr>
              <a:t>ILMIY MUAMMO</a:t>
            </a:r>
            <a:endParaRPr lang="en-US" sz="950" dirty="0"/>
          </a:p>
        </p:txBody>
      </p:sp>
      <p:sp>
        <p:nvSpPr>
          <p:cNvPr id="10" name="Text 7"/>
          <p:cNvSpPr txBox="1"/>
          <p:nvPr/>
        </p:nvSpPr>
        <p:spPr>
          <a:xfrm>
            <a:off x="777240" y="2148840"/>
            <a:ext cx="5349240" cy="1554480"/>
          </a:xfrm>
          <a:prstGeom prst="rect">
            <a:avLst/>
          </a:prstGeom>
          <a:noFill/>
          <a:ln/>
        </p:spPr>
        <p:txBody>
          <a:bodyPr wrap="square" lIns="0" tIns="0" rIns="0" bIns="0" rtlCol="0" anchor="t">
            <a:normAutofit/>
          </a:bodyPr>
          <a:lstStyle/>
          <a:p>
            <a:pPr indent="0" marL="0">
              <a:buNone/>
            </a:pPr>
            <a:r>
              <a:rPr lang="en-US" sz="1350" dirty="0">
                <a:solidFill>
                  <a:srgbClr val="1F2633"/>
                </a:solidFill>
                <a:latin typeface="Calibri" pitchFamily="34" charset="0"/>
                <a:ea typeface="Calibri" pitchFamily="34" charset="-122"/>
                <a:cs typeface="Calibri" pitchFamily="34" charset="-120"/>
              </a:rPr>
              <a:t>Neft va neft-kimyo chiqindilarining tarkibi manba va vaqtga qarab o‘zgaradi. Ularni tayyorlovsiz qurilish kompozitiga qo‘shish mustahkamlik, chidamlilik va ekologik xavfsizlikni pasaytirishi mumkin. Chiqindining tarkibi, tayyorlash usuli va kompozit xossalari o‘rtasidagi bog‘liqlik tizimli asoslanmagan.</a:t>
            </a:r>
            <a:endParaRPr lang="en-US" sz="1350" dirty="0"/>
          </a:p>
        </p:txBody>
      </p:sp>
      <p:sp>
        <p:nvSpPr>
          <p:cNvPr id="11" name="Shape 8"/>
          <p:cNvSpPr/>
          <p:nvPr/>
        </p:nvSpPr>
        <p:spPr>
          <a:xfrm>
            <a:off x="6492240" y="1737360"/>
            <a:ext cx="5166360" cy="621792"/>
          </a:xfrm>
          <a:prstGeom prst="roundRect">
            <a:avLst>
              <a:gd name="adj" fmla="val 8824"/>
            </a:avLst>
          </a:prstGeom>
          <a:solidFill>
            <a:srgbClr val="1E2761"/>
          </a:solidFill>
          <a:ln w="12700">
            <a:solidFill>
              <a:srgbClr val="1E2761"/>
            </a:solidFill>
            <a:prstDash val="solid"/>
          </a:ln>
        </p:spPr>
      </p:sp>
      <p:sp>
        <p:nvSpPr>
          <p:cNvPr id="12" name="Text 9"/>
          <p:cNvSpPr txBox="1"/>
          <p:nvPr/>
        </p:nvSpPr>
        <p:spPr>
          <a:xfrm>
            <a:off x="6629400" y="1737360"/>
            <a:ext cx="1783080" cy="621792"/>
          </a:xfrm>
          <a:prstGeom prst="rect">
            <a:avLst/>
          </a:prstGeom>
          <a:noFill/>
          <a:ln/>
        </p:spPr>
        <p:txBody>
          <a:bodyPr wrap="square" lIns="0" tIns="0" rIns="0" bIns="0" rtlCol="0" anchor="ctr">
            <a:normAutofit/>
          </a:bodyPr>
          <a:lstStyle/>
          <a:p>
            <a:pPr indent="0" marL="0">
              <a:buNone/>
            </a:pPr>
            <a:r>
              <a:rPr lang="en-US" sz="2200" b="1" dirty="0">
                <a:solidFill>
                  <a:srgbClr val="C9A227"/>
                </a:solidFill>
                <a:latin typeface="Cambria" pitchFamily="34" charset="0"/>
                <a:ea typeface="Cambria" pitchFamily="34" charset="-122"/>
                <a:cs typeface="Cambria" pitchFamily="34" charset="-120"/>
              </a:rPr>
              <a:t>≈60 mln t</a:t>
            </a:r>
            <a:endParaRPr lang="en-US" sz="2200" dirty="0"/>
          </a:p>
        </p:txBody>
      </p:sp>
      <p:sp>
        <p:nvSpPr>
          <p:cNvPr id="13" name="Text 10"/>
          <p:cNvSpPr txBox="1"/>
          <p:nvPr/>
        </p:nvSpPr>
        <p:spPr>
          <a:xfrm>
            <a:off x="8458200" y="1737360"/>
            <a:ext cx="3108960" cy="621792"/>
          </a:xfrm>
          <a:prstGeom prst="rect">
            <a:avLst/>
          </a:prstGeom>
          <a:noFill/>
          <a:ln/>
        </p:spPr>
        <p:txBody>
          <a:bodyPr wrap="square" lIns="0" tIns="0" rIns="0" bIns="0" rtlCol="0" anchor="ctr">
            <a:normAutofit/>
          </a:bodyPr>
          <a:lstStyle/>
          <a:p>
            <a:pPr indent="0" marL="0">
              <a:buNone/>
            </a:pPr>
            <a:r>
              <a:rPr lang="en-US" sz="1050" dirty="0">
                <a:solidFill>
                  <a:srgbClr val="FFFFFF"/>
                </a:solidFill>
                <a:latin typeface="Calibri" pitchFamily="34" charset="0"/>
                <a:ea typeface="Calibri" pitchFamily="34" charset="-122"/>
                <a:cs typeface="Calibri" pitchFamily="34" charset="-120"/>
              </a:rPr>
              <a:t>neft shlami har yili neft sanoatida hosil bo‘ladi (jahon bo‘yicha) </a:t>
            </a:r>
            <a:pPr indent="0" marL="0">
              <a:buNone/>
            </a:pPr>
            <a:r>
              <a:rPr lang="en-US" sz="1050" b="1" dirty="0">
                <a:solidFill>
                  <a:srgbClr val="E8CE8A"/>
                </a:solidFill>
                <a:latin typeface="Calibri" pitchFamily="34" charset="0"/>
                <a:ea typeface="Calibri" pitchFamily="34" charset="-122"/>
                <a:cs typeface="Calibri" pitchFamily="34" charset="-120"/>
              </a:rPr>
              <a:t>[1]</a:t>
            </a:r>
            <a:endParaRPr lang="en-US" sz="1050" dirty="0"/>
          </a:p>
        </p:txBody>
      </p:sp>
      <p:sp>
        <p:nvSpPr>
          <p:cNvPr id="14" name="Shape 11"/>
          <p:cNvSpPr/>
          <p:nvPr/>
        </p:nvSpPr>
        <p:spPr>
          <a:xfrm>
            <a:off x="6492240" y="2441448"/>
            <a:ext cx="5166360" cy="621792"/>
          </a:xfrm>
          <a:prstGeom prst="roundRect">
            <a:avLst>
              <a:gd name="adj" fmla="val 8824"/>
            </a:avLst>
          </a:prstGeom>
          <a:solidFill>
            <a:srgbClr val="1E2761"/>
          </a:solidFill>
          <a:ln w="12700">
            <a:solidFill>
              <a:srgbClr val="1E2761"/>
            </a:solidFill>
            <a:prstDash val="solid"/>
          </a:ln>
        </p:spPr>
      </p:sp>
      <p:sp>
        <p:nvSpPr>
          <p:cNvPr id="15" name="Text 12"/>
          <p:cNvSpPr txBox="1"/>
          <p:nvPr/>
        </p:nvSpPr>
        <p:spPr>
          <a:xfrm>
            <a:off x="6629400" y="2441448"/>
            <a:ext cx="1783080" cy="621792"/>
          </a:xfrm>
          <a:prstGeom prst="rect">
            <a:avLst/>
          </a:prstGeom>
          <a:noFill/>
          <a:ln/>
        </p:spPr>
        <p:txBody>
          <a:bodyPr wrap="square" lIns="0" tIns="0" rIns="0" bIns="0" rtlCol="0" anchor="ctr">
            <a:normAutofit/>
          </a:bodyPr>
          <a:lstStyle/>
          <a:p>
            <a:pPr indent="0" marL="0">
              <a:buNone/>
            </a:pPr>
            <a:r>
              <a:rPr lang="en-US" sz="2200" b="1" dirty="0">
                <a:solidFill>
                  <a:srgbClr val="C9A227"/>
                </a:solidFill>
                <a:latin typeface="Cambria" pitchFamily="34" charset="0"/>
                <a:ea typeface="Cambria" pitchFamily="34" charset="-122"/>
                <a:cs typeface="Cambria" pitchFamily="34" charset="-120"/>
              </a:rPr>
              <a:t>≈5 t</a:t>
            </a:r>
            <a:endParaRPr lang="en-US" sz="2200" dirty="0"/>
          </a:p>
        </p:txBody>
      </p:sp>
      <p:sp>
        <p:nvSpPr>
          <p:cNvPr id="16" name="Text 13"/>
          <p:cNvSpPr txBox="1"/>
          <p:nvPr/>
        </p:nvSpPr>
        <p:spPr>
          <a:xfrm>
            <a:off x="8458200" y="2441448"/>
            <a:ext cx="3108960" cy="621792"/>
          </a:xfrm>
          <a:prstGeom prst="rect">
            <a:avLst/>
          </a:prstGeom>
          <a:noFill/>
          <a:ln/>
        </p:spPr>
        <p:txBody>
          <a:bodyPr wrap="square" lIns="0" tIns="0" rIns="0" bIns="0" rtlCol="0" anchor="ctr">
            <a:normAutofit/>
          </a:bodyPr>
          <a:lstStyle/>
          <a:p>
            <a:pPr indent="0" marL="0">
              <a:buNone/>
            </a:pPr>
            <a:r>
              <a:rPr lang="en-US" sz="1050" dirty="0">
                <a:solidFill>
                  <a:srgbClr val="FFFFFF"/>
                </a:solidFill>
                <a:latin typeface="Calibri" pitchFamily="34" charset="0"/>
                <a:ea typeface="Calibri" pitchFamily="34" charset="-122"/>
                <a:cs typeface="Calibri" pitchFamily="34" charset="-120"/>
              </a:rPr>
              <a:t>neft shlami har 1000 t xom neftdan hosil bo‘ladi </a:t>
            </a:r>
            <a:pPr indent="0" marL="0">
              <a:buNone/>
            </a:pPr>
            <a:r>
              <a:rPr lang="en-US" sz="1050" b="1" dirty="0">
                <a:solidFill>
                  <a:srgbClr val="E8CE8A"/>
                </a:solidFill>
                <a:latin typeface="Calibri" pitchFamily="34" charset="0"/>
                <a:ea typeface="Calibri" pitchFamily="34" charset="-122"/>
                <a:cs typeface="Calibri" pitchFamily="34" charset="-120"/>
              </a:rPr>
              <a:t>[2]</a:t>
            </a:r>
            <a:endParaRPr lang="en-US" sz="1050" dirty="0"/>
          </a:p>
        </p:txBody>
      </p:sp>
      <p:sp>
        <p:nvSpPr>
          <p:cNvPr id="17" name="Shape 14"/>
          <p:cNvSpPr/>
          <p:nvPr/>
        </p:nvSpPr>
        <p:spPr>
          <a:xfrm>
            <a:off x="6492240" y="3145536"/>
            <a:ext cx="5166360" cy="621792"/>
          </a:xfrm>
          <a:prstGeom prst="roundRect">
            <a:avLst>
              <a:gd name="adj" fmla="val 8824"/>
            </a:avLst>
          </a:prstGeom>
          <a:solidFill>
            <a:srgbClr val="FFFFFF"/>
          </a:solidFill>
          <a:ln w="12700">
            <a:solidFill>
              <a:srgbClr val="CADCFC"/>
            </a:solidFill>
            <a:prstDash val="solid"/>
          </a:ln>
        </p:spPr>
      </p:sp>
      <p:sp>
        <p:nvSpPr>
          <p:cNvPr id="18" name="Text 15"/>
          <p:cNvSpPr txBox="1"/>
          <p:nvPr/>
        </p:nvSpPr>
        <p:spPr>
          <a:xfrm>
            <a:off x="6629400" y="3145536"/>
            <a:ext cx="1783080" cy="621792"/>
          </a:xfrm>
          <a:prstGeom prst="rect">
            <a:avLst/>
          </a:prstGeom>
          <a:noFill/>
          <a:ln/>
        </p:spPr>
        <p:txBody>
          <a:bodyPr wrap="square" lIns="0" tIns="0" rIns="0" bIns="0" rtlCol="0" anchor="ctr">
            <a:normAutofit/>
          </a:bodyPr>
          <a:lstStyle/>
          <a:p>
            <a:pPr indent="0" marL="0">
              <a:buNone/>
            </a:pPr>
            <a:r>
              <a:rPr lang="en-US" sz="1700" b="1" dirty="0">
                <a:solidFill>
                  <a:srgbClr val="1E2761"/>
                </a:solidFill>
                <a:latin typeface="Cambria" pitchFamily="34" charset="0"/>
                <a:ea typeface="Cambria" pitchFamily="34" charset="-122"/>
                <a:cs typeface="Cambria" pitchFamily="34" charset="-120"/>
              </a:rPr>
              <a:t>7 mln t / 26%</a:t>
            </a:r>
            <a:endParaRPr lang="en-US" sz="1700" dirty="0"/>
          </a:p>
        </p:txBody>
      </p:sp>
      <p:sp>
        <p:nvSpPr>
          <p:cNvPr id="19" name="Text 16"/>
          <p:cNvSpPr txBox="1"/>
          <p:nvPr/>
        </p:nvSpPr>
        <p:spPr>
          <a:xfrm>
            <a:off x="8458200" y="3145536"/>
            <a:ext cx="3108960" cy="621792"/>
          </a:xfrm>
          <a:prstGeom prst="rect">
            <a:avLst/>
          </a:prstGeom>
          <a:noFill/>
          <a:ln/>
        </p:spPr>
        <p:txBody>
          <a:bodyPr wrap="square" lIns="0" tIns="0" rIns="0" bIns="0" rtlCol="0" anchor="ctr">
            <a:normAutofit/>
          </a:bodyPr>
          <a:lstStyle/>
          <a:p>
            <a:pPr indent="0" marL="0">
              <a:buNone/>
            </a:pPr>
            <a:r>
              <a:rPr lang="en-US" sz="1050" dirty="0">
                <a:solidFill>
                  <a:srgbClr val="1F2633"/>
                </a:solidFill>
                <a:latin typeface="Calibri" pitchFamily="34" charset="0"/>
                <a:ea typeface="Calibri" pitchFamily="34" charset="-122"/>
                <a:cs typeface="Calibri" pitchFamily="34" charset="-120"/>
              </a:rPr>
              <a:t>O‘zbekistonda yillik maishiy chiqindi va uning qayta ishlanadigan ulushi (umumiy chiqindi holati) </a:t>
            </a:r>
            <a:pPr indent="0" marL="0">
              <a:buNone/>
            </a:pPr>
            <a:r>
              <a:rPr lang="en-US" sz="1050" b="1" dirty="0">
                <a:solidFill>
                  <a:srgbClr val="C9A227"/>
                </a:solidFill>
                <a:latin typeface="Calibri" pitchFamily="34" charset="0"/>
                <a:ea typeface="Calibri" pitchFamily="34" charset="-122"/>
                <a:cs typeface="Calibri" pitchFamily="34" charset="-120"/>
              </a:rPr>
              <a:t>[3]</a:t>
            </a:r>
            <a:endParaRPr lang="en-US" sz="1050" dirty="0"/>
          </a:p>
        </p:txBody>
      </p:sp>
      <p:sp>
        <p:nvSpPr>
          <p:cNvPr id="20" name="Shape 17"/>
          <p:cNvSpPr/>
          <p:nvPr/>
        </p:nvSpPr>
        <p:spPr>
          <a:xfrm>
            <a:off x="548640" y="3977640"/>
            <a:ext cx="5486400" cy="1600200"/>
          </a:xfrm>
          <a:prstGeom prst="roundRect">
            <a:avLst>
              <a:gd name="adj" fmla="val 3429"/>
            </a:avLst>
          </a:prstGeom>
          <a:solidFill>
            <a:srgbClr val="FFFFFF"/>
          </a:solidFill>
          <a:ln w="12700">
            <a:solidFill>
              <a:srgbClr val="CADCFC"/>
            </a:solidFill>
            <a:prstDash val="solid"/>
          </a:ln>
        </p:spPr>
      </p:sp>
      <p:pic>
        <p:nvPicPr>
          <p:cNvPr id="21" name="Image 0" descr="/tmp/claude-0/-home-claude/1a0f1fcd-2772-57a1-9475-1557efb8a840/scratchpad/phd/img/b14.jpg">    </p:cNvPr>
          <p:cNvPicPr>
            <a:picLocks noChangeAspect="1"/>
          </p:cNvPicPr>
          <p:nvPr/>
        </p:nvPicPr>
        <p:blipFill>
          <a:blip r:embed="rId1"/>
          <a:srcRect l="0" r="0" t="0" b="0"/>
          <a:stretch/>
        </p:blipFill>
        <p:spPr>
          <a:xfrm>
            <a:off x="685800" y="4114800"/>
            <a:ext cx="1325880" cy="1325880"/>
          </a:xfrm>
          <a:prstGeom prst="rect">
            <a:avLst/>
          </a:prstGeom>
        </p:spPr>
      </p:pic>
      <p:sp>
        <p:nvSpPr>
          <p:cNvPr id="22" name="Text 18"/>
          <p:cNvSpPr txBox="1"/>
          <p:nvPr/>
        </p:nvSpPr>
        <p:spPr>
          <a:xfrm>
            <a:off x="2194560" y="4114800"/>
            <a:ext cx="3703320" cy="320040"/>
          </a:xfrm>
          <a:prstGeom prst="rect">
            <a:avLst/>
          </a:prstGeom>
          <a:noFill/>
          <a:ln/>
        </p:spPr>
        <p:txBody>
          <a:bodyPr wrap="square" lIns="0" tIns="0" rIns="0" bIns="0"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Respublika rivojlanishi bilan bog‘liqligi</a:t>
            </a:r>
            <a:endParaRPr lang="en-US" sz="1300" dirty="0"/>
          </a:p>
        </p:txBody>
      </p:sp>
      <p:sp>
        <p:nvSpPr>
          <p:cNvPr id="23" name="Text 19"/>
          <p:cNvSpPr txBox="1"/>
          <p:nvPr/>
        </p:nvSpPr>
        <p:spPr>
          <a:xfrm>
            <a:off x="2194560" y="4480560"/>
            <a:ext cx="3703320" cy="960120"/>
          </a:xfrm>
          <a:prstGeom prst="rect">
            <a:avLst/>
          </a:prstGeom>
          <a:noFill/>
          <a:ln/>
        </p:spPr>
        <p:txBody>
          <a:bodyPr wrap="square" lIns="0" tIns="0" rIns="0" bIns="0" rtlCol="0" anchor="t">
            <a:normAutofit/>
          </a:bodyPr>
          <a:lstStyle/>
          <a:p>
            <a:pPr indent="0" marL="0">
              <a:buNone/>
            </a:pPr>
            <a:r>
              <a:rPr lang="en-US" sz="1250" dirty="0">
                <a:solidFill>
                  <a:srgbClr val="1F2633"/>
                </a:solidFill>
                <a:latin typeface="Calibri" pitchFamily="34" charset="0"/>
                <a:ea typeface="Calibri" pitchFamily="34" charset="-122"/>
                <a:cs typeface="Calibri" pitchFamily="34" charset="-120"/>
              </a:rPr>
              <a:t>Chiqindilarni qayta ishlash strategiyasi (2019–2028); qurilish materiallariga talab; tabiiy xomashyoni tejash.</a:t>
            </a:r>
            <a:endParaRPr lang="en-US" sz="1250" dirty="0"/>
          </a:p>
        </p:txBody>
      </p:sp>
      <p:sp>
        <p:nvSpPr>
          <p:cNvPr id="24" name="Shape 20"/>
          <p:cNvSpPr/>
          <p:nvPr/>
        </p:nvSpPr>
        <p:spPr>
          <a:xfrm>
            <a:off x="6172200" y="3977640"/>
            <a:ext cx="5486400" cy="1600200"/>
          </a:xfrm>
          <a:prstGeom prst="roundRect">
            <a:avLst>
              <a:gd name="adj" fmla="val 3429"/>
            </a:avLst>
          </a:prstGeom>
          <a:solidFill>
            <a:srgbClr val="FFFFFF"/>
          </a:solidFill>
          <a:ln w="12700">
            <a:solidFill>
              <a:srgbClr val="CADCFC"/>
            </a:solidFill>
            <a:prstDash val="solid"/>
          </a:ln>
        </p:spPr>
      </p:sp>
      <p:pic>
        <p:nvPicPr>
          <p:cNvPr id="25" name="Image 1" descr="/tmp/claude-0/-home-claude/1a0f1fcd-2772-57a1-9475-1557efb8a840/scratchpad/phd/img/b08.jpg">    </p:cNvPr>
          <p:cNvPicPr>
            <a:picLocks noChangeAspect="1"/>
          </p:cNvPicPr>
          <p:nvPr/>
        </p:nvPicPr>
        <p:blipFill>
          <a:blip r:embed="rId2"/>
          <a:srcRect l="0" r="0" t="0" b="0"/>
          <a:stretch/>
        </p:blipFill>
        <p:spPr>
          <a:xfrm>
            <a:off x="6309360" y="4114800"/>
            <a:ext cx="1325880" cy="1325880"/>
          </a:xfrm>
          <a:prstGeom prst="rect">
            <a:avLst/>
          </a:prstGeom>
        </p:spPr>
      </p:pic>
      <p:sp>
        <p:nvSpPr>
          <p:cNvPr id="26" name="Text 21"/>
          <p:cNvSpPr txBox="1"/>
          <p:nvPr/>
        </p:nvSpPr>
        <p:spPr>
          <a:xfrm>
            <a:off x="7818120" y="4114800"/>
            <a:ext cx="3703320" cy="320040"/>
          </a:xfrm>
          <a:prstGeom prst="rect">
            <a:avLst/>
          </a:prstGeom>
          <a:noFill/>
          <a:ln/>
        </p:spPr>
        <p:txBody>
          <a:bodyPr wrap="square" lIns="0" tIns="0" rIns="0" bIns="0"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Jahon fani bilan bog‘liqligi</a:t>
            </a:r>
            <a:endParaRPr lang="en-US" sz="1300" dirty="0"/>
          </a:p>
        </p:txBody>
      </p:sp>
      <p:sp>
        <p:nvSpPr>
          <p:cNvPr id="27" name="Text 22"/>
          <p:cNvSpPr txBox="1"/>
          <p:nvPr/>
        </p:nvSpPr>
        <p:spPr>
          <a:xfrm>
            <a:off x="7818120" y="4480560"/>
            <a:ext cx="3703320" cy="960120"/>
          </a:xfrm>
          <a:prstGeom prst="rect">
            <a:avLst/>
          </a:prstGeom>
          <a:noFill/>
          <a:ln/>
        </p:spPr>
        <p:txBody>
          <a:bodyPr wrap="square" lIns="0" tIns="0" rIns="0" bIns="0" rtlCol="0" anchor="t">
            <a:normAutofit/>
          </a:bodyPr>
          <a:lstStyle/>
          <a:p>
            <a:pPr indent="0" marL="0">
              <a:buNone/>
            </a:pPr>
            <a:r>
              <a:rPr lang="en-US" sz="1250" dirty="0">
                <a:solidFill>
                  <a:srgbClr val="1F2633"/>
                </a:solidFill>
                <a:latin typeface="Calibri" pitchFamily="34" charset="0"/>
                <a:ea typeface="Calibri" pitchFamily="34" charset="-122"/>
                <a:cs typeface="Calibri" pitchFamily="34" charset="-120"/>
              </a:rPr>
              <a:t>Doiraviy iqtisodiyot: neft shlamini sement, g‘isht va asfalt tarkibida qo‘llash bo‘yicha faol tadqiqotlar [4].</a:t>
            </a:r>
            <a:endParaRPr lang="en-US" sz="1250" dirty="0"/>
          </a:p>
        </p:txBody>
      </p:sp>
      <p:sp>
        <p:nvSpPr>
          <p:cNvPr id="28" name="Text 23"/>
          <p:cNvSpPr txBox="1"/>
          <p:nvPr/>
        </p:nvSpPr>
        <p:spPr>
          <a:xfrm>
            <a:off x="548640" y="5870448"/>
            <a:ext cx="11109960" cy="502920"/>
          </a:xfrm>
          <a:prstGeom prst="rect">
            <a:avLst/>
          </a:prstGeom>
          <a:noFill/>
          <a:ln/>
        </p:spPr>
        <p:txBody>
          <a:bodyPr wrap="square" lIns="0" tIns="0" rIns="0" bIns="0" rtlCol="0" anchor="b"/>
          <a:lstStyle/>
          <a:p>
            <a:pPr indent="0" marL="0">
              <a:lnSpc>
                <a:spcPct val="95000"/>
              </a:lnSpc>
              <a:buNone/>
            </a:pPr>
            <a:r>
              <a:rPr lang="en-US" sz="800" dirty="0">
                <a:solidFill>
                  <a:srgbClr val="58607C"/>
                </a:solidFill>
                <a:latin typeface="Calibri" pitchFamily="34" charset="0"/>
                <a:ea typeface="Calibri" pitchFamily="34" charset="-122"/>
                <a:cs typeface="Calibri" pitchFamily="34" charset="-120"/>
              </a:rPr>
              <a:t>[1] Hasan A.M.A. va b. Environ. Sci. Pollut. Res. 2024, 31, 8369–8386. doi:10.1007/s11356-023-31674-3 (Hu va b., 2013 asosida)</a:t>
            </a:r>
            <a:endParaRPr lang="en-US" sz="800" dirty="0"/>
          </a:p>
          <a:p>
            <a:pPr indent="0" marL="0">
              <a:lnSpc>
                <a:spcPct val="95000"/>
              </a:lnSpc>
              <a:buNone/>
            </a:pPr>
            <a:r>
              <a:rPr lang="en-US" sz="800" dirty="0">
                <a:solidFill>
                  <a:srgbClr val="58607C"/>
                </a:solidFill>
                <a:latin typeface="Calibri" pitchFamily="34" charset="0"/>
                <a:ea typeface="Calibri" pitchFamily="34" charset="-122"/>
                <a:cs typeface="Calibri" pitchFamily="34" charset="-120"/>
              </a:rPr>
              <a:t>[2] Niu A., Sun X., Lin C. Molecules 2022, 27, 7795. doi:10.3390/molecules27227795</a:t>
            </a:r>
            <a:endParaRPr lang="en-US" sz="800" dirty="0"/>
          </a:p>
          <a:p>
            <a:pPr indent="0" marL="0">
              <a:lnSpc>
                <a:spcPct val="95000"/>
              </a:lnSpc>
              <a:buNone/>
            </a:pPr>
            <a:r>
              <a:rPr lang="en-US" sz="800" dirty="0">
                <a:solidFill>
                  <a:srgbClr val="58607C"/>
                </a:solidFill>
                <a:latin typeface="Calibri" pitchFamily="34" charset="0"/>
                <a:ea typeface="Calibri" pitchFamily="34" charset="-122"/>
                <a:cs typeface="Calibri" pitchFamily="34" charset="-120"/>
              </a:rPr>
              <a:t>[3] Kun.uz, 06.08.2022 — Ekologiya qo‘mitasi raisi o‘rinbosari U. Xalilovning Senatdagi ma’lumoti</a:t>
            </a:r>
            <a:endParaRPr lang="en-US" sz="800" dirty="0"/>
          </a:p>
          <a:p>
            <a:pPr indent="0" marL="0">
              <a:lnSpc>
                <a:spcPct val="95000"/>
              </a:lnSpc>
              <a:buNone/>
            </a:pPr>
            <a:r>
              <a:rPr lang="en-US" sz="800" dirty="0">
                <a:solidFill>
                  <a:srgbClr val="58607C"/>
                </a:solidFill>
                <a:latin typeface="Calibri" pitchFamily="34" charset="0"/>
                <a:ea typeface="Calibri" pitchFamily="34" charset="-122"/>
                <a:cs typeface="Calibri" pitchFamily="34" charset="-120"/>
              </a:rPr>
              <a:t>[4] Jagaba A.H. va b. Cleaner and Circular Bioeconomy 2022, 3, 100029. doi:10.1016/j.clcb.2022.100029</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7772400" cy="228600"/>
          </a:xfrm>
          <a:prstGeom prst="rect">
            <a:avLst/>
          </a:prstGeom>
          <a:noFill/>
          <a:ln/>
        </p:spPr>
        <p:txBody>
          <a:bodyPr wrap="square" lIns="0" tIns="0" rIns="0" bIns="0" rtlCol="0" anchor="t"/>
          <a:lstStyle/>
          <a:p>
            <a:pPr indent="0" marL="0">
              <a:buNone/>
            </a:pPr>
            <a:r>
              <a:rPr lang="en-US" sz="1000" b="1" spc="150" kern="0" dirty="0">
                <a:solidFill>
                  <a:srgbClr val="C9A227"/>
                </a:solidFill>
                <a:latin typeface="Calibri" pitchFamily="34" charset="0"/>
                <a:ea typeface="Calibri" pitchFamily="34" charset="-122"/>
                <a:cs typeface="Calibri" pitchFamily="34" charset="-120"/>
              </a:rPr>
              <a:t>DASTURNING 9-BANDI · 3-XATBOSHI</a:t>
            </a:r>
            <a:endParaRPr lang="en-US" sz="1000" dirty="0"/>
          </a:p>
        </p:txBody>
      </p:sp>
      <p:sp>
        <p:nvSpPr>
          <p:cNvPr id="3" name="Text 1"/>
          <p:cNvSpPr txBox="1"/>
          <p:nvPr/>
        </p:nvSpPr>
        <p:spPr>
          <a:xfrm>
            <a:off x="548640" y="658368"/>
            <a:ext cx="8778240" cy="868680"/>
          </a:xfrm>
          <a:prstGeom prst="rect">
            <a:avLst/>
          </a:prstGeom>
          <a:noFill/>
          <a:ln/>
        </p:spPr>
        <p:txBody>
          <a:bodyPr wrap="square" lIns="0" tIns="0" rIns="0" bIns="0" rtlCol="0" anchor="ctr">
            <a:normAutofit/>
          </a:bodyPr>
          <a:lstStyle/>
          <a:p>
            <a:pPr indent="0" marL="0">
              <a:buNone/>
            </a:pPr>
            <a:r>
              <a:rPr lang="en-US" sz="2400" b="1" dirty="0">
                <a:solidFill>
                  <a:srgbClr val="1E2761"/>
                </a:solidFill>
                <a:latin typeface="Cambria" pitchFamily="34" charset="0"/>
                <a:ea typeface="Cambria" pitchFamily="34" charset="-122"/>
                <a:cs typeface="Cambria" pitchFamily="34" charset="-120"/>
              </a:rPr>
              <a:t>Muammoning ishlab chiqarish va mintaqa ehtiyojlari bilan bog‘liqligi</a:t>
            </a:r>
            <a:endParaRPr lang="en-US" sz="2400" dirty="0"/>
          </a:p>
        </p:txBody>
      </p:sp>
      <p:sp>
        <p:nvSpPr>
          <p:cNvPr id="4" name="mezon"/>
          <p:cNvSpPr/>
          <p:nvPr/>
        </p:nvSpPr>
        <p:spPr>
          <a:xfrm>
            <a:off x="9921240" y="457200"/>
            <a:ext cx="1737360" cy="566928"/>
          </a:xfrm>
          <a:prstGeom prst="roundRect">
            <a:avLst>
              <a:gd name="adj" fmla="val 9677"/>
            </a:avLst>
          </a:prstGeom>
          <a:solidFill>
            <a:srgbClr val="1E2761"/>
          </a:solidFill>
          <a:ln w="12700">
            <a:solidFill>
              <a:srgbClr val="1E2761"/>
            </a:solidFill>
            <a:prstDash val="solid"/>
          </a:ln>
        </p:spPr>
      </p:sp>
      <p:sp>
        <p:nvSpPr>
          <p:cNvPr id="5" name="Text 3"/>
          <p:cNvSpPr txBox="1"/>
          <p:nvPr/>
        </p:nvSpPr>
        <p:spPr>
          <a:xfrm>
            <a:off x="9921240" y="457200"/>
            <a:ext cx="1737360" cy="566928"/>
          </a:xfrm>
          <a:prstGeom prst="rect">
            <a:avLst/>
          </a:prstGeom>
          <a:noFill/>
          <a:ln/>
        </p:spPr>
        <p:txBody>
          <a:bodyPr wrap="square" lIns="0" tIns="0" rIns="0" bIns="0" rtlCol="0" anchor="ctr"/>
          <a:lstStyle/>
          <a:p>
            <a:pPr algn="ctr" indent="0" marL="0">
              <a:buNone/>
            </a:pPr>
            <a:r>
              <a:rPr lang="en-US" sz="1100" b="1" spc="100" kern="0" dirty="0">
                <a:solidFill>
                  <a:srgbClr val="C9A227"/>
                </a:solidFill>
                <a:latin typeface="Calibri" pitchFamily="34" charset="0"/>
                <a:ea typeface="Calibri" pitchFamily="34" charset="-122"/>
                <a:cs typeface="Calibri" pitchFamily="34" charset="-120"/>
              </a:rPr>
              <a:t>1 VA 4-MEZON</a:t>
            </a:r>
            <a:endParaRPr lang="en-US" sz="1100" dirty="0"/>
          </a:p>
        </p:txBody>
      </p:sp>
      <p:sp>
        <p:nvSpPr>
          <p:cNvPr id="6" name="Text 4"/>
          <p:cNvSpPr txBox="1"/>
          <p:nvPr/>
        </p:nvSpPr>
        <p:spPr>
          <a:xfrm>
            <a:off x="10241280" y="6419088"/>
            <a:ext cx="1417320" cy="274320"/>
          </a:xfrm>
          <a:prstGeom prst="rect">
            <a:avLst/>
          </a:prstGeom>
          <a:noFill/>
          <a:ln/>
        </p:spPr>
        <p:txBody>
          <a:bodyPr wrap="square" lIns="0" tIns="0" rIns="0" bIns="0" rtlCol="0" anchor="t"/>
          <a:lstStyle/>
          <a:p>
            <a:pPr algn="r" indent="0" marL="0">
              <a:buNone/>
            </a:pPr>
            <a:r>
              <a:rPr lang="en-US" sz="900" dirty="0">
                <a:solidFill>
                  <a:srgbClr val="8A93AE"/>
                </a:solidFill>
                <a:latin typeface="Calibri" pitchFamily="34" charset="0"/>
                <a:ea typeface="Calibri" pitchFamily="34" charset="-122"/>
                <a:cs typeface="Calibri" pitchFamily="34" charset="-120"/>
              </a:rPr>
              <a:t>4 / 15</a:t>
            </a:r>
            <a:endParaRPr lang="en-US" sz="900" dirty="0"/>
          </a:p>
        </p:txBody>
      </p:sp>
      <p:sp>
        <p:nvSpPr>
          <p:cNvPr id="8" name="Text 5"/>
          <p:cNvSpPr txBox="1"/>
          <p:nvPr/>
        </p:nvSpPr>
        <p:spPr>
          <a:xfrm>
            <a:off x="548640" y="1719072"/>
            <a:ext cx="7315200" cy="228600"/>
          </a:xfrm>
          <a:prstGeom prst="rect">
            <a:avLst/>
          </a:prstGeom>
          <a:noFill/>
          <a:ln/>
        </p:spPr>
        <p:txBody>
          <a:bodyPr wrap="square" lIns="0" tIns="0" rIns="0" bIns="0" rtlCol="0" anchor="t"/>
          <a:lstStyle/>
          <a:p>
            <a:pPr indent="0" marL="0">
              <a:buNone/>
            </a:pPr>
            <a:r>
              <a:rPr lang="en-US" sz="950" b="1" spc="120" kern="0" dirty="0">
                <a:solidFill>
                  <a:srgbClr val="C9A227"/>
                </a:solidFill>
                <a:latin typeface="Calibri" pitchFamily="34" charset="0"/>
                <a:ea typeface="Calibri" pitchFamily="34" charset="-122"/>
                <a:cs typeface="Calibri" pitchFamily="34" charset="-120"/>
              </a:rPr>
              <a:t>CHIQINDI MANBASIDAN ISTE’MOLCHIGACHA</a:t>
            </a:r>
            <a:endParaRPr lang="en-US" sz="950" dirty="0"/>
          </a:p>
        </p:txBody>
      </p:sp>
      <p:sp>
        <p:nvSpPr>
          <p:cNvPr id="9" name="Shape 6"/>
          <p:cNvSpPr/>
          <p:nvPr/>
        </p:nvSpPr>
        <p:spPr>
          <a:xfrm>
            <a:off x="548640" y="2011680"/>
            <a:ext cx="2560320" cy="1645920"/>
          </a:xfrm>
          <a:prstGeom prst="roundRect">
            <a:avLst>
              <a:gd name="adj" fmla="val 3333"/>
            </a:avLst>
          </a:prstGeom>
          <a:solidFill>
            <a:srgbClr val="1E2761"/>
          </a:solidFill>
          <a:ln w="12700">
            <a:solidFill>
              <a:srgbClr val="1E2761"/>
            </a:solidFill>
            <a:prstDash val="solid"/>
          </a:ln>
        </p:spPr>
      </p:sp>
      <p:sp>
        <p:nvSpPr>
          <p:cNvPr id="10" name="Text 7"/>
          <p:cNvSpPr txBox="1"/>
          <p:nvPr/>
        </p:nvSpPr>
        <p:spPr>
          <a:xfrm>
            <a:off x="713232" y="2121408"/>
            <a:ext cx="2231136" cy="292608"/>
          </a:xfrm>
          <a:prstGeom prst="rect">
            <a:avLst/>
          </a:prstGeom>
          <a:noFill/>
          <a:ln/>
        </p:spPr>
        <p:txBody>
          <a:bodyPr wrap="square" lIns="0" tIns="0" rIns="0" bIns="0" rtlCol="0" anchor="t"/>
          <a:lstStyle/>
          <a:p>
            <a:pPr indent="0" marL="0">
              <a:buNone/>
            </a:pPr>
            <a:r>
              <a:rPr lang="en-US" sz="1350" b="1" dirty="0">
                <a:solidFill>
                  <a:srgbClr val="C9A227"/>
                </a:solidFill>
                <a:latin typeface="Cambria" pitchFamily="34" charset="0"/>
                <a:ea typeface="Cambria" pitchFamily="34" charset="-122"/>
                <a:cs typeface="Cambria" pitchFamily="34" charset="-120"/>
              </a:rPr>
              <a:t>Manba</a:t>
            </a:r>
            <a:endParaRPr lang="en-US" sz="1350" dirty="0"/>
          </a:p>
        </p:txBody>
      </p:sp>
      <p:sp>
        <p:nvSpPr>
          <p:cNvPr id="11" name="Text 8"/>
          <p:cNvSpPr txBox="1"/>
          <p:nvPr/>
        </p:nvSpPr>
        <p:spPr>
          <a:xfrm>
            <a:off x="713232" y="2468880"/>
            <a:ext cx="2231136" cy="1097280"/>
          </a:xfrm>
          <a:prstGeom prst="rect">
            <a:avLst/>
          </a:prstGeom>
          <a:noFill/>
          <a:ln/>
        </p:spPr>
        <p:txBody>
          <a:bodyPr wrap="square" lIns="0" tIns="0" rIns="0" bIns="0" rtlCol="0" anchor="t">
            <a:normAutofit/>
          </a:bodyPr>
          <a:lstStyle/>
          <a:p>
            <a:pPr indent="0" marL="0">
              <a:buNone/>
            </a:pPr>
            <a:r>
              <a:rPr lang="en-US" sz="1200" dirty="0">
                <a:solidFill>
                  <a:srgbClr val="FFFFFF"/>
                </a:solidFill>
                <a:latin typeface="Calibri" pitchFamily="34" charset="0"/>
                <a:ea typeface="Calibri" pitchFamily="34" charset="-122"/>
                <a:cs typeface="Calibri" pitchFamily="34" charset="-120"/>
              </a:rPr>
              <a:t>Neftni qayta ishlash zavodlari: Farg‘ona NQIZ (Farg‘ona vodiysi), Buxoro NQIZ — modernizatsiya jarayonida</a:t>
            </a:r>
            <a:endParaRPr lang="en-US" sz="1200" dirty="0"/>
          </a:p>
        </p:txBody>
      </p:sp>
      <p:sp>
        <p:nvSpPr>
          <p:cNvPr id="12" name="Text 9"/>
          <p:cNvSpPr txBox="1"/>
          <p:nvPr/>
        </p:nvSpPr>
        <p:spPr>
          <a:xfrm>
            <a:off x="3108960" y="2606040"/>
            <a:ext cx="256032" cy="411480"/>
          </a:xfrm>
          <a:prstGeom prst="rect">
            <a:avLst/>
          </a:prstGeom>
          <a:noFill/>
          <a:ln/>
        </p:spPr>
        <p:txBody>
          <a:bodyPr wrap="square" lIns="0" tIns="0" rIns="0" bIns="0" rtlCol="0" anchor="t"/>
          <a:lstStyle/>
          <a:p>
            <a:pPr algn="ctr" indent="0" marL="0">
              <a:buNone/>
            </a:pPr>
            <a:r>
              <a:rPr lang="en-US" sz="1800" b="1" dirty="0">
                <a:solidFill>
                  <a:srgbClr val="C9A227"/>
                </a:solidFill>
                <a:latin typeface="Calibri" pitchFamily="34" charset="0"/>
                <a:ea typeface="Calibri" pitchFamily="34" charset="-122"/>
                <a:cs typeface="Calibri" pitchFamily="34" charset="-120"/>
              </a:rPr>
              <a:t>→</a:t>
            </a:r>
            <a:endParaRPr lang="en-US" sz="1800" dirty="0"/>
          </a:p>
        </p:txBody>
      </p:sp>
      <p:sp>
        <p:nvSpPr>
          <p:cNvPr id="13" name="Shape 10"/>
          <p:cNvSpPr/>
          <p:nvPr/>
        </p:nvSpPr>
        <p:spPr>
          <a:xfrm>
            <a:off x="3364992" y="2011680"/>
            <a:ext cx="2560320" cy="1645920"/>
          </a:xfrm>
          <a:prstGeom prst="roundRect">
            <a:avLst>
              <a:gd name="adj" fmla="val 3333"/>
            </a:avLst>
          </a:prstGeom>
          <a:solidFill>
            <a:srgbClr val="F4F6FB"/>
          </a:solidFill>
          <a:ln w="12700">
            <a:solidFill>
              <a:srgbClr val="CADCFC"/>
            </a:solidFill>
            <a:prstDash val="solid"/>
          </a:ln>
        </p:spPr>
      </p:sp>
      <p:sp>
        <p:nvSpPr>
          <p:cNvPr id="14" name="Text 11"/>
          <p:cNvSpPr txBox="1"/>
          <p:nvPr/>
        </p:nvSpPr>
        <p:spPr>
          <a:xfrm>
            <a:off x="3529584" y="2121408"/>
            <a:ext cx="2231136" cy="292608"/>
          </a:xfrm>
          <a:prstGeom prst="rect">
            <a:avLst/>
          </a:prstGeom>
          <a:noFill/>
          <a:ln/>
        </p:spPr>
        <p:txBody>
          <a:bodyPr wrap="square" lIns="0" tIns="0" rIns="0" bIns="0" rtlCol="0" anchor="t"/>
          <a:lstStyle/>
          <a:p>
            <a:pPr indent="0" marL="0">
              <a:buNone/>
            </a:pPr>
            <a:r>
              <a:rPr lang="en-US" sz="1350" b="1" dirty="0">
                <a:solidFill>
                  <a:srgbClr val="1E2761"/>
                </a:solidFill>
                <a:latin typeface="Cambria" pitchFamily="34" charset="0"/>
                <a:ea typeface="Cambria" pitchFamily="34" charset="-122"/>
                <a:cs typeface="Cambria" pitchFamily="34" charset="-120"/>
              </a:rPr>
              <a:t>Chiqindi</a:t>
            </a:r>
            <a:endParaRPr lang="en-US" sz="1350" dirty="0"/>
          </a:p>
        </p:txBody>
      </p:sp>
      <p:sp>
        <p:nvSpPr>
          <p:cNvPr id="15" name="Text 12"/>
          <p:cNvSpPr txBox="1"/>
          <p:nvPr/>
        </p:nvSpPr>
        <p:spPr>
          <a:xfrm>
            <a:off x="3529584" y="2468880"/>
            <a:ext cx="2231136" cy="1097280"/>
          </a:xfrm>
          <a:prstGeom prst="rect">
            <a:avLst/>
          </a:prstGeom>
          <a:noFill/>
          <a:ln/>
        </p:spPr>
        <p:txBody>
          <a:bodyPr wrap="square" lIns="0" tIns="0" rIns="0" bIns="0" rtlCol="0" anchor="t">
            <a:normAutofit/>
          </a:bodyPr>
          <a:lstStyle/>
          <a:p>
            <a:pPr indent="0" marL="0">
              <a:buNone/>
            </a:pPr>
            <a:r>
              <a:rPr lang="en-US" sz="1200" dirty="0">
                <a:solidFill>
                  <a:srgbClr val="1F2633"/>
                </a:solidFill>
                <a:latin typeface="Calibri" pitchFamily="34" charset="0"/>
                <a:ea typeface="Calibri" pitchFamily="34" charset="-122"/>
                <a:cs typeface="Calibri" pitchFamily="34" charset="-120"/>
              </a:rPr>
              <a:t>Neft shlami, ishlatilgan moy, polimer chiqindilari</a:t>
            </a:r>
            <a:endParaRPr lang="en-US" sz="1200" dirty="0"/>
          </a:p>
        </p:txBody>
      </p:sp>
      <p:sp>
        <p:nvSpPr>
          <p:cNvPr id="16" name="Text 13"/>
          <p:cNvSpPr txBox="1"/>
          <p:nvPr/>
        </p:nvSpPr>
        <p:spPr>
          <a:xfrm>
            <a:off x="5925312" y="2606040"/>
            <a:ext cx="256032" cy="411480"/>
          </a:xfrm>
          <a:prstGeom prst="rect">
            <a:avLst/>
          </a:prstGeom>
          <a:noFill/>
          <a:ln/>
        </p:spPr>
        <p:txBody>
          <a:bodyPr wrap="square" lIns="0" tIns="0" rIns="0" bIns="0" rtlCol="0" anchor="t"/>
          <a:lstStyle/>
          <a:p>
            <a:pPr algn="ctr" indent="0" marL="0">
              <a:buNone/>
            </a:pPr>
            <a:r>
              <a:rPr lang="en-US" sz="1800" b="1" dirty="0">
                <a:solidFill>
                  <a:srgbClr val="C9A227"/>
                </a:solidFill>
                <a:latin typeface="Calibri" pitchFamily="34" charset="0"/>
                <a:ea typeface="Calibri" pitchFamily="34" charset="-122"/>
                <a:cs typeface="Calibri" pitchFamily="34" charset="-120"/>
              </a:rPr>
              <a:t>→</a:t>
            </a:r>
            <a:endParaRPr lang="en-US" sz="1800" dirty="0"/>
          </a:p>
        </p:txBody>
      </p:sp>
      <p:sp>
        <p:nvSpPr>
          <p:cNvPr id="17" name="Shape 14"/>
          <p:cNvSpPr/>
          <p:nvPr/>
        </p:nvSpPr>
        <p:spPr>
          <a:xfrm>
            <a:off x="6181344" y="2011680"/>
            <a:ext cx="2560320" cy="1645920"/>
          </a:xfrm>
          <a:prstGeom prst="roundRect">
            <a:avLst>
              <a:gd name="adj" fmla="val 3333"/>
            </a:avLst>
          </a:prstGeom>
          <a:solidFill>
            <a:srgbClr val="1E2761"/>
          </a:solidFill>
          <a:ln w="12700">
            <a:solidFill>
              <a:srgbClr val="1E2761"/>
            </a:solidFill>
            <a:prstDash val="solid"/>
          </a:ln>
        </p:spPr>
      </p:sp>
      <p:sp>
        <p:nvSpPr>
          <p:cNvPr id="18" name="Text 15"/>
          <p:cNvSpPr txBox="1"/>
          <p:nvPr/>
        </p:nvSpPr>
        <p:spPr>
          <a:xfrm>
            <a:off x="6345936" y="2121408"/>
            <a:ext cx="2231136" cy="292608"/>
          </a:xfrm>
          <a:prstGeom prst="rect">
            <a:avLst/>
          </a:prstGeom>
          <a:noFill/>
          <a:ln/>
        </p:spPr>
        <p:txBody>
          <a:bodyPr wrap="square" lIns="0" tIns="0" rIns="0" bIns="0" rtlCol="0" anchor="t"/>
          <a:lstStyle/>
          <a:p>
            <a:pPr indent="0" marL="0">
              <a:buNone/>
            </a:pPr>
            <a:r>
              <a:rPr lang="en-US" sz="1350" b="1" dirty="0">
                <a:solidFill>
                  <a:srgbClr val="C9A227"/>
                </a:solidFill>
                <a:latin typeface="Cambria" pitchFamily="34" charset="0"/>
                <a:ea typeface="Cambria" pitchFamily="34" charset="-122"/>
                <a:cs typeface="Cambria" pitchFamily="34" charset="-120"/>
              </a:rPr>
              <a:t>Qayta ishlash</a:t>
            </a:r>
            <a:endParaRPr lang="en-US" sz="1350" dirty="0"/>
          </a:p>
        </p:txBody>
      </p:sp>
      <p:sp>
        <p:nvSpPr>
          <p:cNvPr id="19" name="Text 16"/>
          <p:cNvSpPr txBox="1"/>
          <p:nvPr/>
        </p:nvSpPr>
        <p:spPr>
          <a:xfrm>
            <a:off x="6345936" y="2468880"/>
            <a:ext cx="2231136" cy="1097280"/>
          </a:xfrm>
          <a:prstGeom prst="rect">
            <a:avLst/>
          </a:prstGeom>
          <a:noFill/>
          <a:ln/>
        </p:spPr>
        <p:txBody>
          <a:bodyPr wrap="square" lIns="0" tIns="0" rIns="0" bIns="0" rtlCol="0" anchor="t">
            <a:normAutofit/>
          </a:bodyPr>
          <a:lstStyle/>
          <a:p>
            <a:pPr indent="0" marL="0">
              <a:buNone/>
            </a:pPr>
            <a:r>
              <a:rPr lang="en-US" sz="1200" dirty="0">
                <a:solidFill>
                  <a:srgbClr val="FFFFFF"/>
                </a:solidFill>
                <a:latin typeface="Calibri" pitchFamily="34" charset="0"/>
                <a:ea typeface="Calibri" pitchFamily="34" charset="-122"/>
                <a:cs typeface="Calibri" pitchFamily="34" charset="-120"/>
              </a:rPr>
              <a:t>Tavsiflash, tayyorlash, kompozit olish</a:t>
            </a:r>
            <a:endParaRPr lang="en-US" sz="1200" dirty="0"/>
          </a:p>
        </p:txBody>
      </p:sp>
      <p:sp>
        <p:nvSpPr>
          <p:cNvPr id="20" name="Text 17"/>
          <p:cNvSpPr txBox="1"/>
          <p:nvPr/>
        </p:nvSpPr>
        <p:spPr>
          <a:xfrm>
            <a:off x="8741664" y="2606040"/>
            <a:ext cx="256032" cy="411480"/>
          </a:xfrm>
          <a:prstGeom prst="rect">
            <a:avLst/>
          </a:prstGeom>
          <a:noFill/>
          <a:ln/>
        </p:spPr>
        <p:txBody>
          <a:bodyPr wrap="square" lIns="0" tIns="0" rIns="0" bIns="0" rtlCol="0" anchor="t"/>
          <a:lstStyle/>
          <a:p>
            <a:pPr algn="ctr" indent="0" marL="0">
              <a:buNone/>
            </a:pPr>
            <a:r>
              <a:rPr lang="en-US" sz="1800" b="1" dirty="0">
                <a:solidFill>
                  <a:srgbClr val="C9A227"/>
                </a:solidFill>
                <a:latin typeface="Calibri" pitchFamily="34" charset="0"/>
                <a:ea typeface="Calibri" pitchFamily="34" charset="-122"/>
                <a:cs typeface="Calibri" pitchFamily="34" charset="-120"/>
              </a:rPr>
              <a:t>→</a:t>
            </a:r>
            <a:endParaRPr lang="en-US" sz="1800" dirty="0"/>
          </a:p>
        </p:txBody>
      </p:sp>
      <p:sp>
        <p:nvSpPr>
          <p:cNvPr id="21" name="Shape 18"/>
          <p:cNvSpPr/>
          <p:nvPr/>
        </p:nvSpPr>
        <p:spPr>
          <a:xfrm>
            <a:off x="8997696" y="2011680"/>
            <a:ext cx="2560320" cy="1645920"/>
          </a:xfrm>
          <a:prstGeom prst="roundRect">
            <a:avLst>
              <a:gd name="adj" fmla="val 3333"/>
            </a:avLst>
          </a:prstGeom>
          <a:solidFill>
            <a:srgbClr val="F4F6FB"/>
          </a:solidFill>
          <a:ln w="12700">
            <a:solidFill>
              <a:srgbClr val="CADCFC"/>
            </a:solidFill>
            <a:prstDash val="solid"/>
          </a:ln>
        </p:spPr>
      </p:sp>
      <p:sp>
        <p:nvSpPr>
          <p:cNvPr id="22" name="Text 19"/>
          <p:cNvSpPr txBox="1"/>
          <p:nvPr/>
        </p:nvSpPr>
        <p:spPr>
          <a:xfrm>
            <a:off x="9162288" y="2121408"/>
            <a:ext cx="2231136" cy="292608"/>
          </a:xfrm>
          <a:prstGeom prst="rect">
            <a:avLst/>
          </a:prstGeom>
          <a:noFill/>
          <a:ln/>
        </p:spPr>
        <p:txBody>
          <a:bodyPr wrap="square" lIns="0" tIns="0" rIns="0" bIns="0" rtlCol="0" anchor="t"/>
          <a:lstStyle/>
          <a:p>
            <a:pPr indent="0" marL="0">
              <a:buNone/>
            </a:pPr>
            <a:r>
              <a:rPr lang="en-US" sz="1350" b="1" dirty="0">
                <a:solidFill>
                  <a:srgbClr val="1E2761"/>
                </a:solidFill>
                <a:latin typeface="Cambria" pitchFamily="34" charset="0"/>
                <a:ea typeface="Cambria" pitchFamily="34" charset="-122"/>
                <a:cs typeface="Cambria" pitchFamily="34" charset="-120"/>
              </a:rPr>
              <a:t>Iste’molchi</a:t>
            </a:r>
            <a:endParaRPr lang="en-US" sz="1350" dirty="0"/>
          </a:p>
        </p:txBody>
      </p:sp>
      <p:sp>
        <p:nvSpPr>
          <p:cNvPr id="23" name="Text 20"/>
          <p:cNvSpPr txBox="1"/>
          <p:nvPr/>
        </p:nvSpPr>
        <p:spPr>
          <a:xfrm>
            <a:off x="9162288" y="2468880"/>
            <a:ext cx="2231136" cy="1097280"/>
          </a:xfrm>
          <a:prstGeom prst="rect">
            <a:avLst/>
          </a:prstGeom>
          <a:noFill/>
          <a:ln/>
        </p:spPr>
        <p:txBody>
          <a:bodyPr wrap="square" lIns="0" tIns="0" rIns="0" bIns="0" rtlCol="0" anchor="t">
            <a:normAutofit/>
          </a:bodyPr>
          <a:lstStyle/>
          <a:p>
            <a:pPr indent="0" marL="0">
              <a:buNone/>
            </a:pPr>
            <a:r>
              <a:rPr lang="en-US" sz="1200" dirty="0">
                <a:solidFill>
                  <a:srgbClr val="1F2633"/>
                </a:solidFill>
                <a:latin typeface="Calibri" pitchFamily="34" charset="0"/>
                <a:ea typeface="Calibri" pitchFamily="34" charset="-122"/>
                <a:cs typeface="Calibri" pitchFamily="34" charset="-120"/>
              </a:rPr>
              <a:t>Namangan viloyatidagi qurilish materiallari korxonalari: </a:t>
            </a:r>
            <a:pPr indent="0" marL="0">
              <a:buNone/>
            </a:pPr>
            <a:r>
              <a:rPr lang="en-US" sz="1200" b="1" dirty="0">
                <a:solidFill>
                  <a:srgbClr val="8A5A00"/>
                </a:solidFill>
                <a:highlight>
                  <a:srgbClr val="FFF1C2"/>
                </a:highlight>
                <a:latin typeface="Calibri" pitchFamily="34" charset="0"/>
                <a:ea typeface="Calibri" pitchFamily="34" charset="-122"/>
                <a:cs typeface="Calibri" pitchFamily="34" charset="-120"/>
              </a:rPr>
              <a:t>[korxona nomlari]</a:t>
            </a:r>
            <a:endParaRPr lang="en-US" sz="1200" dirty="0"/>
          </a:p>
        </p:txBody>
      </p:sp>
      <p:sp>
        <p:nvSpPr>
          <p:cNvPr id="24" name="Shape 21"/>
          <p:cNvSpPr/>
          <p:nvPr/>
        </p:nvSpPr>
        <p:spPr>
          <a:xfrm>
            <a:off x="548640" y="3840480"/>
            <a:ext cx="11109960" cy="585216"/>
          </a:xfrm>
          <a:prstGeom prst="roundRect">
            <a:avLst>
              <a:gd name="adj" fmla="val 9375"/>
            </a:avLst>
          </a:prstGeom>
          <a:solidFill>
            <a:srgbClr val="F4F6FB"/>
          </a:solidFill>
          <a:ln w="12700">
            <a:solidFill>
              <a:srgbClr val="CADCFC"/>
            </a:solidFill>
            <a:prstDash val="solid"/>
          </a:ln>
        </p:spPr>
      </p:sp>
      <p:sp>
        <p:nvSpPr>
          <p:cNvPr id="25" name="Text 22"/>
          <p:cNvSpPr txBox="1"/>
          <p:nvPr/>
        </p:nvSpPr>
        <p:spPr>
          <a:xfrm>
            <a:off x="731520" y="3840480"/>
            <a:ext cx="2651760" cy="585216"/>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Sanoat rejalari</a:t>
            </a:r>
            <a:endParaRPr lang="en-US" sz="1200" dirty="0"/>
          </a:p>
        </p:txBody>
      </p:sp>
      <p:sp>
        <p:nvSpPr>
          <p:cNvPr id="26" name="Text 23"/>
          <p:cNvSpPr txBox="1"/>
          <p:nvPr/>
        </p:nvSpPr>
        <p:spPr>
          <a:xfrm>
            <a:off x="3429000" y="3840480"/>
            <a:ext cx="8092440" cy="585216"/>
          </a:xfrm>
          <a:prstGeom prst="rect">
            <a:avLst/>
          </a:prstGeom>
          <a:noFill/>
          <a:ln/>
        </p:spPr>
        <p:txBody>
          <a:bodyPr wrap="square" lIns="0" tIns="0" rIns="0" bIns="0" rtlCol="0" anchor="ctr">
            <a:normAutofit/>
          </a:bodyPr>
          <a:lstStyle/>
          <a:p>
            <a:pPr indent="0" marL="0">
              <a:buNone/>
            </a:pPr>
            <a:r>
              <a:rPr lang="en-US" sz="1200" dirty="0">
                <a:solidFill>
                  <a:srgbClr val="1F2633"/>
                </a:solidFill>
                <a:latin typeface="Calibri" pitchFamily="34" charset="0"/>
                <a:ea typeface="Calibri" pitchFamily="34" charset="-122"/>
                <a:cs typeface="Calibri" pitchFamily="34" charset="-120"/>
              </a:rPr>
              <a:t>Farg‘ona NQIZda ta’mirlashdan so‘ng bitum ishlab chiqarish 60% ga, dizel 30% ga oshgan [5]. Buxoro va Farg‘ona zavodlarini modernizatsiya qilish rejalashtirilgan [6].</a:t>
            </a:r>
            <a:endParaRPr lang="en-US" sz="1200" dirty="0"/>
          </a:p>
        </p:txBody>
      </p:sp>
      <p:sp>
        <p:nvSpPr>
          <p:cNvPr id="27" name="Shape 24"/>
          <p:cNvSpPr/>
          <p:nvPr/>
        </p:nvSpPr>
        <p:spPr>
          <a:xfrm>
            <a:off x="548640" y="4498848"/>
            <a:ext cx="11109960" cy="585216"/>
          </a:xfrm>
          <a:prstGeom prst="roundRect">
            <a:avLst>
              <a:gd name="adj" fmla="val 9375"/>
            </a:avLst>
          </a:prstGeom>
          <a:solidFill>
            <a:srgbClr val="FFFBEF"/>
          </a:solidFill>
          <a:ln w="12700">
            <a:solidFill>
              <a:srgbClr val="E8CE8A"/>
            </a:solidFill>
            <a:prstDash val="solid"/>
          </a:ln>
        </p:spPr>
      </p:sp>
      <p:sp>
        <p:nvSpPr>
          <p:cNvPr id="28" name="Text 25"/>
          <p:cNvSpPr txBox="1"/>
          <p:nvPr/>
        </p:nvSpPr>
        <p:spPr>
          <a:xfrm>
            <a:off x="731520" y="4498848"/>
            <a:ext cx="2651760" cy="585216"/>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Korxona bilan hamkorlik</a:t>
            </a:r>
            <a:endParaRPr lang="en-US" sz="1200" dirty="0"/>
          </a:p>
        </p:txBody>
      </p:sp>
      <p:sp>
        <p:nvSpPr>
          <p:cNvPr id="29" name="Text 26"/>
          <p:cNvSpPr txBox="1"/>
          <p:nvPr/>
        </p:nvSpPr>
        <p:spPr>
          <a:xfrm>
            <a:off x="3429000" y="4498848"/>
            <a:ext cx="8092440" cy="585216"/>
          </a:xfrm>
          <a:prstGeom prst="rect">
            <a:avLst/>
          </a:prstGeom>
          <a:noFill/>
          <a:ln/>
        </p:spPr>
        <p:txBody>
          <a:bodyPr wrap="square" lIns="0" tIns="0" rIns="0" bIns="0" rtlCol="0" anchor="ctr">
            <a:normAutofit/>
          </a:bodyPr>
          <a:lstStyle/>
          <a:p>
            <a:pPr indent="0" marL="0">
              <a:buNone/>
            </a:pPr>
            <a:r>
              <a:rPr lang="en-US" sz="1200" b="1" dirty="0">
                <a:solidFill>
                  <a:srgbClr val="8A5A00"/>
                </a:solidFill>
                <a:highlight>
                  <a:srgbClr val="FFF1C2"/>
                </a:highlight>
                <a:latin typeface="Calibri" pitchFamily="34" charset="0"/>
                <a:ea typeface="Calibri" pitchFamily="34" charset="-122"/>
                <a:cs typeface="Calibri" pitchFamily="34" charset="-120"/>
              </a:rPr>
              <a:t>[Mavjud bo‘lsa: yozishma, so‘rovnoma yoki hamkorlik shartnomasi — korxona nomi va sanasi]</a:t>
            </a:r>
            <a:endParaRPr lang="en-US" sz="1200" dirty="0"/>
          </a:p>
        </p:txBody>
      </p:sp>
      <p:sp>
        <p:nvSpPr>
          <p:cNvPr id="30" name="Shape 27"/>
          <p:cNvSpPr/>
          <p:nvPr/>
        </p:nvSpPr>
        <p:spPr>
          <a:xfrm>
            <a:off x="548640" y="5157216"/>
            <a:ext cx="11109960" cy="585216"/>
          </a:xfrm>
          <a:prstGeom prst="roundRect">
            <a:avLst>
              <a:gd name="adj" fmla="val 9375"/>
            </a:avLst>
          </a:prstGeom>
          <a:solidFill>
            <a:srgbClr val="F4F6FB"/>
          </a:solidFill>
          <a:ln w="12700">
            <a:solidFill>
              <a:srgbClr val="CADCFC"/>
            </a:solidFill>
            <a:prstDash val="solid"/>
          </a:ln>
        </p:spPr>
      </p:sp>
      <p:sp>
        <p:nvSpPr>
          <p:cNvPr id="31" name="Text 28"/>
          <p:cNvSpPr txBox="1"/>
          <p:nvPr/>
        </p:nvSpPr>
        <p:spPr>
          <a:xfrm>
            <a:off x="731520" y="5157216"/>
            <a:ext cx="2651760" cy="585216"/>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Muammo hal etilmasa</a:t>
            </a:r>
            <a:endParaRPr lang="en-US" sz="1200" dirty="0"/>
          </a:p>
        </p:txBody>
      </p:sp>
      <p:sp>
        <p:nvSpPr>
          <p:cNvPr id="32" name="Text 29"/>
          <p:cNvSpPr txBox="1"/>
          <p:nvPr/>
        </p:nvSpPr>
        <p:spPr>
          <a:xfrm>
            <a:off x="3429000" y="5157216"/>
            <a:ext cx="8092440" cy="585216"/>
          </a:xfrm>
          <a:prstGeom prst="rect">
            <a:avLst/>
          </a:prstGeom>
          <a:noFill/>
          <a:ln/>
        </p:spPr>
        <p:txBody>
          <a:bodyPr wrap="square" lIns="0" tIns="0" rIns="0" bIns="0" rtlCol="0" anchor="ctr">
            <a:normAutofit/>
          </a:bodyPr>
          <a:lstStyle/>
          <a:p>
            <a:pPr indent="0" marL="0">
              <a:buNone/>
            </a:pPr>
            <a:r>
              <a:rPr lang="en-US" sz="1200" dirty="0">
                <a:solidFill>
                  <a:srgbClr val="1F2633"/>
                </a:solidFill>
                <a:latin typeface="Calibri" pitchFamily="34" charset="0"/>
                <a:ea typeface="Calibri" pitchFamily="34" charset="-122"/>
                <a:cs typeface="Calibri" pitchFamily="34" charset="-120"/>
              </a:rPr>
              <a:t>Chiqindini saqlash va utilizatsiya xarajatlari saqlanib qoladi; yer va suvning ifloslanish xavfi; qurilishda birlamchi tabiiy xomashyo sarfi kamaymaydi.</a:t>
            </a:r>
            <a:endParaRPr lang="en-US" sz="1200" dirty="0"/>
          </a:p>
        </p:txBody>
      </p:sp>
      <p:sp>
        <p:nvSpPr>
          <p:cNvPr id="33" name="Text 30"/>
          <p:cNvSpPr txBox="1"/>
          <p:nvPr/>
        </p:nvSpPr>
        <p:spPr>
          <a:xfrm>
            <a:off x="548640" y="5870448"/>
            <a:ext cx="11109960" cy="502920"/>
          </a:xfrm>
          <a:prstGeom prst="rect">
            <a:avLst/>
          </a:prstGeom>
          <a:noFill/>
          <a:ln/>
        </p:spPr>
        <p:txBody>
          <a:bodyPr wrap="square" lIns="0" tIns="0" rIns="0" bIns="0" rtlCol="0" anchor="b"/>
          <a:lstStyle/>
          <a:p>
            <a:pPr indent="0" marL="0">
              <a:lnSpc>
                <a:spcPct val="95000"/>
              </a:lnSpc>
              <a:buNone/>
            </a:pPr>
            <a:r>
              <a:rPr lang="en-US" sz="800" dirty="0">
                <a:solidFill>
                  <a:srgbClr val="58607C"/>
                </a:solidFill>
                <a:latin typeface="Calibri" pitchFamily="34" charset="0"/>
                <a:ea typeface="Calibri" pitchFamily="34" charset="-122"/>
                <a:cs typeface="Calibri" pitchFamily="34" charset="-120"/>
              </a:rPr>
              <a:t>[5] Spot.uz, 06.10.2026 — Farg‘ona NQIZ haqida</a:t>
            </a:r>
            <a:endParaRPr lang="en-US" sz="800" dirty="0"/>
          </a:p>
          <a:p>
            <a:pPr indent="0" marL="0">
              <a:lnSpc>
                <a:spcPct val="95000"/>
              </a:lnSpc>
              <a:buNone/>
            </a:pPr>
            <a:r>
              <a:rPr lang="en-US" sz="800" dirty="0">
                <a:solidFill>
                  <a:srgbClr val="58607C"/>
                </a:solidFill>
                <a:latin typeface="Calibri" pitchFamily="34" charset="0"/>
                <a:ea typeface="Calibri" pitchFamily="34" charset="-122"/>
                <a:cs typeface="Calibri" pitchFamily="34" charset="-120"/>
              </a:rPr>
              <a:t>[6] UzA — «Buxoro va Farg‘ona neftni qayta ishlash zavodlari modernizatsiya qilinadi»</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7772400" cy="228600"/>
          </a:xfrm>
          <a:prstGeom prst="rect">
            <a:avLst/>
          </a:prstGeom>
          <a:noFill/>
          <a:ln/>
        </p:spPr>
        <p:txBody>
          <a:bodyPr wrap="square" lIns="0" tIns="0" rIns="0" bIns="0" rtlCol="0" anchor="t"/>
          <a:lstStyle/>
          <a:p>
            <a:pPr indent="0" marL="0">
              <a:buNone/>
            </a:pPr>
            <a:r>
              <a:rPr lang="en-US" sz="1000" b="1" spc="150" kern="0" dirty="0">
                <a:solidFill>
                  <a:srgbClr val="C9A227"/>
                </a:solidFill>
                <a:latin typeface="Calibri" pitchFamily="34" charset="0"/>
                <a:ea typeface="Calibri" pitchFamily="34" charset="-122"/>
                <a:cs typeface="Calibri" pitchFamily="34" charset="-120"/>
              </a:rPr>
              <a:t>DASTURNING 9-BANDI · 4-XATBOSHI</a:t>
            </a:r>
            <a:endParaRPr lang="en-US" sz="1000" dirty="0"/>
          </a:p>
        </p:txBody>
      </p:sp>
      <p:sp>
        <p:nvSpPr>
          <p:cNvPr id="3" name="Text 1"/>
          <p:cNvSpPr txBox="1"/>
          <p:nvPr/>
        </p:nvSpPr>
        <p:spPr>
          <a:xfrm>
            <a:off x="548640" y="658368"/>
            <a:ext cx="8778240" cy="868680"/>
          </a:xfrm>
          <a:prstGeom prst="rect">
            <a:avLst/>
          </a:prstGeom>
          <a:noFill/>
          <a:ln/>
        </p:spPr>
        <p:txBody>
          <a:bodyPr wrap="square" lIns="0" tIns="0" rIns="0" bIns="0" rtlCol="0" anchor="ctr">
            <a:normAutofit/>
          </a:bodyPr>
          <a:lstStyle/>
          <a:p>
            <a:pPr indent="0" marL="0">
              <a:buNone/>
            </a:pPr>
            <a:r>
              <a:rPr lang="en-US" sz="2400" b="1" dirty="0">
                <a:solidFill>
                  <a:srgbClr val="1E2761"/>
                </a:solidFill>
                <a:latin typeface="Cambria" pitchFamily="34" charset="0"/>
                <a:ea typeface="Cambria" pitchFamily="34" charset="-122"/>
                <a:cs typeface="Cambria" pitchFamily="34" charset="-120"/>
              </a:rPr>
              <a:t>Tadqiqotning maqsadi va vazifalari</a:t>
            </a:r>
            <a:endParaRPr lang="en-US" sz="2400" dirty="0"/>
          </a:p>
        </p:txBody>
      </p:sp>
      <p:sp>
        <p:nvSpPr>
          <p:cNvPr id="4" name="mezon"/>
          <p:cNvSpPr/>
          <p:nvPr/>
        </p:nvSpPr>
        <p:spPr>
          <a:xfrm>
            <a:off x="9921240" y="457200"/>
            <a:ext cx="1737360" cy="566928"/>
          </a:xfrm>
          <a:prstGeom prst="roundRect">
            <a:avLst>
              <a:gd name="adj" fmla="val 9677"/>
            </a:avLst>
          </a:prstGeom>
          <a:solidFill>
            <a:srgbClr val="1E2761"/>
          </a:solidFill>
          <a:ln w="12700">
            <a:solidFill>
              <a:srgbClr val="1E2761"/>
            </a:solidFill>
            <a:prstDash val="solid"/>
          </a:ln>
        </p:spPr>
      </p:sp>
      <p:sp>
        <p:nvSpPr>
          <p:cNvPr id="5" name="Text 3"/>
          <p:cNvSpPr txBox="1"/>
          <p:nvPr/>
        </p:nvSpPr>
        <p:spPr>
          <a:xfrm>
            <a:off x="9921240" y="457200"/>
            <a:ext cx="1737360" cy="566928"/>
          </a:xfrm>
          <a:prstGeom prst="rect">
            <a:avLst/>
          </a:prstGeom>
          <a:noFill/>
          <a:ln/>
        </p:spPr>
        <p:txBody>
          <a:bodyPr wrap="square" lIns="0" tIns="0" rIns="0" bIns="0" rtlCol="0" anchor="ctr"/>
          <a:lstStyle/>
          <a:p>
            <a:pPr algn="ctr" indent="0" marL="0">
              <a:buNone/>
            </a:pPr>
            <a:r>
              <a:rPr lang="en-US" sz="1100" b="1" spc="100" kern="0" dirty="0">
                <a:solidFill>
                  <a:srgbClr val="C9A227"/>
                </a:solidFill>
                <a:latin typeface="Calibri" pitchFamily="34" charset="0"/>
                <a:ea typeface="Calibri" pitchFamily="34" charset="-122"/>
                <a:cs typeface="Calibri" pitchFamily="34" charset="-120"/>
              </a:rPr>
              <a:t>2-MEZON</a:t>
            </a:r>
            <a:endParaRPr lang="en-US" sz="1100" dirty="0"/>
          </a:p>
        </p:txBody>
      </p:sp>
      <p:sp>
        <p:nvSpPr>
          <p:cNvPr id="6" name="Text 4"/>
          <p:cNvSpPr txBox="1"/>
          <p:nvPr/>
        </p:nvSpPr>
        <p:spPr>
          <a:xfrm>
            <a:off x="10241280" y="6419088"/>
            <a:ext cx="1417320" cy="274320"/>
          </a:xfrm>
          <a:prstGeom prst="rect">
            <a:avLst/>
          </a:prstGeom>
          <a:noFill/>
          <a:ln/>
        </p:spPr>
        <p:txBody>
          <a:bodyPr wrap="square" lIns="0" tIns="0" rIns="0" bIns="0" rtlCol="0" anchor="t"/>
          <a:lstStyle/>
          <a:p>
            <a:pPr algn="r" indent="0" marL="0">
              <a:buNone/>
            </a:pPr>
            <a:r>
              <a:rPr lang="en-US" sz="900" dirty="0">
                <a:solidFill>
                  <a:srgbClr val="8A93AE"/>
                </a:solidFill>
                <a:latin typeface="Calibri" pitchFamily="34" charset="0"/>
                <a:ea typeface="Calibri" pitchFamily="34" charset="-122"/>
                <a:cs typeface="Calibri" pitchFamily="34" charset="-120"/>
              </a:rPr>
              <a:t>5 / 15</a:t>
            </a:r>
            <a:endParaRPr lang="en-US" sz="900" dirty="0"/>
          </a:p>
        </p:txBody>
      </p:sp>
      <p:sp>
        <p:nvSpPr>
          <p:cNvPr id="8" name="Shape 5"/>
          <p:cNvSpPr/>
          <p:nvPr/>
        </p:nvSpPr>
        <p:spPr>
          <a:xfrm>
            <a:off x="548640" y="1737360"/>
            <a:ext cx="11109960" cy="822960"/>
          </a:xfrm>
          <a:prstGeom prst="roundRect">
            <a:avLst>
              <a:gd name="adj" fmla="val 6667"/>
            </a:avLst>
          </a:prstGeom>
          <a:solidFill>
            <a:srgbClr val="1E2761"/>
          </a:solidFill>
          <a:ln w="12700">
            <a:solidFill>
              <a:srgbClr val="1E2761"/>
            </a:solidFill>
            <a:prstDash val="solid"/>
          </a:ln>
        </p:spPr>
      </p:sp>
      <p:sp>
        <p:nvSpPr>
          <p:cNvPr id="9" name="Text 6"/>
          <p:cNvSpPr txBox="1"/>
          <p:nvPr/>
        </p:nvSpPr>
        <p:spPr>
          <a:xfrm>
            <a:off x="822960" y="1828800"/>
            <a:ext cx="2743200" cy="228600"/>
          </a:xfrm>
          <a:prstGeom prst="rect">
            <a:avLst/>
          </a:prstGeom>
          <a:noFill/>
          <a:ln/>
        </p:spPr>
        <p:txBody>
          <a:bodyPr wrap="square" lIns="0" tIns="0" rIns="0" bIns="0" rtlCol="0" anchor="t"/>
          <a:lstStyle/>
          <a:p>
            <a:pPr indent="0" marL="0">
              <a:buNone/>
            </a:pPr>
            <a:r>
              <a:rPr lang="en-US" sz="950" b="1" spc="120" kern="0" dirty="0">
                <a:solidFill>
                  <a:srgbClr val="C9A227"/>
                </a:solidFill>
                <a:latin typeface="Calibri" pitchFamily="34" charset="0"/>
                <a:ea typeface="Calibri" pitchFamily="34" charset="-122"/>
                <a:cs typeface="Calibri" pitchFamily="34" charset="-120"/>
              </a:rPr>
              <a:t>MAQSAD</a:t>
            </a:r>
            <a:endParaRPr lang="en-US" sz="950" dirty="0"/>
          </a:p>
        </p:txBody>
      </p:sp>
      <p:sp>
        <p:nvSpPr>
          <p:cNvPr id="10" name="Text 7"/>
          <p:cNvSpPr txBox="1"/>
          <p:nvPr/>
        </p:nvSpPr>
        <p:spPr>
          <a:xfrm>
            <a:off x="822960" y="2057400"/>
            <a:ext cx="10607040" cy="457200"/>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mbria" pitchFamily="34" charset="0"/>
                <a:ea typeface="Cambria" pitchFamily="34" charset="-122"/>
                <a:cs typeface="Cambria" pitchFamily="34" charset="-120"/>
              </a:rPr>
              <a:t>Tanlangan neft va neft-kimyo chiqindilaridan qurilish kompozitlarini olish yondashuvini ishlab chiqish va ilmiy asoslash.</a:t>
            </a:r>
            <a:endParaRPr lang="en-US" sz="1500" dirty="0"/>
          </a:p>
        </p:txBody>
      </p:sp>
      <p:sp>
        <p:nvSpPr>
          <p:cNvPr id="11" name="Text 8"/>
          <p:cNvSpPr txBox="1"/>
          <p:nvPr/>
        </p:nvSpPr>
        <p:spPr>
          <a:xfrm>
            <a:off x="1280160" y="2697480"/>
            <a:ext cx="5486400" cy="228600"/>
          </a:xfrm>
          <a:prstGeom prst="rect">
            <a:avLst/>
          </a:prstGeom>
          <a:noFill/>
          <a:ln/>
        </p:spPr>
        <p:txBody>
          <a:bodyPr wrap="square" lIns="0" tIns="0" rIns="0" bIns="0" rtlCol="0" anchor="t"/>
          <a:lstStyle/>
          <a:p>
            <a:pPr indent="0" marL="0">
              <a:buNone/>
            </a:pPr>
            <a:r>
              <a:rPr lang="en-US" sz="950" b="1" spc="120" kern="0" dirty="0">
                <a:solidFill>
                  <a:srgbClr val="C9A227"/>
                </a:solidFill>
                <a:latin typeface="Calibri" pitchFamily="34" charset="0"/>
                <a:ea typeface="Calibri" pitchFamily="34" charset="-122"/>
                <a:cs typeface="Calibri" pitchFamily="34" charset="-120"/>
              </a:rPr>
              <a:t>VAZIFA</a:t>
            </a:r>
            <a:endParaRPr lang="en-US" sz="950" dirty="0"/>
          </a:p>
        </p:txBody>
      </p:sp>
      <p:sp>
        <p:nvSpPr>
          <p:cNvPr id="12" name="Text 9"/>
          <p:cNvSpPr txBox="1"/>
          <p:nvPr/>
        </p:nvSpPr>
        <p:spPr>
          <a:xfrm>
            <a:off x="8183880" y="2697480"/>
            <a:ext cx="3474720" cy="228600"/>
          </a:xfrm>
          <a:prstGeom prst="rect">
            <a:avLst/>
          </a:prstGeom>
          <a:noFill/>
          <a:ln/>
        </p:spPr>
        <p:txBody>
          <a:bodyPr wrap="square" lIns="0" tIns="0" rIns="0" bIns="0" rtlCol="0" anchor="t"/>
          <a:lstStyle/>
          <a:p>
            <a:pPr indent="0" marL="0">
              <a:buNone/>
            </a:pPr>
            <a:r>
              <a:rPr lang="en-US" sz="950" b="1" spc="120" kern="0" dirty="0">
                <a:solidFill>
                  <a:srgbClr val="C9A227"/>
                </a:solidFill>
                <a:latin typeface="Calibri" pitchFamily="34" charset="0"/>
                <a:ea typeface="Calibri" pitchFamily="34" charset="-122"/>
                <a:cs typeface="Calibri" pitchFamily="34" charset="-120"/>
              </a:rPr>
              <a:t>KUTILAYOTGAN NATIJA</a:t>
            </a:r>
            <a:endParaRPr lang="en-US" sz="950" dirty="0"/>
          </a:p>
        </p:txBody>
      </p:sp>
      <p:sp>
        <p:nvSpPr>
          <p:cNvPr id="13" name="Shape 10"/>
          <p:cNvSpPr/>
          <p:nvPr/>
        </p:nvSpPr>
        <p:spPr>
          <a:xfrm>
            <a:off x="548640" y="2999232"/>
            <a:ext cx="11109960" cy="475488"/>
          </a:xfrm>
          <a:prstGeom prst="roundRect">
            <a:avLst>
              <a:gd name="adj" fmla="val 11538"/>
            </a:avLst>
          </a:prstGeom>
          <a:solidFill>
            <a:srgbClr val="F4F6FB"/>
          </a:solidFill>
          <a:ln w="12700">
            <a:solidFill>
              <a:srgbClr val="CADCFC"/>
            </a:solidFill>
            <a:prstDash val="solid"/>
          </a:ln>
        </p:spPr>
      </p:sp>
      <p:sp>
        <p:nvSpPr>
          <p:cNvPr id="14" name="Shape 11"/>
          <p:cNvSpPr/>
          <p:nvPr/>
        </p:nvSpPr>
        <p:spPr>
          <a:xfrm>
            <a:off x="685800" y="3063240"/>
            <a:ext cx="347472" cy="347472"/>
          </a:xfrm>
          <a:prstGeom prst="ellipse">
            <a:avLst/>
          </a:prstGeom>
          <a:solidFill>
            <a:srgbClr val="1E2761"/>
          </a:solidFill>
          <a:ln w="12700">
            <a:solidFill>
              <a:srgbClr val="1E2761"/>
            </a:solidFill>
            <a:prstDash val="solid"/>
          </a:ln>
        </p:spPr>
      </p:sp>
      <p:sp>
        <p:nvSpPr>
          <p:cNvPr id="15" name="Text 12"/>
          <p:cNvSpPr txBox="1"/>
          <p:nvPr/>
        </p:nvSpPr>
        <p:spPr>
          <a:xfrm>
            <a:off x="685800" y="3063240"/>
            <a:ext cx="347472" cy="347472"/>
          </a:xfrm>
          <a:prstGeom prst="rect">
            <a:avLst/>
          </a:prstGeom>
          <a:noFill/>
          <a:ln/>
        </p:spPr>
        <p:txBody>
          <a:bodyPr wrap="square" lIns="0" tIns="0" rIns="0" bIns="0" rtlCol="0" anchor="ctr"/>
          <a:lstStyle/>
          <a:p>
            <a:pPr algn="ctr" indent="0" marL="0">
              <a:buNone/>
            </a:pPr>
            <a:r>
              <a:rPr lang="en-US" sz="1200" b="1" dirty="0">
                <a:solidFill>
                  <a:srgbClr val="C9A227"/>
                </a:solidFill>
                <a:latin typeface="Calibri" pitchFamily="34" charset="0"/>
                <a:ea typeface="Calibri" pitchFamily="34" charset="-122"/>
                <a:cs typeface="Calibri" pitchFamily="34" charset="-120"/>
              </a:rPr>
              <a:t>1</a:t>
            </a:r>
            <a:endParaRPr lang="en-US" sz="1200" dirty="0"/>
          </a:p>
        </p:txBody>
      </p:sp>
      <p:sp>
        <p:nvSpPr>
          <p:cNvPr id="16" name="Text 13"/>
          <p:cNvSpPr txBox="1"/>
          <p:nvPr/>
        </p:nvSpPr>
        <p:spPr>
          <a:xfrm>
            <a:off x="1280160" y="2999232"/>
            <a:ext cx="6583680" cy="475488"/>
          </a:xfrm>
          <a:prstGeom prst="rect">
            <a:avLst/>
          </a:prstGeom>
          <a:noFill/>
          <a:ln/>
        </p:spPr>
        <p:txBody>
          <a:bodyPr wrap="square" lIns="0" tIns="0" rIns="0" bIns="0" rtlCol="0" anchor="ctr">
            <a:normAutofit/>
          </a:bodyPr>
          <a:lstStyle/>
          <a:p>
            <a:pPr indent="0" marL="0">
              <a:buNone/>
            </a:pPr>
            <a:r>
              <a:rPr lang="en-US" sz="1300" dirty="0">
                <a:solidFill>
                  <a:srgbClr val="1F2633"/>
                </a:solidFill>
                <a:latin typeface="Calibri" pitchFamily="34" charset="0"/>
                <a:ea typeface="Calibri" pitchFamily="34" charset="-122"/>
                <a:cs typeface="Calibri" pitchFamily="34" charset="-120"/>
              </a:rPr>
              <a:t>Manbalarni tahlil qilish va istiqbolli chiqindi turlarini tanlash</a:t>
            </a:r>
            <a:endParaRPr lang="en-US" sz="1300" dirty="0"/>
          </a:p>
        </p:txBody>
      </p:sp>
      <p:sp>
        <p:nvSpPr>
          <p:cNvPr id="17" name="Text 14"/>
          <p:cNvSpPr txBox="1"/>
          <p:nvPr/>
        </p:nvSpPr>
        <p:spPr>
          <a:xfrm>
            <a:off x="7863840" y="2999232"/>
            <a:ext cx="274320" cy="475488"/>
          </a:xfrm>
          <a:prstGeom prst="rect">
            <a:avLst/>
          </a:prstGeom>
          <a:noFill/>
          <a:ln/>
        </p:spPr>
        <p:txBody>
          <a:bodyPr wrap="square" lIns="0" tIns="0" rIns="0" bIns="0"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a:t>
            </a:r>
            <a:endParaRPr lang="en-US" sz="1400" dirty="0"/>
          </a:p>
        </p:txBody>
      </p:sp>
      <p:sp>
        <p:nvSpPr>
          <p:cNvPr id="18" name="Text 15"/>
          <p:cNvSpPr txBox="1"/>
          <p:nvPr/>
        </p:nvSpPr>
        <p:spPr>
          <a:xfrm>
            <a:off x="8183880" y="2999232"/>
            <a:ext cx="3383280" cy="475488"/>
          </a:xfrm>
          <a:prstGeom prst="rect">
            <a:avLst/>
          </a:prstGeom>
          <a:noFill/>
          <a:ln/>
        </p:spPr>
        <p:txBody>
          <a:bodyPr wrap="square" lIns="0" tIns="0" rIns="0" bIns="0" rtlCol="0" anchor="ctr">
            <a:normAutofit/>
          </a:bodyPr>
          <a:lstStyle/>
          <a:p>
            <a:pPr indent="0" marL="0">
              <a:buNone/>
            </a:pPr>
            <a:r>
              <a:rPr lang="en-US" sz="1300" b="1" dirty="0">
                <a:solidFill>
                  <a:srgbClr val="1E2761"/>
                </a:solidFill>
                <a:latin typeface="Calibri" pitchFamily="34" charset="0"/>
                <a:ea typeface="Calibri" pitchFamily="34" charset="-122"/>
                <a:cs typeface="Calibri" pitchFamily="34" charset="-120"/>
              </a:rPr>
              <a:t>Manbalar xaritasi, nomzodlar reytingi</a:t>
            </a:r>
            <a:endParaRPr lang="en-US" sz="1300" dirty="0"/>
          </a:p>
        </p:txBody>
      </p:sp>
      <p:sp>
        <p:nvSpPr>
          <p:cNvPr id="19" name="Shape 16"/>
          <p:cNvSpPr/>
          <p:nvPr/>
        </p:nvSpPr>
        <p:spPr>
          <a:xfrm>
            <a:off x="548640" y="3547872"/>
            <a:ext cx="11109960" cy="475488"/>
          </a:xfrm>
          <a:prstGeom prst="roundRect">
            <a:avLst>
              <a:gd name="adj" fmla="val 11538"/>
            </a:avLst>
          </a:prstGeom>
          <a:solidFill>
            <a:srgbClr val="FFFFFF"/>
          </a:solidFill>
          <a:ln w="12700">
            <a:solidFill>
              <a:srgbClr val="CADCFC"/>
            </a:solidFill>
            <a:prstDash val="solid"/>
          </a:ln>
        </p:spPr>
      </p:sp>
      <p:sp>
        <p:nvSpPr>
          <p:cNvPr id="20" name="Shape 17"/>
          <p:cNvSpPr/>
          <p:nvPr/>
        </p:nvSpPr>
        <p:spPr>
          <a:xfrm>
            <a:off x="685800" y="3611880"/>
            <a:ext cx="347472" cy="347472"/>
          </a:xfrm>
          <a:prstGeom prst="ellipse">
            <a:avLst/>
          </a:prstGeom>
          <a:solidFill>
            <a:srgbClr val="1E2761"/>
          </a:solidFill>
          <a:ln w="12700">
            <a:solidFill>
              <a:srgbClr val="1E2761"/>
            </a:solidFill>
            <a:prstDash val="solid"/>
          </a:ln>
        </p:spPr>
      </p:sp>
      <p:sp>
        <p:nvSpPr>
          <p:cNvPr id="21" name="Text 18"/>
          <p:cNvSpPr txBox="1"/>
          <p:nvPr/>
        </p:nvSpPr>
        <p:spPr>
          <a:xfrm>
            <a:off x="685800" y="3611880"/>
            <a:ext cx="347472" cy="347472"/>
          </a:xfrm>
          <a:prstGeom prst="rect">
            <a:avLst/>
          </a:prstGeom>
          <a:noFill/>
          <a:ln/>
        </p:spPr>
        <p:txBody>
          <a:bodyPr wrap="square" lIns="0" tIns="0" rIns="0" bIns="0" rtlCol="0" anchor="ctr"/>
          <a:lstStyle/>
          <a:p>
            <a:pPr algn="ctr" indent="0" marL="0">
              <a:buNone/>
            </a:pPr>
            <a:r>
              <a:rPr lang="en-US" sz="1200" b="1" dirty="0">
                <a:solidFill>
                  <a:srgbClr val="C9A227"/>
                </a:solidFill>
                <a:latin typeface="Calibri" pitchFamily="34" charset="0"/>
                <a:ea typeface="Calibri" pitchFamily="34" charset="-122"/>
                <a:cs typeface="Calibri" pitchFamily="34" charset="-120"/>
              </a:rPr>
              <a:t>2</a:t>
            </a:r>
            <a:endParaRPr lang="en-US" sz="1200" dirty="0"/>
          </a:p>
        </p:txBody>
      </p:sp>
      <p:sp>
        <p:nvSpPr>
          <p:cNvPr id="22" name="Text 19"/>
          <p:cNvSpPr txBox="1"/>
          <p:nvPr/>
        </p:nvSpPr>
        <p:spPr>
          <a:xfrm>
            <a:off x="1280160" y="3547872"/>
            <a:ext cx="6583680" cy="475488"/>
          </a:xfrm>
          <a:prstGeom prst="rect">
            <a:avLst/>
          </a:prstGeom>
          <a:noFill/>
          <a:ln/>
        </p:spPr>
        <p:txBody>
          <a:bodyPr wrap="square" lIns="0" tIns="0" rIns="0" bIns="0" rtlCol="0" anchor="ctr">
            <a:normAutofit/>
          </a:bodyPr>
          <a:lstStyle/>
          <a:p>
            <a:pPr indent="0" marL="0">
              <a:buNone/>
            </a:pPr>
            <a:r>
              <a:rPr lang="en-US" sz="1300" dirty="0">
                <a:solidFill>
                  <a:srgbClr val="1F2633"/>
                </a:solidFill>
                <a:latin typeface="Calibri" pitchFamily="34" charset="0"/>
                <a:ea typeface="Calibri" pitchFamily="34" charset="-122"/>
                <a:cs typeface="Calibri" pitchFamily="34" charset="-120"/>
              </a:rPr>
              <a:t>Chiqindilar tarkibi va xossalarini o‘rganish, tayyorlash usullarini belgilash</a:t>
            </a:r>
            <a:endParaRPr lang="en-US" sz="1300" dirty="0"/>
          </a:p>
        </p:txBody>
      </p:sp>
      <p:sp>
        <p:nvSpPr>
          <p:cNvPr id="23" name="Text 20"/>
          <p:cNvSpPr txBox="1"/>
          <p:nvPr/>
        </p:nvSpPr>
        <p:spPr>
          <a:xfrm>
            <a:off x="7863840" y="3547872"/>
            <a:ext cx="274320" cy="475488"/>
          </a:xfrm>
          <a:prstGeom prst="rect">
            <a:avLst/>
          </a:prstGeom>
          <a:noFill/>
          <a:ln/>
        </p:spPr>
        <p:txBody>
          <a:bodyPr wrap="square" lIns="0" tIns="0" rIns="0" bIns="0"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a:t>
            </a:r>
            <a:endParaRPr lang="en-US" sz="1400" dirty="0"/>
          </a:p>
        </p:txBody>
      </p:sp>
      <p:sp>
        <p:nvSpPr>
          <p:cNvPr id="24" name="Text 21"/>
          <p:cNvSpPr txBox="1"/>
          <p:nvPr/>
        </p:nvSpPr>
        <p:spPr>
          <a:xfrm>
            <a:off x="8183880" y="3547872"/>
            <a:ext cx="3383280" cy="475488"/>
          </a:xfrm>
          <a:prstGeom prst="rect">
            <a:avLst/>
          </a:prstGeom>
          <a:noFill/>
          <a:ln/>
        </p:spPr>
        <p:txBody>
          <a:bodyPr wrap="square" lIns="0" tIns="0" rIns="0" bIns="0" rtlCol="0" anchor="ctr">
            <a:normAutofit/>
          </a:bodyPr>
          <a:lstStyle/>
          <a:p>
            <a:pPr indent="0" marL="0">
              <a:buNone/>
            </a:pPr>
            <a:r>
              <a:rPr lang="en-US" sz="1300" b="1" dirty="0">
                <a:solidFill>
                  <a:srgbClr val="1E2761"/>
                </a:solidFill>
                <a:latin typeface="Calibri" pitchFamily="34" charset="0"/>
                <a:ea typeface="Calibri" pitchFamily="34" charset="-122"/>
                <a:cs typeface="Calibri" pitchFamily="34" charset="-120"/>
              </a:rPr>
              <a:t>Chiqindi pasportlari, tayyorlash usuli</a:t>
            </a:r>
            <a:endParaRPr lang="en-US" sz="1300" dirty="0"/>
          </a:p>
        </p:txBody>
      </p:sp>
      <p:sp>
        <p:nvSpPr>
          <p:cNvPr id="25" name="Shape 22"/>
          <p:cNvSpPr/>
          <p:nvPr/>
        </p:nvSpPr>
        <p:spPr>
          <a:xfrm>
            <a:off x="548640" y="4096512"/>
            <a:ext cx="11109960" cy="475488"/>
          </a:xfrm>
          <a:prstGeom prst="roundRect">
            <a:avLst>
              <a:gd name="adj" fmla="val 11538"/>
            </a:avLst>
          </a:prstGeom>
          <a:solidFill>
            <a:srgbClr val="F4F6FB"/>
          </a:solidFill>
          <a:ln w="12700">
            <a:solidFill>
              <a:srgbClr val="CADCFC"/>
            </a:solidFill>
            <a:prstDash val="solid"/>
          </a:ln>
        </p:spPr>
      </p:sp>
      <p:sp>
        <p:nvSpPr>
          <p:cNvPr id="26" name="Shape 23"/>
          <p:cNvSpPr/>
          <p:nvPr/>
        </p:nvSpPr>
        <p:spPr>
          <a:xfrm>
            <a:off x="685800" y="4160520"/>
            <a:ext cx="347472" cy="347472"/>
          </a:xfrm>
          <a:prstGeom prst="ellipse">
            <a:avLst/>
          </a:prstGeom>
          <a:solidFill>
            <a:srgbClr val="1E2761"/>
          </a:solidFill>
          <a:ln w="12700">
            <a:solidFill>
              <a:srgbClr val="1E2761"/>
            </a:solidFill>
            <a:prstDash val="solid"/>
          </a:ln>
        </p:spPr>
      </p:sp>
      <p:sp>
        <p:nvSpPr>
          <p:cNvPr id="27" name="Text 24"/>
          <p:cNvSpPr txBox="1"/>
          <p:nvPr/>
        </p:nvSpPr>
        <p:spPr>
          <a:xfrm>
            <a:off x="685800" y="4160520"/>
            <a:ext cx="347472" cy="347472"/>
          </a:xfrm>
          <a:prstGeom prst="rect">
            <a:avLst/>
          </a:prstGeom>
          <a:noFill/>
          <a:ln/>
        </p:spPr>
        <p:txBody>
          <a:bodyPr wrap="square" lIns="0" tIns="0" rIns="0" bIns="0" rtlCol="0" anchor="ctr"/>
          <a:lstStyle/>
          <a:p>
            <a:pPr algn="ctr" indent="0" marL="0">
              <a:buNone/>
            </a:pPr>
            <a:r>
              <a:rPr lang="en-US" sz="1200" b="1" dirty="0">
                <a:solidFill>
                  <a:srgbClr val="C9A227"/>
                </a:solidFill>
                <a:latin typeface="Calibri" pitchFamily="34" charset="0"/>
                <a:ea typeface="Calibri" pitchFamily="34" charset="-122"/>
                <a:cs typeface="Calibri" pitchFamily="34" charset="-120"/>
              </a:rPr>
              <a:t>3</a:t>
            </a:r>
            <a:endParaRPr lang="en-US" sz="1200" dirty="0"/>
          </a:p>
        </p:txBody>
      </p:sp>
      <p:sp>
        <p:nvSpPr>
          <p:cNvPr id="28" name="Text 25"/>
          <p:cNvSpPr txBox="1"/>
          <p:nvPr/>
        </p:nvSpPr>
        <p:spPr>
          <a:xfrm>
            <a:off x="1280160" y="4096512"/>
            <a:ext cx="6583680" cy="475488"/>
          </a:xfrm>
          <a:prstGeom prst="rect">
            <a:avLst/>
          </a:prstGeom>
          <a:noFill/>
          <a:ln/>
        </p:spPr>
        <p:txBody>
          <a:bodyPr wrap="square" lIns="0" tIns="0" rIns="0" bIns="0" rtlCol="0" anchor="ctr">
            <a:normAutofit/>
          </a:bodyPr>
          <a:lstStyle/>
          <a:p>
            <a:pPr indent="0" marL="0">
              <a:buNone/>
            </a:pPr>
            <a:r>
              <a:rPr lang="en-US" sz="1300" dirty="0">
                <a:solidFill>
                  <a:srgbClr val="1F2633"/>
                </a:solidFill>
                <a:latin typeface="Calibri" pitchFamily="34" charset="0"/>
                <a:ea typeface="Calibri" pitchFamily="34" charset="-122"/>
                <a:cs typeface="Calibri" pitchFamily="34" charset="-120"/>
              </a:rPr>
              <a:t>Chiqindilar asosida kompozit namunalarini tayyorlash</a:t>
            </a:r>
            <a:endParaRPr lang="en-US" sz="1300" dirty="0"/>
          </a:p>
        </p:txBody>
      </p:sp>
      <p:sp>
        <p:nvSpPr>
          <p:cNvPr id="29" name="Text 26"/>
          <p:cNvSpPr txBox="1"/>
          <p:nvPr/>
        </p:nvSpPr>
        <p:spPr>
          <a:xfrm>
            <a:off x="7863840" y="4096512"/>
            <a:ext cx="274320" cy="475488"/>
          </a:xfrm>
          <a:prstGeom prst="rect">
            <a:avLst/>
          </a:prstGeom>
          <a:noFill/>
          <a:ln/>
        </p:spPr>
        <p:txBody>
          <a:bodyPr wrap="square" lIns="0" tIns="0" rIns="0" bIns="0"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a:t>
            </a:r>
            <a:endParaRPr lang="en-US" sz="1400" dirty="0"/>
          </a:p>
        </p:txBody>
      </p:sp>
      <p:sp>
        <p:nvSpPr>
          <p:cNvPr id="30" name="Text 27"/>
          <p:cNvSpPr txBox="1"/>
          <p:nvPr/>
        </p:nvSpPr>
        <p:spPr>
          <a:xfrm>
            <a:off x="8183880" y="4096512"/>
            <a:ext cx="3383280" cy="475488"/>
          </a:xfrm>
          <a:prstGeom prst="rect">
            <a:avLst/>
          </a:prstGeom>
          <a:noFill/>
          <a:ln/>
        </p:spPr>
        <p:txBody>
          <a:bodyPr wrap="square" lIns="0" tIns="0" rIns="0" bIns="0" rtlCol="0" anchor="ctr">
            <a:normAutofit/>
          </a:bodyPr>
          <a:lstStyle/>
          <a:p>
            <a:pPr indent="0" marL="0">
              <a:buNone/>
            </a:pPr>
            <a:r>
              <a:rPr lang="en-US" sz="1300" b="1" dirty="0">
                <a:solidFill>
                  <a:srgbClr val="1E2761"/>
                </a:solidFill>
                <a:latin typeface="Calibri" pitchFamily="34" charset="0"/>
                <a:ea typeface="Calibri" pitchFamily="34" charset="-122"/>
                <a:cs typeface="Calibri" pitchFamily="34" charset="-120"/>
              </a:rPr>
              <a:t>Chiqindi ulushi o‘zgaruvchi tarkiblar seriyasi</a:t>
            </a:r>
            <a:endParaRPr lang="en-US" sz="1300" dirty="0"/>
          </a:p>
        </p:txBody>
      </p:sp>
      <p:sp>
        <p:nvSpPr>
          <p:cNvPr id="31" name="Shape 28"/>
          <p:cNvSpPr/>
          <p:nvPr/>
        </p:nvSpPr>
        <p:spPr>
          <a:xfrm>
            <a:off x="548640" y="4645152"/>
            <a:ext cx="11109960" cy="475488"/>
          </a:xfrm>
          <a:prstGeom prst="roundRect">
            <a:avLst>
              <a:gd name="adj" fmla="val 11538"/>
            </a:avLst>
          </a:prstGeom>
          <a:solidFill>
            <a:srgbClr val="FFFFFF"/>
          </a:solidFill>
          <a:ln w="12700">
            <a:solidFill>
              <a:srgbClr val="CADCFC"/>
            </a:solidFill>
            <a:prstDash val="solid"/>
          </a:ln>
        </p:spPr>
      </p:sp>
      <p:sp>
        <p:nvSpPr>
          <p:cNvPr id="32" name="Shape 29"/>
          <p:cNvSpPr/>
          <p:nvPr/>
        </p:nvSpPr>
        <p:spPr>
          <a:xfrm>
            <a:off x="685800" y="4709160"/>
            <a:ext cx="347472" cy="347472"/>
          </a:xfrm>
          <a:prstGeom prst="ellipse">
            <a:avLst/>
          </a:prstGeom>
          <a:solidFill>
            <a:srgbClr val="1E2761"/>
          </a:solidFill>
          <a:ln w="12700">
            <a:solidFill>
              <a:srgbClr val="1E2761"/>
            </a:solidFill>
            <a:prstDash val="solid"/>
          </a:ln>
        </p:spPr>
      </p:sp>
      <p:sp>
        <p:nvSpPr>
          <p:cNvPr id="33" name="Text 30"/>
          <p:cNvSpPr txBox="1"/>
          <p:nvPr/>
        </p:nvSpPr>
        <p:spPr>
          <a:xfrm>
            <a:off x="685800" y="4709160"/>
            <a:ext cx="347472" cy="347472"/>
          </a:xfrm>
          <a:prstGeom prst="rect">
            <a:avLst/>
          </a:prstGeom>
          <a:noFill/>
          <a:ln/>
        </p:spPr>
        <p:txBody>
          <a:bodyPr wrap="square" lIns="0" tIns="0" rIns="0" bIns="0" rtlCol="0" anchor="ctr"/>
          <a:lstStyle/>
          <a:p>
            <a:pPr algn="ctr" indent="0" marL="0">
              <a:buNone/>
            </a:pPr>
            <a:r>
              <a:rPr lang="en-US" sz="1200" b="1" dirty="0">
                <a:solidFill>
                  <a:srgbClr val="C9A227"/>
                </a:solidFill>
                <a:latin typeface="Calibri" pitchFamily="34" charset="0"/>
                <a:ea typeface="Calibri" pitchFamily="34" charset="-122"/>
                <a:cs typeface="Calibri" pitchFamily="34" charset="-120"/>
              </a:rPr>
              <a:t>4</a:t>
            </a:r>
            <a:endParaRPr lang="en-US" sz="1200" dirty="0"/>
          </a:p>
        </p:txBody>
      </p:sp>
      <p:sp>
        <p:nvSpPr>
          <p:cNvPr id="34" name="Text 31"/>
          <p:cNvSpPr txBox="1"/>
          <p:nvPr/>
        </p:nvSpPr>
        <p:spPr>
          <a:xfrm>
            <a:off x="1280160" y="4645152"/>
            <a:ext cx="6583680" cy="475488"/>
          </a:xfrm>
          <a:prstGeom prst="rect">
            <a:avLst/>
          </a:prstGeom>
          <a:noFill/>
          <a:ln/>
        </p:spPr>
        <p:txBody>
          <a:bodyPr wrap="square" lIns="0" tIns="0" rIns="0" bIns="0" rtlCol="0" anchor="ctr">
            <a:normAutofit/>
          </a:bodyPr>
          <a:lstStyle/>
          <a:p>
            <a:pPr indent="0" marL="0">
              <a:buNone/>
            </a:pPr>
            <a:r>
              <a:rPr lang="en-US" sz="1300" dirty="0">
                <a:solidFill>
                  <a:srgbClr val="1F2633"/>
                </a:solidFill>
                <a:latin typeface="Calibri" pitchFamily="34" charset="0"/>
                <a:ea typeface="Calibri" pitchFamily="34" charset="-122"/>
                <a:cs typeface="Calibri" pitchFamily="34" charset="-120"/>
              </a:rPr>
              <a:t>Namunalarni fizik-mexanik va ekologik ko‘rsatkichlar bo‘yicha sinash</a:t>
            </a:r>
            <a:endParaRPr lang="en-US" sz="1300" dirty="0"/>
          </a:p>
        </p:txBody>
      </p:sp>
      <p:sp>
        <p:nvSpPr>
          <p:cNvPr id="35" name="Text 32"/>
          <p:cNvSpPr txBox="1"/>
          <p:nvPr/>
        </p:nvSpPr>
        <p:spPr>
          <a:xfrm>
            <a:off x="7863840" y="4645152"/>
            <a:ext cx="274320" cy="475488"/>
          </a:xfrm>
          <a:prstGeom prst="rect">
            <a:avLst/>
          </a:prstGeom>
          <a:noFill/>
          <a:ln/>
        </p:spPr>
        <p:txBody>
          <a:bodyPr wrap="square" lIns="0" tIns="0" rIns="0" bIns="0"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a:t>
            </a:r>
            <a:endParaRPr lang="en-US" sz="1400" dirty="0"/>
          </a:p>
        </p:txBody>
      </p:sp>
      <p:sp>
        <p:nvSpPr>
          <p:cNvPr id="36" name="Text 33"/>
          <p:cNvSpPr txBox="1"/>
          <p:nvPr/>
        </p:nvSpPr>
        <p:spPr>
          <a:xfrm>
            <a:off x="8183880" y="4645152"/>
            <a:ext cx="3383280" cy="475488"/>
          </a:xfrm>
          <a:prstGeom prst="rect">
            <a:avLst/>
          </a:prstGeom>
          <a:noFill/>
          <a:ln/>
        </p:spPr>
        <p:txBody>
          <a:bodyPr wrap="square" lIns="0" tIns="0" rIns="0" bIns="0" rtlCol="0" anchor="ctr">
            <a:normAutofit/>
          </a:bodyPr>
          <a:lstStyle/>
          <a:p>
            <a:pPr indent="0" marL="0">
              <a:buNone/>
            </a:pPr>
            <a:r>
              <a:rPr lang="en-US" sz="1300" b="1" dirty="0">
                <a:solidFill>
                  <a:srgbClr val="1E2761"/>
                </a:solidFill>
                <a:latin typeface="Calibri" pitchFamily="34" charset="0"/>
                <a:ea typeface="Calibri" pitchFamily="34" charset="-122"/>
                <a:cs typeface="Calibri" pitchFamily="34" charset="-120"/>
              </a:rPr>
              <a:t>Sinov natijalari bazasi</a:t>
            </a:r>
            <a:endParaRPr lang="en-US" sz="1300" dirty="0"/>
          </a:p>
        </p:txBody>
      </p:sp>
      <p:sp>
        <p:nvSpPr>
          <p:cNvPr id="37" name="Shape 34"/>
          <p:cNvSpPr/>
          <p:nvPr/>
        </p:nvSpPr>
        <p:spPr>
          <a:xfrm>
            <a:off x="548640" y="5193792"/>
            <a:ext cx="11109960" cy="475488"/>
          </a:xfrm>
          <a:prstGeom prst="roundRect">
            <a:avLst>
              <a:gd name="adj" fmla="val 11538"/>
            </a:avLst>
          </a:prstGeom>
          <a:solidFill>
            <a:srgbClr val="F4F6FB"/>
          </a:solidFill>
          <a:ln w="12700">
            <a:solidFill>
              <a:srgbClr val="CADCFC"/>
            </a:solidFill>
            <a:prstDash val="solid"/>
          </a:ln>
        </p:spPr>
      </p:sp>
      <p:sp>
        <p:nvSpPr>
          <p:cNvPr id="38" name="Shape 35"/>
          <p:cNvSpPr/>
          <p:nvPr/>
        </p:nvSpPr>
        <p:spPr>
          <a:xfrm>
            <a:off x="685800" y="5257800"/>
            <a:ext cx="347472" cy="347472"/>
          </a:xfrm>
          <a:prstGeom prst="ellipse">
            <a:avLst/>
          </a:prstGeom>
          <a:solidFill>
            <a:srgbClr val="1E2761"/>
          </a:solidFill>
          <a:ln w="12700">
            <a:solidFill>
              <a:srgbClr val="1E2761"/>
            </a:solidFill>
            <a:prstDash val="solid"/>
          </a:ln>
        </p:spPr>
      </p:sp>
      <p:sp>
        <p:nvSpPr>
          <p:cNvPr id="39" name="Text 36"/>
          <p:cNvSpPr txBox="1"/>
          <p:nvPr/>
        </p:nvSpPr>
        <p:spPr>
          <a:xfrm>
            <a:off x="685800" y="5257800"/>
            <a:ext cx="347472" cy="347472"/>
          </a:xfrm>
          <a:prstGeom prst="rect">
            <a:avLst/>
          </a:prstGeom>
          <a:noFill/>
          <a:ln/>
        </p:spPr>
        <p:txBody>
          <a:bodyPr wrap="square" lIns="0" tIns="0" rIns="0" bIns="0" rtlCol="0" anchor="ctr"/>
          <a:lstStyle/>
          <a:p>
            <a:pPr algn="ctr" indent="0" marL="0">
              <a:buNone/>
            </a:pPr>
            <a:r>
              <a:rPr lang="en-US" sz="1200" b="1" dirty="0">
                <a:solidFill>
                  <a:srgbClr val="C9A227"/>
                </a:solidFill>
                <a:latin typeface="Calibri" pitchFamily="34" charset="0"/>
                <a:ea typeface="Calibri" pitchFamily="34" charset="-122"/>
                <a:cs typeface="Calibri" pitchFamily="34" charset="-120"/>
              </a:rPr>
              <a:t>5</a:t>
            </a:r>
            <a:endParaRPr lang="en-US" sz="1200" dirty="0"/>
          </a:p>
        </p:txBody>
      </p:sp>
      <p:sp>
        <p:nvSpPr>
          <p:cNvPr id="40" name="Text 37"/>
          <p:cNvSpPr txBox="1"/>
          <p:nvPr/>
        </p:nvSpPr>
        <p:spPr>
          <a:xfrm>
            <a:off x="1280160" y="5193792"/>
            <a:ext cx="6583680" cy="475488"/>
          </a:xfrm>
          <a:prstGeom prst="rect">
            <a:avLst/>
          </a:prstGeom>
          <a:noFill/>
          <a:ln/>
        </p:spPr>
        <p:txBody>
          <a:bodyPr wrap="square" lIns="0" tIns="0" rIns="0" bIns="0" rtlCol="0" anchor="ctr">
            <a:normAutofit/>
          </a:bodyPr>
          <a:lstStyle/>
          <a:p>
            <a:pPr indent="0" marL="0">
              <a:buNone/>
            </a:pPr>
            <a:r>
              <a:rPr lang="en-US" sz="1300" dirty="0">
                <a:solidFill>
                  <a:srgbClr val="1F2633"/>
                </a:solidFill>
                <a:latin typeface="Calibri" pitchFamily="34" charset="0"/>
                <a:ea typeface="Calibri" pitchFamily="34" charset="-122"/>
                <a:cs typeface="Calibri" pitchFamily="34" charset="-120"/>
              </a:rPr>
              <a:t>Tarkib va tayyorlash sharoitlarini optimallashtirish</a:t>
            </a:r>
            <a:endParaRPr lang="en-US" sz="1300" dirty="0"/>
          </a:p>
        </p:txBody>
      </p:sp>
      <p:sp>
        <p:nvSpPr>
          <p:cNvPr id="41" name="Text 38"/>
          <p:cNvSpPr txBox="1"/>
          <p:nvPr/>
        </p:nvSpPr>
        <p:spPr>
          <a:xfrm>
            <a:off x="7863840" y="5193792"/>
            <a:ext cx="274320" cy="475488"/>
          </a:xfrm>
          <a:prstGeom prst="rect">
            <a:avLst/>
          </a:prstGeom>
          <a:noFill/>
          <a:ln/>
        </p:spPr>
        <p:txBody>
          <a:bodyPr wrap="square" lIns="0" tIns="0" rIns="0" bIns="0"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a:t>
            </a:r>
            <a:endParaRPr lang="en-US" sz="1400" dirty="0"/>
          </a:p>
        </p:txBody>
      </p:sp>
      <p:sp>
        <p:nvSpPr>
          <p:cNvPr id="42" name="Text 39"/>
          <p:cNvSpPr txBox="1"/>
          <p:nvPr/>
        </p:nvSpPr>
        <p:spPr>
          <a:xfrm>
            <a:off x="8183880" y="5193792"/>
            <a:ext cx="3383280" cy="475488"/>
          </a:xfrm>
          <a:prstGeom prst="rect">
            <a:avLst/>
          </a:prstGeom>
          <a:noFill/>
          <a:ln/>
        </p:spPr>
        <p:txBody>
          <a:bodyPr wrap="square" lIns="0" tIns="0" rIns="0" bIns="0" rtlCol="0" anchor="ctr">
            <a:normAutofit/>
          </a:bodyPr>
          <a:lstStyle/>
          <a:p>
            <a:pPr indent="0" marL="0">
              <a:buNone/>
            </a:pPr>
            <a:r>
              <a:rPr lang="en-US" sz="1300" b="1" dirty="0">
                <a:solidFill>
                  <a:srgbClr val="1E2761"/>
                </a:solidFill>
                <a:latin typeface="Calibri" pitchFamily="34" charset="0"/>
                <a:ea typeface="Calibri" pitchFamily="34" charset="-122"/>
                <a:cs typeface="Calibri" pitchFamily="34" charset="-120"/>
              </a:rPr>
              <a:t>Matematik model, optimal diapazon</a:t>
            </a:r>
            <a:endParaRPr lang="en-US" sz="1300" dirty="0"/>
          </a:p>
        </p:txBody>
      </p:sp>
      <p:sp>
        <p:nvSpPr>
          <p:cNvPr id="43" name="Shape 40"/>
          <p:cNvSpPr/>
          <p:nvPr/>
        </p:nvSpPr>
        <p:spPr>
          <a:xfrm>
            <a:off x="548640" y="5742432"/>
            <a:ext cx="11109960" cy="475488"/>
          </a:xfrm>
          <a:prstGeom prst="roundRect">
            <a:avLst>
              <a:gd name="adj" fmla="val 11538"/>
            </a:avLst>
          </a:prstGeom>
          <a:solidFill>
            <a:srgbClr val="FFFFFF"/>
          </a:solidFill>
          <a:ln w="12700">
            <a:solidFill>
              <a:srgbClr val="CADCFC"/>
            </a:solidFill>
            <a:prstDash val="solid"/>
          </a:ln>
        </p:spPr>
      </p:sp>
      <p:sp>
        <p:nvSpPr>
          <p:cNvPr id="44" name="Shape 41"/>
          <p:cNvSpPr/>
          <p:nvPr/>
        </p:nvSpPr>
        <p:spPr>
          <a:xfrm>
            <a:off x="685800" y="5806440"/>
            <a:ext cx="347472" cy="347472"/>
          </a:xfrm>
          <a:prstGeom prst="ellipse">
            <a:avLst/>
          </a:prstGeom>
          <a:solidFill>
            <a:srgbClr val="1E2761"/>
          </a:solidFill>
          <a:ln w="12700">
            <a:solidFill>
              <a:srgbClr val="1E2761"/>
            </a:solidFill>
            <a:prstDash val="solid"/>
          </a:ln>
        </p:spPr>
      </p:sp>
      <p:sp>
        <p:nvSpPr>
          <p:cNvPr id="45" name="Text 42"/>
          <p:cNvSpPr txBox="1"/>
          <p:nvPr/>
        </p:nvSpPr>
        <p:spPr>
          <a:xfrm>
            <a:off x="685800" y="5806440"/>
            <a:ext cx="347472" cy="347472"/>
          </a:xfrm>
          <a:prstGeom prst="rect">
            <a:avLst/>
          </a:prstGeom>
          <a:noFill/>
          <a:ln/>
        </p:spPr>
        <p:txBody>
          <a:bodyPr wrap="square" lIns="0" tIns="0" rIns="0" bIns="0" rtlCol="0" anchor="ctr"/>
          <a:lstStyle/>
          <a:p>
            <a:pPr algn="ctr" indent="0" marL="0">
              <a:buNone/>
            </a:pPr>
            <a:r>
              <a:rPr lang="en-US" sz="1200" b="1" dirty="0">
                <a:solidFill>
                  <a:srgbClr val="C9A227"/>
                </a:solidFill>
                <a:latin typeface="Calibri" pitchFamily="34" charset="0"/>
                <a:ea typeface="Calibri" pitchFamily="34" charset="-122"/>
                <a:cs typeface="Calibri" pitchFamily="34" charset="-120"/>
              </a:rPr>
              <a:t>6</a:t>
            </a:r>
            <a:endParaRPr lang="en-US" sz="1200" dirty="0"/>
          </a:p>
        </p:txBody>
      </p:sp>
      <p:sp>
        <p:nvSpPr>
          <p:cNvPr id="46" name="Text 43"/>
          <p:cNvSpPr txBox="1"/>
          <p:nvPr/>
        </p:nvSpPr>
        <p:spPr>
          <a:xfrm>
            <a:off x="1280160" y="5742432"/>
            <a:ext cx="6583680" cy="475488"/>
          </a:xfrm>
          <a:prstGeom prst="rect">
            <a:avLst/>
          </a:prstGeom>
          <a:noFill/>
          <a:ln/>
        </p:spPr>
        <p:txBody>
          <a:bodyPr wrap="square" lIns="0" tIns="0" rIns="0" bIns="0" rtlCol="0" anchor="ctr">
            <a:normAutofit/>
          </a:bodyPr>
          <a:lstStyle/>
          <a:p>
            <a:pPr indent="0" marL="0">
              <a:buNone/>
            </a:pPr>
            <a:r>
              <a:rPr lang="en-US" sz="1300" dirty="0">
                <a:solidFill>
                  <a:srgbClr val="1F2633"/>
                </a:solidFill>
                <a:latin typeface="Calibri" pitchFamily="34" charset="0"/>
                <a:ea typeface="Calibri" pitchFamily="34" charset="-122"/>
                <a:cs typeface="Calibri" pitchFamily="34" charset="-120"/>
              </a:rPr>
              <a:t>Texnik, ekologik va iqtisodiy maqsadga muvofiqlikni baholash</a:t>
            </a:r>
            <a:endParaRPr lang="en-US" sz="1300" dirty="0"/>
          </a:p>
        </p:txBody>
      </p:sp>
      <p:sp>
        <p:nvSpPr>
          <p:cNvPr id="47" name="Text 44"/>
          <p:cNvSpPr txBox="1"/>
          <p:nvPr/>
        </p:nvSpPr>
        <p:spPr>
          <a:xfrm>
            <a:off x="7863840" y="5742432"/>
            <a:ext cx="274320" cy="475488"/>
          </a:xfrm>
          <a:prstGeom prst="rect">
            <a:avLst/>
          </a:prstGeom>
          <a:noFill/>
          <a:ln/>
        </p:spPr>
        <p:txBody>
          <a:bodyPr wrap="square" lIns="0" tIns="0" rIns="0" bIns="0"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a:t>
            </a:r>
            <a:endParaRPr lang="en-US" sz="1400" dirty="0"/>
          </a:p>
        </p:txBody>
      </p:sp>
      <p:sp>
        <p:nvSpPr>
          <p:cNvPr id="48" name="Text 45"/>
          <p:cNvSpPr txBox="1"/>
          <p:nvPr/>
        </p:nvSpPr>
        <p:spPr>
          <a:xfrm>
            <a:off x="8183880" y="5742432"/>
            <a:ext cx="3383280" cy="475488"/>
          </a:xfrm>
          <a:prstGeom prst="rect">
            <a:avLst/>
          </a:prstGeom>
          <a:noFill/>
          <a:ln/>
        </p:spPr>
        <p:txBody>
          <a:bodyPr wrap="square" lIns="0" tIns="0" rIns="0" bIns="0" rtlCol="0" anchor="ctr">
            <a:normAutofit/>
          </a:bodyPr>
          <a:lstStyle/>
          <a:p>
            <a:pPr indent="0" marL="0">
              <a:buNone/>
            </a:pPr>
            <a:r>
              <a:rPr lang="en-US" sz="1300" b="1" dirty="0">
                <a:solidFill>
                  <a:srgbClr val="1E2761"/>
                </a:solidFill>
                <a:latin typeface="Calibri" pitchFamily="34" charset="0"/>
                <a:ea typeface="Calibri" pitchFamily="34" charset="-122"/>
                <a:cs typeface="Calibri" pitchFamily="34" charset="-120"/>
              </a:rPr>
              <a:t>Texnik-iqtisodiy asoslash, tavsiyalar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7772400" cy="228600"/>
          </a:xfrm>
          <a:prstGeom prst="rect">
            <a:avLst/>
          </a:prstGeom>
          <a:noFill/>
          <a:ln/>
        </p:spPr>
        <p:txBody>
          <a:bodyPr wrap="square" lIns="0" tIns="0" rIns="0" bIns="0" rtlCol="0" anchor="t"/>
          <a:lstStyle/>
          <a:p>
            <a:pPr indent="0" marL="0">
              <a:buNone/>
            </a:pPr>
            <a:r>
              <a:rPr lang="en-US" sz="1000" b="1" spc="150" kern="0" dirty="0">
                <a:solidFill>
                  <a:srgbClr val="C9A227"/>
                </a:solidFill>
                <a:latin typeface="Calibri" pitchFamily="34" charset="0"/>
                <a:ea typeface="Calibri" pitchFamily="34" charset="-122"/>
                <a:cs typeface="Calibri" pitchFamily="34" charset="-120"/>
              </a:rPr>
              <a:t>DASTURNING 9-BANDI · 4-XATBOSHI</a:t>
            </a:r>
            <a:endParaRPr lang="en-US" sz="1000" dirty="0"/>
          </a:p>
        </p:txBody>
      </p:sp>
      <p:sp>
        <p:nvSpPr>
          <p:cNvPr id="3" name="Text 1"/>
          <p:cNvSpPr txBox="1"/>
          <p:nvPr/>
        </p:nvSpPr>
        <p:spPr>
          <a:xfrm>
            <a:off x="548640" y="658368"/>
            <a:ext cx="8778240" cy="868680"/>
          </a:xfrm>
          <a:prstGeom prst="rect">
            <a:avLst/>
          </a:prstGeom>
          <a:noFill/>
          <a:ln/>
        </p:spPr>
        <p:txBody>
          <a:bodyPr wrap="square" lIns="0" tIns="0" rIns="0" bIns="0" rtlCol="0" anchor="ctr">
            <a:normAutofit/>
          </a:bodyPr>
          <a:lstStyle/>
          <a:p>
            <a:pPr indent="0" marL="0">
              <a:buNone/>
            </a:pPr>
            <a:r>
              <a:rPr lang="en-US" sz="2400" b="1" dirty="0">
                <a:solidFill>
                  <a:srgbClr val="1E2761"/>
                </a:solidFill>
                <a:latin typeface="Cambria" pitchFamily="34" charset="0"/>
                <a:ea typeface="Cambria" pitchFamily="34" charset="-122"/>
                <a:cs typeface="Cambria" pitchFamily="34" charset="-120"/>
              </a:rPr>
              <a:t>Tadqiqot obyekti va predmeti</a:t>
            </a:r>
            <a:endParaRPr lang="en-US" sz="2400" dirty="0"/>
          </a:p>
        </p:txBody>
      </p:sp>
      <p:sp>
        <p:nvSpPr>
          <p:cNvPr id="4" name="mezon"/>
          <p:cNvSpPr/>
          <p:nvPr/>
        </p:nvSpPr>
        <p:spPr>
          <a:xfrm>
            <a:off x="9921240" y="457200"/>
            <a:ext cx="1737360" cy="566928"/>
          </a:xfrm>
          <a:prstGeom prst="roundRect">
            <a:avLst>
              <a:gd name="adj" fmla="val 9677"/>
            </a:avLst>
          </a:prstGeom>
          <a:solidFill>
            <a:srgbClr val="1E2761"/>
          </a:solidFill>
          <a:ln w="12700">
            <a:solidFill>
              <a:srgbClr val="1E2761"/>
            </a:solidFill>
            <a:prstDash val="solid"/>
          </a:ln>
        </p:spPr>
      </p:sp>
      <p:sp>
        <p:nvSpPr>
          <p:cNvPr id="5" name="Text 3"/>
          <p:cNvSpPr txBox="1"/>
          <p:nvPr/>
        </p:nvSpPr>
        <p:spPr>
          <a:xfrm>
            <a:off x="9921240" y="457200"/>
            <a:ext cx="1737360" cy="566928"/>
          </a:xfrm>
          <a:prstGeom prst="rect">
            <a:avLst/>
          </a:prstGeom>
          <a:noFill/>
          <a:ln/>
        </p:spPr>
        <p:txBody>
          <a:bodyPr wrap="square" lIns="0" tIns="0" rIns="0" bIns="0" rtlCol="0" anchor="ctr"/>
          <a:lstStyle/>
          <a:p>
            <a:pPr algn="ctr" indent="0" marL="0">
              <a:buNone/>
            </a:pPr>
            <a:r>
              <a:rPr lang="en-US" sz="1100" b="1" spc="100" kern="0" dirty="0">
                <a:solidFill>
                  <a:srgbClr val="C9A227"/>
                </a:solidFill>
                <a:latin typeface="Calibri" pitchFamily="34" charset="0"/>
                <a:ea typeface="Calibri" pitchFamily="34" charset="-122"/>
                <a:cs typeface="Calibri" pitchFamily="34" charset="-120"/>
              </a:rPr>
              <a:t>2-MEZON</a:t>
            </a:r>
            <a:endParaRPr lang="en-US" sz="1100" dirty="0"/>
          </a:p>
        </p:txBody>
      </p:sp>
      <p:sp>
        <p:nvSpPr>
          <p:cNvPr id="6" name="Text 4"/>
          <p:cNvSpPr txBox="1"/>
          <p:nvPr/>
        </p:nvSpPr>
        <p:spPr>
          <a:xfrm>
            <a:off x="10241280" y="6419088"/>
            <a:ext cx="1417320" cy="274320"/>
          </a:xfrm>
          <a:prstGeom prst="rect">
            <a:avLst/>
          </a:prstGeom>
          <a:noFill/>
          <a:ln/>
        </p:spPr>
        <p:txBody>
          <a:bodyPr wrap="square" lIns="0" tIns="0" rIns="0" bIns="0" rtlCol="0" anchor="t"/>
          <a:lstStyle/>
          <a:p>
            <a:pPr algn="r" indent="0" marL="0">
              <a:buNone/>
            </a:pPr>
            <a:r>
              <a:rPr lang="en-US" sz="900" dirty="0">
                <a:solidFill>
                  <a:srgbClr val="8A93AE"/>
                </a:solidFill>
                <a:latin typeface="Calibri" pitchFamily="34" charset="0"/>
                <a:ea typeface="Calibri" pitchFamily="34" charset="-122"/>
                <a:cs typeface="Calibri" pitchFamily="34" charset="-120"/>
              </a:rPr>
              <a:t>6 / 15</a:t>
            </a:r>
            <a:endParaRPr lang="en-US" sz="900" dirty="0"/>
          </a:p>
        </p:txBody>
      </p:sp>
      <p:sp>
        <p:nvSpPr>
          <p:cNvPr id="8" name="Shape 5"/>
          <p:cNvSpPr/>
          <p:nvPr/>
        </p:nvSpPr>
        <p:spPr>
          <a:xfrm>
            <a:off x="548640" y="1737360"/>
            <a:ext cx="3474720" cy="2514600"/>
          </a:xfrm>
          <a:prstGeom prst="roundRect">
            <a:avLst>
              <a:gd name="adj" fmla="val 2182"/>
            </a:avLst>
          </a:prstGeom>
          <a:solidFill>
            <a:srgbClr val="1E2761"/>
          </a:solidFill>
          <a:ln w="12700">
            <a:solidFill>
              <a:srgbClr val="1E2761"/>
            </a:solidFill>
            <a:prstDash val="solid"/>
          </a:ln>
        </p:spPr>
      </p:sp>
      <p:sp>
        <p:nvSpPr>
          <p:cNvPr id="9" name="Text 6"/>
          <p:cNvSpPr txBox="1"/>
          <p:nvPr/>
        </p:nvSpPr>
        <p:spPr>
          <a:xfrm>
            <a:off x="777240" y="1874520"/>
            <a:ext cx="3017520" cy="365760"/>
          </a:xfrm>
          <a:prstGeom prst="rect">
            <a:avLst/>
          </a:prstGeom>
          <a:noFill/>
          <a:ln/>
        </p:spPr>
        <p:txBody>
          <a:bodyPr wrap="square" lIns="0" tIns="0" rIns="0" bIns="0" rtlCol="0" anchor="t"/>
          <a:lstStyle/>
          <a:p>
            <a:pPr indent="0" marL="0">
              <a:buNone/>
            </a:pPr>
            <a:r>
              <a:rPr lang="en-US" sz="1500" b="1" dirty="0">
                <a:solidFill>
                  <a:srgbClr val="C9A227"/>
                </a:solidFill>
                <a:latin typeface="Cambria" pitchFamily="34" charset="0"/>
                <a:ea typeface="Cambria" pitchFamily="34" charset="-122"/>
                <a:cs typeface="Cambria" pitchFamily="34" charset="-120"/>
              </a:rPr>
              <a:t>Tadqiqot obyekti</a:t>
            </a:r>
            <a:endParaRPr lang="en-US" sz="1500" dirty="0"/>
          </a:p>
        </p:txBody>
      </p:sp>
      <p:sp>
        <p:nvSpPr>
          <p:cNvPr id="10" name="Text 7"/>
          <p:cNvSpPr txBox="1"/>
          <p:nvPr/>
        </p:nvSpPr>
        <p:spPr>
          <a:xfrm>
            <a:off x="777240" y="2286000"/>
            <a:ext cx="3017520" cy="1874520"/>
          </a:xfrm>
          <a:prstGeom prst="rect">
            <a:avLst/>
          </a:prstGeom>
          <a:noFill/>
          <a:ln/>
        </p:spPr>
        <p:txBody>
          <a:bodyPr wrap="square" lIns="0" tIns="0" rIns="0" bIns="0" rtlCol="0" anchor="t">
            <a:normAutofit/>
          </a:bodyPr>
          <a:lstStyle/>
          <a:p>
            <a:pPr indent="0" marL="0">
              <a:buNone/>
            </a:pPr>
            <a:r>
              <a:rPr lang="en-US" sz="1400" dirty="0">
                <a:solidFill>
                  <a:srgbClr val="FFFFFF"/>
                </a:solidFill>
                <a:latin typeface="Calibri" pitchFamily="34" charset="0"/>
                <a:ea typeface="Calibri" pitchFamily="34" charset="-122"/>
                <a:cs typeface="Calibri" pitchFamily="34" charset="-120"/>
              </a:rPr>
              <a:t>Tanlanadigan neft va neft-kimyo chiqindilari: neft shlami, ishlatilgan moy, polimer chiqindilari — ularni qurilish kompozitlariga jalb qilish jarayoni.</a:t>
            </a:r>
            <a:endParaRPr lang="en-US" sz="1400" dirty="0"/>
          </a:p>
        </p:txBody>
      </p:sp>
      <p:sp>
        <p:nvSpPr>
          <p:cNvPr id="11" name="Shape 8"/>
          <p:cNvSpPr/>
          <p:nvPr/>
        </p:nvSpPr>
        <p:spPr>
          <a:xfrm>
            <a:off x="4160520" y="1737360"/>
            <a:ext cx="3474720" cy="2514600"/>
          </a:xfrm>
          <a:prstGeom prst="roundRect">
            <a:avLst>
              <a:gd name="adj" fmla="val 2182"/>
            </a:avLst>
          </a:prstGeom>
          <a:solidFill>
            <a:srgbClr val="F4F6FB"/>
          </a:solidFill>
          <a:ln w="12700">
            <a:solidFill>
              <a:srgbClr val="CADCFC"/>
            </a:solidFill>
            <a:prstDash val="solid"/>
          </a:ln>
        </p:spPr>
      </p:sp>
      <p:sp>
        <p:nvSpPr>
          <p:cNvPr id="12" name="Text 9"/>
          <p:cNvSpPr txBox="1"/>
          <p:nvPr/>
        </p:nvSpPr>
        <p:spPr>
          <a:xfrm>
            <a:off x="4389120" y="1874520"/>
            <a:ext cx="3017520" cy="365760"/>
          </a:xfrm>
          <a:prstGeom prst="rect">
            <a:avLst/>
          </a:prstGeom>
          <a:noFill/>
          <a:ln/>
        </p:spPr>
        <p:txBody>
          <a:bodyPr wrap="square" lIns="0" tIns="0" rIns="0" bIns="0" rtlCol="0" anchor="t"/>
          <a:lstStyle/>
          <a:p>
            <a:pPr indent="0" marL="0">
              <a:buNone/>
            </a:pPr>
            <a:r>
              <a:rPr lang="en-US" sz="1500" b="1" dirty="0">
                <a:solidFill>
                  <a:srgbClr val="1E2761"/>
                </a:solidFill>
                <a:latin typeface="Cambria" pitchFamily="34" charset="0"/>
                <a:ea typeface="Cambria" pitchFamily="34" charset="-122"/>
                <a:cs typeface="Cambria" pitchFamily="34" charset="-120"/>
              </a:rPr>
              <a:t>Tadqiqot predmeti</a:t>
            </a:r>
            <a:endParaRPr lang="en-US" sz="1500" dirty="0"/>
          </a:p>
        </p:txBody>
      </p:sp>
      <p:sp>
        <p:nvSpPr>
          <p:cNvPr id="13" name="Text 10"/>
          <p:cNvSpPr txBox="1"/>
          <p:nvPr/>
        </p:nvSpPr>
        <p:spPr>
          <a:xfrm>
            <a:off x="4389120" y="2286000"/>
            <a:ext cx="3017520" cy="1874520"/>
          </a:xfrm>
          <a:prstGeom prst="rect">
            <a:avLst/>
          </a:prstGeom>
          <a:noFill/>
          <a:ln/>
        </p:spPr>
        <p:txBody>
          <a:bodyPr wrap="square" lIns="0" tIns="0" rIns="0" bIns="0" rtlCol="0" anchor="t">
            <a:normAutofit/>
          </a:bodyPr>
          <a:lstStyle/>
          <a:p>
            <a:pPr indent="0" marL="0">
              <a:buNone/>
            </a:pPr>
            <a:r>
              <a:rPr lang="en-US" sz="1400" dirty="0">
                <a:solidFill>
                  <a:srgbClr val="1F2633"/>
                </a:solidFill>
                <a:latin typeface="Calibri" pitchFamily="34" charset="0"/>
                <a:ea typeface="Calibri" pitchFamily="34" charset="-122"/>
                <a:cs typeface="Calibri" pitchFamily="34" charset="-120"/>
              </a:rPr>
              <a:t>Chiqindilarni tayyorlash va modifikatsiya qilish usullari bilan ular asosida olingan qurilish kompozitlarining xossalari o‘rtasidagi bog‘liqlik.</a:t>
            </a:r>
            <a:endParaRPr lang="en-US" sz="1400" dirty="0"/>
          </a:p>
        </p:txBody>
      </p:sp>
      <p:sp>
        <p:nvSpPr>
          <p:cNvPr id="14" name="Shape 11"/>
          <p:cNvSpPr/>
          <p:nvPr/>
        </p:nvSpPr>
        <p:spPr>
          <a:xfrm>
            <a:off x="548640" y="4434840"/>
            <a:ext cx="7086600" cy="1783080"/>
          </a:xfrm>
          <a:prstGeom prst="roundRect">
            <a:avLst>
              <a:gd name="adj" fmla="val 3077"/>
            </a:avLst>
          </a:prstGeom>
          <a:solidFill>
            <a:srgbClr val="FFFFFF"/>
          </a:solidFill>
          <a:ln w="12700">
            <a:solidFill>
              <a:srgbClr val="CADCFC"/>
            </a:solidFill>
            <a:prstDash val="solid"/>
          </a:ln>
        </p:spPr>
      </p:sp>
      <p:sp>
        <p:nvSpPr>
          <p:cNvPr id="15" name="Text 12"/>
          <p:cNvSpPr txBox="1"/>
          <p:nvPr/>
        </p:nvSpPr>
        <p:spPr>
          <a:xfrm>
            <a:off x="777240" y="4553712"/>
            <a:ext cx="2743200" cy="228600"/>
          </a:xfrm>
          <a:prstGeom prst="rect">
            <a:avLst/>
          </a:prstGeom>
          <a:noFill/>
          <a:ln/>
        </p:spPr>
        <p:txBody>
          <a:bodyPr wrap="square" lIns="0" tIns="0" rIns="0" bIns="0" rtlCol="0" anchor="t"/>
          <a:lstStyle/>
          <a:p>
            <a:pPr indent="0" marL="0">
              <a:buNone/>
            </a:pPr>
            <a:r>
              <a:rPr lang="en-US" sz="950" b="1" spc="120" kern="0" dirty="0">
                <a:solidFill>
                  <a:srgbClr val="C9A227"/>
                </a:solidFill>
                <a:latin typeface="Calibri" pitchFamily="34" charset="0"/>
                <a:ea typeface="Calibri" pitchFamily="34" charset="-122"/>
                <a:cs typeface="Calibri" pitchFamily="34" charset="-120"/>
              </a:rPr>
              <a:t>FARQI</a:t>
            </a:r>
            <a:endParaRPr lang="en-US" sz="950" dirty="0"/>
          </a:p>
        </p:txBody>
      </p:sp>
      <p:sp>
        <p:nvSpPr>
          <p:cNvPr id="16" name="Text 13"/>
          <p:cNvSpPr txBox="1"/>
          <p:nvPr/>
        </p:nvSpPr>
        <p:spPr>
          <a:xfrm>
            <a:off x="777240" y="4828032"/>
            <a:ext cx="6675120" cy="310896"/>
          </a:xfrm>
          <a:prstGeom prst="rect">
            <a:avLst/>
          </a:prstGeom>
          <a:noFill/>
          <a:ln/>
        </p:spPr>
        <p:txBody>
          <a:bodyPr wrap="square" lIns="0" tIns="0" rIns="0" bIns="0" rtlCol="0" anchor="ctr">
            <a:normAutofit/>
          </a:bodyPr>
          <a:lstStyle/>
          <a:p>
            <a:pPr indent="0" marL="0">
              <a:buNone/>
            </a:pPr>
            <a:r>
              <a:rPr lang="en-US" sz="1250" b="1" dirty="0">
                <a:solidFill>
                  <a:srgbClr val="1E2761"/>
                </a:solidFill>
                <a:latin typeface="Calibri" pitchFamily="34" charset="0"/>
                <a:ea typeface="Calibri" pitchFamily="34" charset="-122"/>
                <a:cs typeface="Calibri" pitchFamily="34" charset="-120"/>
              </a:rPr>
              <a:t>Obyekt: </a:t>
            </a:r>
            <a:pPr indent="0" marL="0">
              <a:buNone/>
            </a:pPr>
            <a:r>
              <a:rPr lang="en-US" sz="1250" dirty="0">
                <a:solidFill>
                  <a:srgbClr val="1F2633"/>
                </a:solidFill>
                <a:latin typeface="Calibri" pitchFamily="34" charset="0"/>
                <a:ea typeface="Calibri" pitchFamily="34" charset="-122"/>
                <a:cs typeface="Calibri" pitchFamily="34" charset="-120"/>
              </a:rPr>
              <a:t>nima o‘rganiladi — chiqindi va uni qo‘llash jarayoni</a:t>
            </a:r>
            <a:endParaRPr lang="en-US" sz="1250" dirty="0"/>
          </a:p>
        </p:txBody>
      </p:sp>
      <p:sp>
        <p:nvSpPr>
          <p:cNvPr id="17" name="Text 14"/>
          <p:cNvSpPr txBox="1"/>
          <p:nvPr/>
        </p:nvSpPr>
        <p:spPr>
          <a:xfrm>
            <a:off x="777240" y="5157216"/>
            <a:ext cx="6675120" cy="310896"/>
          </a:xfrm>
          <a:prstGeom prst="rect">
            <a:avLst/>
          </a:prstGeom>
          <a:noFill/>
          <a:ln/>
        </p:spPr>
        <p:txBody>
          <a:bodyPr wrap="square" lIns="0" tIns="0" rIns="0" bIns="0" rtlCol="0" anchor="ctr">
            <a:normAutofit/>
          </a:bodyPr>
          <a:lstStyle/>
          <a:p>
            <a:pPr indent="0" marL="0">
              <a:buNone/>
            </a:pPr>
            <a:r>
              <a:rPr lang="en-US" sz="1250" b="1" dirty="0">
                <a:solidFill>
                  <a:srgbClr val="1E2761"/>
                </a:solidFill>
                <a:latin typeface="Calibri" pitchFamily="34" charset="0"/>
                <a:ea typeface="Calibri" pitchFamily="34" charset="-122"/>
                <a:cs typeface="Calibri" pitchFamily="34" charset="-120"/>
              </a:rPr>
              <a:t>Predmet: </a:t>
            </a:r>
            <a:pPr indent="0" marL="0">
              <a:buNone/>
            </a:pPr>
            <a:r>
              <a:rPr lang="en-US" sz="1250" dirty="0">
                <a:solidFill>
                  <a:srgbClr val="1F2633"/>
                </a:solidFill>
                <a:latin typeface="Calibri" pitchFamily="34" charset="0"/>
                <a:ea typeface="Calibri" pitchFamily="34" charset="-122"/>
                <a:cs typeface="Calibri" pitchFamily="34" charset="-120"/>
              </a:rPr>
              <a:t>obyektning qaysi jihati — «tayyorlash usuli → xossa» bog‘liqligi</a:t>
            </a:r>
            <a:endParaRPr lang="en-US" sz="1250" dirty="0"/>
          </a:p>
        </p:txBody>
      </p:sp>
      <p:sp>
        <p:nvSpPr>
          <p:cNvPr id="18" name="Text 15"/>
          <p:cNvSpPr txBox="1"/>
          <p:nvPr/>
        </p:nvSpPr>
        <p:spPr>
          <a:xfrm>
            <a:off x="777240" y="5486400"/>
            <a:ext cx="6400800" cy="228600"/>
          </a:xfrm>
          <a:prstGeom prst="rect">
            <a:avLst/>
          </a:prstGeom>
          <a:noFill/>
          <a:ln/>
        </p:spPr>
        <p:txBody>
          <a:bodyPr wrap="square" lIns="0" tIns="0" rIns="0" bIns="0" rtlCol="0" anchor="t"/>
          <a:lstStyle/>
          <a:p>
            <a:pPr indent="0" marL="0">
              <a:buNone/>
            </a:pPr>
            <a:r>
              <a:rPr lang="en-US" sz="950" b="1" spc="120" kern="0" dirty="0">
                <a:solidFill>
                  <a:srgbClr val="C9A227"/>
                </a:solidFill>
                <a:latin typeface="Calibri" pitchFamily="34" charset="0"/>
                <a:ea typeface="Calibri" pitchFamily="34" charset="-122"/>
                <a:cs typeface="Calibri" pitchFamily="34" charset="-120"/>
              </a:rPr>
              <a:t>MAQSAD VA VAZIFALARGA MUVOFIQLIGI</a:t>
            </a:r>
            <a:endParaRPr lang="en-US" sz="950" dirty="0"/>
          </a:p>
        </p:txBody>
      </p:sp>
      <p:sp>
        <p:nvSpPr>
          <p:cNvPr id="19" name="Text 16"/>
          <p:cNvSpPr txBox="1"/>
          <p:nvPr/>
        </p:nvSpPr>
        <p:spPr>
          <a:xfrm>
            <a:off x="777240" y="5705856"/>
            <a:ext cx="6675120" cy="457200"/>
          </a:xfrm>
          <a:prstGeom prst="rect">
            <a:avLst/>
          </a:prstGeom>
          <a:noFill/>
          <a:ln/>
        </p:spPr>
        <p:txBody>
          <a:bodyPr wrap="square" lIns="0" tIns="0" rIns="0" bIns="0" rtlCol="0" anchor="t">
            <a:normAutofit/>
          </a:bodyPr>
          <a:lstStyle/>
          <a:p>
            <a:pPr indent="0" marL="0">
              <a:buNone/>
            </a:pPr>
            <a:r>
              <a:rPr lang="en-US" sz="1150" dirty="0">
                <a:solidFill>
                  <a:srgbClr val="58607C"/>
                </a:solidFill>
                <a:latin typeface="Calibri" pitchFamily="34" charset="0"/>
                <a:ea typeface="Calibri" pitchFamily="34" charset="-122"/>
                <a:cs typeface="Calibri" pitchFamily="34" charset="-120"/>
              </a:rPr>
              <a:t>Obyekt 1–2-vazifalarda (tanlash, tavsiflash), predmet 3–5-vazifalarda (kompozit olish, sinash, optimallashtirish) o‘rganiladi; 6-vazifa natijani baholaydi.</a:t>
            </a:r>
            <a:endParaRPr lang="en-US" sz="1150" dirty="0"/>
          </a:p>
        </p:txBody>
      </p:sp>
      <p:sp>
        <p:nvSpPr>
          <p:cNvPr id="20" name="Text 17"/>
          <p:cNvSpPr txBox="1"/>
          <p:nvPr/>
        </p:nvSpPr>
        <p:spPr>
          <a:xfrm>
            <a:off x="7863840" y="1737360"/>
            <a:ext cx="3840480" cy="228600"/>
          </a:xfrm>
          <a:prstGeom prst="rect">
            <a:avLst/>
          </a:prstGeom>
          <a:noFill/>
          <a:ln/>
        </p:spPr>
        <p:txBody>
          <a:bodyPr wrap="square" lIns="0" tIns="0" rIns="0" bIns="0" rtlCol="0" anchor="t"/>
          <a:lstStyle/>
          <a:p>
            <a:pPr indent="0" marL="0">
              <a:buNone/>
            </a:pPr>
            <a:r>
              <a:rPr lang="en-US" sz="950" b="1" spc="120" kern="0" dirty="0">
                <a:solidFill>
                  <a:srgbClr val="C9A227"/>
                </a:solidFill>
                <a:latin typeface="Calibri" pitchFamily="34" charset="0"/>
                <a:ea typeface="Calibri" pitchFamily="34" charset="-122"/>
                <a:cs typeface="Calibri" pitchFamily="34" charset="-120"/>
              </a:rPr>
              <a:t>NOMZOD CHIQINDILAR (DASTLABKI QIYOSLASH)</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863840" y="2029968"/>
          <a:ext cx="3794760" cy="914400"/>
        </p:xfrm>
        <a:graphic>
          <a:graphicData uri="http://schemas.openxmlformats.org/drawingml/2006/table">
            <a:tbl>
              <a:tblPr/>
              <a:tblGrid>
                <a:gridCol w="1143000"/>
                <a:gridCol w="1234440"/>
                <a:gridCol w="1417320"/>
              </a:tblGrid>
              <a:tr h="38404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Chiqindi</a:t>
                      </a:r>
                      <a:endParaRPr lang="en-US" sz="1000" dirty="0">
                        <a:latin typeface="Calibri" charset="0"/>
                        <a:ea typeface="Calibri" charset="0"/>
                        <a:cs typeface="Calibri" charset="0"/>
                      </a:endParaRPr>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Manba</a:t>
                      </a:r>
                      <a:endParaRPr lang="en-US" sz="1000" dirty="0">
                        <a:latin typeface="Calibri" charset="0"/>
                        <a:ea typeface="Calibri" charset="0"/>
                        <a:cs typeface="Calibri" charset="0"/>
                      </a:endParaRPr>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Baho</a:t>
                      </a:r>
                      <a:endParaRPr lang="en-US" sz="1000" dirty="0">
                        <a:latin typeface="Calibri" charset="0"/>
                        <a:ea typeface="Calibri" charset="0"/>
                        <a:cs typeface="Calibri" charset="0"/>
                      </a:endParaRPr>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r>
              <a:tr h="384048">
                <a:tc>
                  <a:txBody>
                    <a:bodyPr/>
                    <a:lstStyle/>
                    <a:p>
                      <a:pPr indent="0" marL="0">
                        <a:buNone/>
                      </a:pPr>
                      <a:r>
                        <a:rPr lang="en-US" sz="1050" b="1" dirty="0">
                          <a:solidFill>
                            <a:srgbClr val="1F2633"/>
                          </a:solidFill>
                          <a:latin typeface="Calibri" pitchFamily="34" charset="0"/>
                          <a:ea typeface="Calibri" pitchFamily="34" charset="-122"/>
                          <a:cs typeface="Calibri" pitchFamily="34" charset="-120"/>
                        </a:rPr>
                        <a:t>Neft shlami</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050" dirty="0">
                          <a:solidFill>
                            <a:srgbClr val="1F2633"/>
                          </a:solidFill>
                          <a:latin typeface="Calibri" pitchFamily="34" charset="0"/>
                          <a:ea typeface="Calibri" pitchFamily="34" charset="-122"/>
                          <a:cs typeface="Calibri" pitchFamily="34" charset="-120"/>
                        </a:rPr>
                        <a:t>Neftni qayta ishlash</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050" dirty="0">
                          <a:solidFill>
                            <a:srgbClr val="1F2633"/>
                          </a:solidFill>
                          <a:latin typeface="Calibri" pitchFamily="34" charset="0"/>
                          <a:ea typeface="Calibri" pitchFamily="34" charset="-122"/>
                          <a:cs typeface="Calibri" pitchFamily="34" charset="-120"/>
                        </a:rPr>
                        <a:t>Istiqbolli</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r>
              <a:tr h="384048">
                <a:tc>
                  <a:txBody>
                    <a:bodyPr/>
                    <a:lstStyle/>
                    <a:p>
                      <a:pPr indent="0" marL="0">
                        <a:buNone/>
                      </a:pPr>
                      <a:r>
                        <a:rPr lang="en-US" sz="1050" b="1" dirty="0">
                          <a:solidFill>
                            <a:srgbClr val="1F2633"/>
                          </a:solidFill>
                          <a:latin typeface="Calibri" pitchFamily="34" charset="0"/>
                          <a:ea typeface="Calibri" pitchFamily="34" charset="-122"/>
                          <a:cs typeface="Calibri" pitchFamily="34" charset="-120"/>
                        </a:rPr>
                        <a:t>Ishlatilgan moy</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050" dirty="0">
                          <a:solidFill>
                            <a:srgbClr val="1F2633"/>
                          </a:solidFill>
                          <a:latin typeface="Calibri" pitchFamily="34" charset="0"/>
                          <a:ea typeface="Calibri" pitchFamily="34" charset="-122"/>
                          <a:cs typeface="Calibri" pitchFamily="34" charset="-120"/>
                        </a:rPr>
                        <a:t>Texnik xizmat</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050" dirty="0">
                          <a:solidFill>
                            <a:srgbClr val="1F2633"/>
                          </a:solidFill>
                          <a:latin typeface="Calibri" pitchFamily="34" charset="0"/>
                          <a:ea typeface="Calibri" pitchFamily="34" charset="-122"/>
                          <a:cs typeface="Calibri" pitchFamily="34" charset="-120"/>
                        </a:rPr>
                        <a:t>Juda istiqbolli</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F2633"/>
                          </a:solidFill>
                          <a:latin typeface="Calibri" pitchFamily="34" charset="0"/>
                          <a:ea typeface="Calibri" pitchFamily="34" charset="-122"/>
                          <a:cs typeface="Calibri" pitchFamily="34" charset="-120"/>
                        </a:rPr>
                        <a:t>Polimer chiqindisi</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050" dirty="0">
                          <a:solidFill>
                            <a:srgbClr val="1F2633"/>
                          </a:solidFill>
                          <a:latin typeface="Calibri" pitchFamily="34" charset="0"/>
                          <a:ea typeface="Calibri" pitchFamily="34" charset="-122"/>
                          <a:cs typeface="Calibri" pitchFamily="34" charset="-120"/>
                        </a:rPr>
                        <a:t>Neft-kimyo</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050" dirty="0">
                          <a:solidFill>
                            <a:srgbClr val="1F2633"/>
                          </a:solidFill>
                          <a:latin typeface="Calibri" pitchFamily="34" charset="0"/>
                          <a:ea typeface="Calibri" pitchFamily="34" charset="-122"/>
                          <a:cs typeface="Calibri" pitchFamily="34" charset="-120"/>
                        </a:rPr>
                        <a:t>Istiqbolli</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r>
            </a:tbl>
          </a:graphicData>
        </a:graphic>
      </p:graphicFrame>
      <p:pic>
        <p:nvPicPr>
          <p:cNvPr id="22" name="Image 0" descr="/tmp/claude-0/-home-claude/1a0f1fcd-2772-57a1-9475-1557efb8a840/scratchpad/phd/img/b05.jpg">    </p:cNvPr>
          <p:cNvPicPr>
            <a:picLocks noChangeAspect="1"/>
          </p:cNvPicPr>
          <p:nvPr/>
        </p:nvPicPr>
        <p:blipFill>
          <a:blip r:embed="rId1"/>
          <a:srcRect l="0" r="0" t="0" b="0"/>
          <a:stretch/>
        </p:blipFill>
        <p:spPr>
          <a:xfrm>
            <a:off x="7863840" y="3840480"/>
            <a:ext cx="3794760" cy="23774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7772400" cy="228600"/>
          </a:xfrm>
          <a:prstGeom prst="rect">
            <a:avLst/>
          </a:prstGeom>
          <a:noFill/>
          <a:ln/>
        </p:spPr>
        <p:txBody>
          <a:bodyPr wrap="square" lIns="0" tIns="0" rIns="0" bIns="0" rtlCol="0" anchor="t"/>
          <a:lstStyle/>
          <a:p>
            <a:pPr indent="0" marL="0">
              <a:buNone/>
            </a:pPr>
            <a:r>
              <a:rPr lang="en-US" sz="1000" b="1" spc="150" kern="0" dirty="0">
                <a:solidFill>
                  <a:srgbClr val="C9A227"/>
                </a:solidFill>
                <a:latin typeface="Calibri" pitchFamily="34" charset="0"/>
                <a:ea typeface="Calibri" pitchFamily="34" charset="-122"/>
                <a:cs typeface="Calibri" pitchFamily="34" charset="-120"/>
              </a:rPr>
              <a:t>DASTURNING 9-BANDI · 5-XATBOSHI</a:t>
            </a:r>
            <a:endParaRPr lang="en-US" sz="1000" dirty="0"/>
          </a:p>
        </p:txBody>
      </p:sp>
      <p:sp>
        <p:nvSpPr>
          <p:cNvPr id="3" name="Text 1"/>
          <p:cNvSpPr txBox="1"/>
          <p:nvPr/>
        </p:nvSpPr>
        <p:spPr>
          <a:xfrm>
            <a:off x="548640" y="658368"/>
            <a:ext cx="8778240" cy="868680"/>
          </a:xfrm>
          <a:prstGeom prst="rect">
            <a:avLst/>
          </a:prstGeom>
          <a:noFill/>
          <a:ln/>
        </p:spPr>
        <p:txBody>
          <a:bodyPr wrap="square" lIns="0" tIns="0" rIns="0" bIns="0" rtlCol="0" anchor="ctr">
            <a:normAutofit/>
          </a:bodyPr>
          <a:lstStyle/>
          <a:p>
            <a:pPr indent="0" marL="0">
              <a:buNone/>
            </a:pPr>
            <a:r>
              <a:rPr lang="en-US" sz="2400" b="1" dirty="0">
                <a:solidFill>
                  <a:srgbClr val="1E2761"/>
                </a:solidFill>
                <a:latin typeface="Cambria" pitchFamily="34" charset="0"/>
                <a:ea typeface="Cambria" pitchFamily="34" charset="-122"/>
                <a:cs typeface="Cambria" pitchFamily="34" charset="-120"/>
              </a:rPr>
              <a:t>Mavzu bo‘yicha mahalliy va xorijiy adabiyotlar tahlili</a:t>
            </a:r>
            <a:endParaRPr lang="en-US" sz="2400" dirty="0"/>
          </a:p>
        </p:txBody>
      </p:sp>
      <p:sp>
        <p:nvSpPr>
          <p:cNvPr id="4" name="mezon"/>
          <p:cNvSpPr/>
          <p:nvPr/>
        </p:nvSpPr>
        <p:spPr>
          <a:xfrm>
            <a:off x="9921240" y="457200"/>
            <a:ext cx="1737360" cy="566928"/>
          </a:xfrm>
          <a:prstGeom prst="roundRect">
            <a:avLst>
              <a:gd name="adj" fmla="val 9677"/>
            </a:avLst>
          </a:prstGeom>
          <a:solidFill>
            <a:srgbClr val="1E2761"/>
          </a:solidFill>
          <a:ln w="12700">
            <a:solidFill>
              <a:srgbClr val="1E2761"/>
            </a:solidFill>
            <a:prstDash val="solid"/>
          </a:ln>
        </p:spPr>
      </p:sp>
      <p:sp>
        <p:nvSpPr>
          <p:cNvPr id="5" name="Text 3"/>
          <p:cNvSpPr txBox="1"/>
          <p:nvPr/>
        </p:nvSpPr>
        <p:spPr>
          <a:xfrm>
            <a:off x="9921240" y="457200"/>
            <a:ext cx="1737360" cy="566928"/>
          </a:xfrm>
          <a:prstGeom prst="rect">
            <a:avLst/>
          </a:prstGeom>
          <a:noFill/>
          <a:ln/>
        </p:spPr>
        <p:txBody>
          <a:bodyPr wrap="square" lIns="0" tIns="0" rIns="0" bIns="0" rtlCol="0" anchor="ctr"/>
          <a:lstStyle/>
          <a:p>
            <a:pPr algn="ctr" indent="0" marL="0">
              <a:buNone/>
            </a:pPr>
            <a:r>
              <a:rPr lang="en-US" sz="1100" b="1" spc="100" kern="0" dirty="0">
                <a:solidFill>
                  <a:srgbClr val="C9A227"/>
                </a:solidFill>
                <a:latin typeface="Calibri" pitchFamily="34" charset="0"/>
                <a:ea typeface="Calibri" pitchFamily="34" charset="-122"/>
                <a:cs typeface="Calibri" pitchFamily="34" charset="-120"/>
              </a:rPr>
              <a:t>2-MEZON</a:t>
            </a:r>
            <a:endParaRPr lang="en-US" sz="1100" dirty="0"/>
          </a:p>
        </p:txBody>
      </p:sp>
      <p:sp>
        <p:nvSpPr>
          <p:cNvPr id="6" name="Text 4"/>
          <p:cNvSpPr txBox="1"/>
          <p:nvPr/>
        </p:nvSpPr>
        <p:spPr>
          <a:xfrm>
            <a:off x="10241280" y="6419088"/>
            <a:ext cx="1417320" cy="274320"/>
          </a:xfrm>
          <a:prstGeom prst="rect">
            <a:avLst/>
          </a:prstGeom>
          <a:noFill/>
          <a:ln/>
        </p:spPr>
        <p:txBody>
          <a:bodyPr wrap="square" lIns="0" tIns="0" rIns="0" bIns="0" rtlCol="0" anchor="t"/>
          <a:lstStyle/>
          <a:p>
            <a:pPr algn="r" indent="0" marL="0">
              <a:buNone/>
            </a:pPr>
            <a:r>
              <a:rPr lang="en-US" sz="900" dirty="0">
                <a:solidFill>
                  <a:srgbClr val="8A93AE"/>
                </a:solidFill>
                <a:latin typeface="Calibri" pitchFamily="34" charset="0"/>
                <a:ea typeface="Calibri" pitchFamily="34" charset="-122"/>
                <a:cs typeface="Calibri" pitchFamily="34" charset="-120"/>
              </a:rPr>
              <a:t>7 / 15</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7498080" cy="914400"/>
        </p:xfrm>
        <a:graphic>
          <a:graphicData uri="http://schemas.openxmlformats.org/drawingml/2006/table">
            <a:tbl>
              <a:tblPr/>
              <a:tblGrid>
                <a:gridCol w="2057400"/>
                <a:gridCol w="5440680"/>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Manba</a:t>
                      </a:r>
                      <a:endParaRPr lang="en-US" sz="1100" dirty="0">
                        <a:latin typeface="Calibri" charset="0"/>
                        <a:ea typeface="Calibri" charset="0"/>
                        <a:cs typeface="Calibri" charset="0"/>
                      </a:endParaRPr>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Asosiy natija</a:t>
                      </a:r>
                      <a:endParaRPr lang="en-US" sz="1100" dirty="0">
                        <a:latin typeface="Calibri" charset="0"/>
                        <a:ea typeface="Calibri" charset="0"/>
                        <a:cs typeface="Calibri" charset="0"/>
                      </a:endParaRPr>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r>
              <a:tr h="749808">
                <a:tc>
                  <a:txBody>
                    <a:bodyPr/>
                    <a:lstStyle/>
                    <a:p>
                      <a:pPr indent="0" marL="0">
                        <a:buNone/>
                      </a:pPr>
                      <a:r>
                        <a:rPr lang="en-US" sz="1150" b="1" dirty="0">
                          <a:solidFill>
                            <a:srgbClr val="1F2633"/>
                          </a:solidFill>
                          <a:latin typeface="Calibri" pitchFamily="34" charset="0"/>
                          <a:ea typeface="Calibri" pitchFamily="34" charset="-122"/>
                          <a:cs typeface="Calibri" pitchFamily="34" charset="-120"/>
                        </a:rPr>
                        <a:t>Jagaba va b., 2022 [4]</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150" dirty="0">
                          <a:solidFill>
                            <a:srgbClr val="1F2633"/>
                          </a:solidFill>
                          <a:latin typeface="Calibri" pitchFamily="34" charset="0"/>
                          <a:ea typeface="Calibri" pitchFamily="34" charset="-122"/>
                          <a:cs typeface="Calibri" pitchFamily="34" charset="-120"/>
                        </a:rPr>
                        <a:t>Neft shlami kuli sementning &lt;20% ini almashtirishi mumkin; 10% li geopolimer qorishma 28 kunda 31 MPa; gil massaga 5% gacha qo‘shish texnik xossalarni buzmagan.</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r>
              <a:tr h="749808">
                <a:tc>
                  <a:txBody>
                    <a:bodyPr/>
                    <a:lstStyle/>
                    <a:p>
                      <a:pPr indent="0" marL="0">
                        <a:buNone/>
                      </a:pPr>
                      <a:r>
                        <a:rPr lang="en-US" sz="1150" b="1" dirty="0">
                          <a:solidFill>
                            <a:srgbClr val="1F2633"/>
                          </a:solidFill>
                          <a:latin typeface="Calibri" pitchFamily="34" charset="0"/>
                          <a:ea typeface="Calibri" pitchFamily="34" charset="-122"/>
                          <a:cs typeface="Calibri" pitchFamily="34" charset="-120"/>
                        </a:rPr>
                        <a:t>Kankia va b., 2021 [7]</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150" dirty="0">
                          <a:solidFill>
                            <a:srgbClr val="1F2633"/>
                          </a:solidFill>
                          <a:latin typeface="Calibri" pitchFamily="34" charset="0"/>
                          <a:ea typeface="Calibri" pitchFamily="34" charset="-122"/>
                          <a:cs typeface="Calibri" pitchFamily="34" charset="-120"/>
                        </a:rPr>
                        <a:t>Sement qorishmasida neft shlami kuli 0–20%; optimal tarkib — 8,19% kul, s/s = 0,52 (javob yuzasi usuli); suv shimish chiziqli oshgan.</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r>
              <a:tr h="658368">
                <a:tc>
                  <a:txBody>
                    <a:bodyPr/>
                    <a:lstStyle/>
                    <a:p>
                      <a:pPr indent="0" marL="0">
                        <a:buNone/>
                      </a:pPr>
                      <a:r>
                        <a:rPr lang="en-US" sz="1150" b="1" dirty="0">
                          <a:solidFill>
                            <a:srgbClr val="1F2633"/>
                          </a:solidFill>
                          <a:latin typeface="Calibri" pitchFamily="34" charset="0"/>
                          <a:ea typeface="Calibri" pitchFamily="34" charset="-122"/>
                          <a:cs typeface="Calibri" pitchFamily="34" charset="-120"/>
                        </a:rPr>
                        <a:t>Hasan va b., 2024 [1]</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150" dirty="0">
                          <a:solidFill>
                            <a:srgbClr val="1F2633"/>
                          </a:solidFill>
                          <a:latin typeface="Calibri" pitchFamily="34" charset="0"/>
                          <a:ea typeface="Calibri" pitchFamily="34" charset="-122"/>
                          <a:cs typeface="Calibri" pitchFamily="34" charset="-120"/>
                        </a:rPr>
                        <a:t>Neft shlamini qayta ishlash usullari sharhi; shlamdan qurilish va yo‘l materiallari olish tajribalari, bitum qo‘shimchasi sifatida sinovlar.</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r>
              <a:tr h="566928">
                <a:tc>
                  <a:txBody>
                    <a:bodyPr/>
                    <a:lstStyle/>
                    <a:p>
                      <a:pPr indent="0" marL="0">
                        <a:buNone/>
                      </a:pPr>
                      <a:r>
                        <a:rPr lang="en-US" sz="1150" b="1" dirty="0">
                          <a:solidFill>
                            <a:srgbClr val="1F2633"/>
                          </a:solidFill>
                          <a:latin typeface="Calibri" pitchFamily="34" charset="0"/>
                          <a:ea typeface="Calibri" pitchFamily="34" charset="-122"/>
                          <a:cs typeface="Calibri" pitchFamily="34" charset="-120"/>
                        </a:rPr>
                        <a:t>Niu va b., 2022 [2]</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150" dirty="0">
                          <a:solidFill>
                            <a:srgbClr val="1F2633"/>
                          </a:solidFill>
                          <a:latin typeface="Calibri" pitchFamily="34" charset="0"/>
                          <a:ea typeface="Calibri" pitchFamily="34" charset="-122"/>
                          <a:cs typeface="Calibri" pitchFamily="34" charset="-120"/>
                        </a:rPr>
                        <a:t>Neft shlami bo‘yicha tadqiqotlarning tizimli sharhi: tavsiflash, ekologik ta’sir va qayta ishlash.</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r>
              <a:tr h="749808">
                <a:tc>
                  <a:txBody>
                    <a:bodyPr/>
                    <a:lstStyle/>
                    <a:p>
                      <a:pPr indent="0" marL="0">
                        <a:buNone/>
                      </a:pPr>
                      <a:r>
                        <a:rPr lang="en-US" sz="1150" b="1" dirty="0">
                          <a:solidFill>
                            <a:srgbClr val="1F2633"/>
                          </a:solidFill>
                          <a:latin typeface="Calibri" pitchFamily="34" charset="0"/>
                          <a:ea typeface="Calibri" pitchFamily="34" charset="-122"/>
                          <a:cs typeface="Calibri" pitchFamily="34" charset="-120"/>
                        </a:rPr>
                        <a:t>Mahalliy: Abduraxmonov A.B. [8]</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150" dirty="0">
                          <a:solidFill>
                            <a:srgbClr val="1F2633"/>
                          </a:solidFill>
                          <a:latin typeface="Calibri" pitchFamily="34" charset="0"/>
                          <a:ea typeface="Calibri" pitchFamily="34" charset="-122"/>
                          <a:cs typeface="Calibri" pitchFamily="34" charset="-120"/>
                        </a:rPr>
                        <a:t>PhD dissertatsiya, 02.00.08: neft qoldiqlaridan foydalanib kam oltingugurtli koks olish texnologiyasi — mahalliy neft qoldiqlarini qayta ishlash tajribasi.</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r>
            </a:tbl>
          </a:graphicData>
        </a:graphic>
      </p:graphicFrame>
      <p:sp>
        <p:nvSpPr>
          <p:cNvPr id="9" name="Shape 5"/>
          <p:cNvSpPr/>
          <p:nvPr/>
        </p:nvSpPr>
        <p:spPr>
          <a:xfrm>
            <a:off x="8275320" y="1737360"/>
            <a:ext cx="3383280" cy="3886200"/>
          </a:xfrm>
          <a:prstGeom prst="roundRect">
            <a:avLst>
              <a:gd name="adj" fmla="val 1622"/>
            </a:avLst>
          </a:prstGeom>
          <a:solidFill>
            <a:srgbClr val="1E2761"/>
          </a:solidFill>
          <a:ln w="12700">
            <a:solidFill>
              <a:srgbClr val="1E2761"/>
            </a:solidFill>
            <a:prstDash val="solid"/>
          </a:ln>
        </p:spPr>
      </p:sp>
      <p:sp>
        <p:nvSpPr>
          <p:cNvPr id="10" name="Text 6"/>
          <p:cNvSpPr txBox="1"/>
          <p:nvPr/>
        </p:nvSpPr>
        <p:spPr>
          <a:xfrm>
            <a:off x="8503920" y="1874520"/>
            <a:ext cx="3017520" cy="228600"/>
          </a:xfrm>
          <a:prstGeom prst="rect">
            <a:avLst/>
          </a:prstGeom>
          <a:noFill/>
          <a:ln/>
        </p:spPr>
        <p:txBody>
          <a:bodyPr wrap="square" lIns="0" tIns="0" rIns="0" bIns="0" rtlCol="0" anchor="t"/>
          <a:lstStyle/>
          <a:p>
            <a:pPr indent="0" marL="0">
              <a:buNone/>
            </a:pPr>
            <a:r>
              <a:rPr lang="en-US" sz="950" b="1" spc="120" kern="0" dirty="0">
                <a:solidFill>
                  <a:srgbClr val="C9A227"/>
                </a:solidFill>
                <a:latin typeface="Calibri" pitchFamily="34" charset="0"/>
                <a:ea typeface="Calibri" pitchFamily="34" charset="-122"/>
                <a:cs typeface="Calibri" pitchFamily="34" charset="-120"/>
              </a:rPr>
              <a:t>YETARLICHA O‘RGANILMAGAN JIHATLAR</a:t>
            </a:r>
            <a:endParaRPr lang="en-US" sz="950" dirty="0"/>
          </a:p>
        </p:txBody>
      </p:sp>
      <p:sp>
        <p:nvSpPr>
          <p:cNvPr id="11" name="Text 7"/>
          <p:cNvSpPr txBox="1"/>
          <p:nvPr/>
        </p:nvSpPr>
        <p:spPr>
          <a:xfrm>
            <a:off x="8503920" y="2240280"/>
            <a:ext cx="2971800" cy="265176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O‘zbekiston neft chiqindilari bo‘yicha qurilish kompozitlari uchun tizimli tavsif</a:t>
            </a:r>
            <a:endParaRPr lang="en-US" sz="1350" dirty="0"/>
          </a:p>
          <a:p>
            <a:pPr marL="342900" indent="-342900">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«Tayyorlash usuli → xossa» bog‘liqligining kompleks modeli</a:t>
            </a:r>
            <a:endParaRPr lang="en-US" sz="1350" dirty="0"/>
          </a:p>
          <a:p>
            <a:pPr marL="342900" indent="-342900">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Uzoq muddatli chidamlilik va xavfli komponentlar yuvilib chiqishi ma’lumotlari</a:t>
            </a:r>
            <a:endParaRPr lang="en-US" sz="1350" dirty="0"/>
          </a:p>
        </p:txBody>
      </p:sp>
      <p:sp>
        <p:nvSpPr>
          <p:cNvPr id="12" name="Text 8"/>
          <p:cNvSpPr txBox="1"/>
          <p:nvPr/>
        </p:nvSpPr>
        <p:spPr>
          <a:xfrm>
            <a:off x="8503920" y="5029200"/>
            <a:ext cx="2971800" cy="457200"/>
          </a:xfrm>
          <a:prstGeom prst="rect">
            <a:avLst/>
          </a:prstGeom>
          <a:noFill/>
          <a:ln/>
        </p:spPr>
        <p:txBody>
          <a:bodyPr wrap="square" lIns="0" tIns="0" rIns="0" bIns="0" rtlCol="0" anchor="t"/>
          <a:lstStyle/>
          <a:p>
            <a:pPr indent="0" marL="0">
              <a:buNone/>
            </a:pPr>
            <a:r>
              <a:rPr lang="en-US" sz="1000" i="1" dirty="0">
                <a:solidFill>
                  <a:srgbClr val="E8CE8A"/>
                </a:solidFill>
                <a:latin typeface="Calibri" pitchFamily="34" charset="0"/>
                <a:ea typeface="Calibri" pitchFamily="34" charset="-122"/>
                <a:cs typeface="Calibri" pitchFamily="34" charset="-120"/>
              </a:rPr>
              <a:t>Adabiyot tahlili davomida aniqlashtiriladi.</a:t>
            </a:r>
            <a:endParaRPr lang="en-US" sz="1000" dirty="0"/>
          </a:p>
        </p:txBody>
      </p:sp>
      <p:sp>
        <p:nvSpPr>
          <p:cNvPr id="13" name="Text 9"/>
          <p:cNvSpPr txBox="1"/>
          <p:nvPr/>
        </p:nvSpPr>
        <p:spPr>
          <a:xfrm>
            <a:off x="548640" y="5669280"/>
            <a:ext cx="11109960" cy="502920"/>
          </a:xfrm>
          <a:prstGeom prst="rect">
            <a:avLst/>
          </a:prstGeom>
          <a:noFill/>
          <a:ln/>
        </p:spPr>
        <p:txBody>
          <a:bodyPr wrap="square" lIns="0" tIns="0" rIns="0" bIns="0" rtlCol="0" anchor="b"/>
          <a:lstStyle/>
          <a:p>
            <a:pPr indent="0" marL="0">
              <a:lnSpc>
                <a:spcPct val="95000"/>
              </a:lnSpc>
              <a:buNone/>
            </a:pPr>
            <a:r>
              <a:rPr lang="en-US" sz="800" dirty="0">
                <a:solidFill>
                  <a:srgbClr val="58607C"/>
                </a:solidFill>
                <a:latin typeface="Calibri" pitchFamily="34" charset="0"/>
                <a:ea typeface="Calibri" pitchFamily="34" charset="-122"/>
                <a:cs typeface="Calibri" pitchFamily="34" charset="-120"/>
              </a:rPr>
              <a:t>[1] Hasan A.M.A. va b. Environ. Sci. Pollut. Res. 2024, 31, 8369–8386. doi:10.1007/s11356-023-31674-3</a:t>
            </a:r>
            <a:endParaRPr lang="en-US" sz="800" dirty="0"/>
          </a:p>
          <a:p>
            <a:pPr indent="0" marL="0">
              <a:lnSpc>
                <a:spcPct val="95000"/>
              </a:lnSpc>
              <a:buNone/>
            </a:pPr>
            <a:r>
              <a:rPr lang="en-US" sz="800" dirty="0">
                <a:solidFill>
                  <a:srgbClr val="58607C"/>
                </a:solidFill>
                <a:latin typeface="Calibri" pitchFamily="34" charset="0"/>
                <a:ea typeface="Calibri" pitchFamily="34" charset="-122"/>
                <a:cs typeface="Calibri" pitchFamily="34" charset="-120"/>
              </a:rPr>
              <a:t>[2] Niu A., Sun X., Lin C. Molecules 2022, 27, 7795. doi:10.3390/molecules27227795</a:t>
            </a:r>
            <a:endParaRPr lang="en-US" sz="800" dirty="0"/>
          </a:p>
          <a:p>
            <a:pPr indent="0" marL="0">
              <a:lnSpc>
                <a:spcPct val="95000"/>
              </a:lnSpc>
              <a:buNone/>
            </a:pPr>
            <a:r>
              <a:rPr lang="en-US" sz="800" dirty="0">
                <a:solidFill>
                  <a:srgbClr val="58607C"/>
                </a:solidFill>
                <a:latin typeface="Calibri" pitchFamily="34" charset="0"/>
                <a:ea typeface="Calibri" pitchFamily="34" charset="-122"/>
                <a:cs typeface="Calibri" pitchFamily="34" charset="-120"/>
              </a:rPr>
              <a:t>[4] Jagaba A.H. va b. Cleaner and Circular Bioeconomy 2022, 3, 100029. doi:10.1016/j.clcb.2022.100029</a:t>
            </a:r>
            <a:endParaRPr lang="en-US" sz="800" dirty="0"/>
          </a:p>
          <a:p>
            <a:pPr indent="0" marL="0">
              <a:lnSpc>
                <a:spcPct val="95000"/>
              </a:lnSpc>
              <a:buNone/>
            </a:pPr>
            <a:r>
              <a:rPr lang="en-US" sz="800" dirty="0">
                <a:solidFill>
                  <a:srgbClr val="58607C"/>
                </a:solidFill>
                <a:latin typeface="Calibri" pitchFamily="34" charset="0"/>
                <a:ea typeface="Calibri" pitchFamily="34" charset="-122"/>
                <a:cs typeface="Calibri" pitchFamily="34" charset="-120"/>
              </a:rPr>
              <a:t>[7] Kankia M.U. va b. Materials 2021, 14(21), 6308. doi:10.3390/ma14216308</a:t>
            </a:r>
            <a:endParaRPr lang="en-US" sz="800" dirty="0"/>
          </a:p>
          <a:p>
            <a:pPr indent="0" marL="0">
              <a:lnSpc>
                <a:spcPct val="95000"/>
              </a:lnSpc>
              <a:buNone/>
            </a:pPr>
            <a:r>
              <a:rPr lang="en-US" sz="800" dirty="0">
                <a:solidFill>
                  <a:srgbClr val="58607C"/>
                </a:solidFill>
                <a:latin typeface="Calibri" pitchFamily="34" charset="0"/>
                <a:ea typeface="Calibri" pitchFamily="34" charset="-122"/>
                <a:cs typeface="Calibri" pitchFamily="34" charset="-120"/>
              </a:rPr>
              <a:t>[8] UzA — Abduraxmonov A.B. PhD dissertatsiyasi himoyasi to‘g‘risida e’lon (02.00.08)</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7772400" cy="228600"/>
          </a:xfrm>
          <a:prstGeom prst="rect">
            <a:avLst/>
          </a:prstGeom>
          <a:noFill/>
          <a:ln/>
        </p:spPr>
        <p:txBody>
          <a:bodyPr wrap="square" lIns="0" tIns="0" rIns="0" bIns="0" rtlCol="0" anchor="t"/>
          <a:lstStyle/>
          <a:p>
            <a:pPr indent="0" marL="0">
              <a:buNone/>
            </a:pPr>
            <a:r>
              <a:rPr lang="en-US" sz="1000" b="1" spc="150" kern="0" dirty="0">
                <a:solidFill>
                  <a:srgbClr val="C9A227"/>
                </a:solidFill>
                <a:latin typeface="Calibri" pitchFamily="34" charset="0"/>
                <a:ea typeface="Calibri" pitchFamily="34" charset="-122"/>
                <a:cs typeface="Calibri" pitchFamily="34" charset="-120"/>
              </a:rPr>
              <a:t>DASTURNING 9-BANDI · 6-XATBOSHI</a:t>
            </a:r>
            <a:endParaRPr lang="en-US" sz="1000" dirty="0"/>
          </a:p>
        </p:txBody>
      </p:sp>
      <p:sp>
        <p:nvSpPr>
          <p:cNvPr id="3" name="Text 1"/>
          <p:cNvSpPr txBox="1"/>
          <p:nvPr/>
        </p:nvSpPr>
        <p:spPr>
          <a:xfrm>
            <a:off x="548640" y="658368"/>
            <a:ext cx="8778240" cy="868680"/>
          </a:xfrm>
          <a:prstGeom prst="rect">
            <a:avLst/>
          </a:prstGeom>
          <a:noFill/>
          <a:ln/>
        </p:spPr>
        <p:txBody>
          <a:bodyPr wrap="square" lIns="0" tIns="0" rIns="0" bIns="0" rtlCol="0" anchor="ctr">
            <a:normAutofit/>
          </a:bodyPr>
          <a:lstStyle/>
          <a:p>
            <a:pPr indent="0" marL="0">
              <a:buNone/>
            </a:pPr>
            <a:r>
              <a:rPr lang="en-US" sz="2400" b="1" dirty="0">
                <a:solidFill>
                  <a:srgbClr val="1E2761"/>
                </a:solidFill>
                <a:latin typeface="Cambria" pitchFamily="34" charset="0"/>
                <a:ea typeface="Cambria" pitchFamily="34" charset="-122"/>
                <a:cs typeface="Cambria" pitchFamily="34" charset="-120"/>
              </a:rPr>
              <a:t>Kutilayotgan ilmiy yangilik va ish gipotezasi</a:t>
            </a:r>
            <a:endParaRPr lang="en-US" sz="2400" dirty="0"/>
          </a:p>
        </p:txBody>
      </p:sp>
      <p:sp>
        <p:nvSpPr>
          <p:cNvPr id="4" name="mezon"/>
          <p:cNvSpPr/>
          <p:nvPr/>
        </p:nvSpPr>
        <p:spPr>
          <a:xfrm>
            <a:off x="9921240" y="457200"/>
            <a:ext cx="1737360" cy="566928"/>
          </a:xfrm>
          <a:prstGeom prst="roundRect">
            <a:avLst>
              <a:gd name="adj" fmla="val 9677"/>
            </a:avLst>
          </a:prstGeom>
          <a:solidFill>
            <a:srgbClr val="1E2761"/>
          </a:solidFill>
          <a:ln w="12700">
            <a:solidFill>
              <a:srgbClr val="1E2761"/>
            </a:solidFill>
            <a:prstDash val="solid"/>
          </a:ln>
        </p:spPr>
      </p:sp>
      <p:sp>
        <p:nvSpPr>
          <p:cNvPr id="5" name="Text 3"/>
          <p:cNvSpPr txBox="1"/>
          <p:nvPr/>
        </p:nvSpPr>
        <p:spPr>
          <a:xfrm>
            <a:off x="9921240" y="457200"/>
            <a:ext cx="1737360" cy="566928"/>
          </a:xfrm>
          <a:prstGeom prst="rect">
            <a:avLst/>
          </a:prstGeom>
          <a:noFill/>
          <a:ln/>
        </p:spPr>
        <p:txBody>
          <a:bodyPr wrap="square" lIns="0" tIns="0" rIns="0" bIns="0" rtlCol="0" anchor="ctr"/>
          <a:lstStyle/>
          <a:p>
            <a:pPr algn="ctr" indent="0" marL="0">
              <a:buNone/>
            </a:pPr>
            <a:r>
              <a:rPr lang="en-US" sz="1100" b="1" spc="100" kern="0" dirty="0">
                <a:solidFill>
                  <a:srgbClr val="C9A227"/>
                </a:solidFill>
                <a:latin typeface="Calibri" pitchFamily="34" charset="0"/>
                <a:ea typeface="Calibri" pitchFamily="34" charset="-122"/>
                <a:cs typeface="Calibri" pitchFamily="34" charset="-120"/>
              </a:rPr>
              <a:t>1-MEZON</a:t>
            </a:r>
            <a:endParaRPr lang="en-US" sz="1100" dirty="0"/>
          </a:p>
        </p:txBody>
      </p:sp>
      <p:sp>
        <p:nvSpPr>
          <p:cNvPr id="6" name="Text 4"/>
          <p:cNvSpPr txBox="1"/>
          <p:nvPr/>
        </p:nvSpPr>
        <p:spPr>
          <a:xfrm>
            <a:off x="10241280" y="6419088"/>
            <a:ext cx="1417320" cy="274320"/>
          </a:xfrm>
          <a:prstGeom prst="rect">
            <a:avLst/>
          </a:prstGeom>
          <a:noFill/>
          <a:ln/>
        </p:spPr>
        <p:txBody>
          <a:bodyPr wrap="square" lIns="0" tIns="0" rIns="0" bIns="0" rtlCol="0" anchor="t"/>
          <a:lstStyle/>
          <a:p>
            <a:pPr algn="r" indent="0" marL="0">
              <a:buNone/>
            </a:pPr>
            <a:r>
              <a:rPr lang="en-US" sz="900" dirty="0">
                <a:solidFill>
                  <a:srgbClr val="8A93AE"/>
                </a:solidFill>
                <a:latin typeface="Calibri" pitchFamily="34" charset="0"/>
                <a:ea typeface="Calibri" pitchFamily="34" charset="-122"/>
                <a:cs typeface="Calibri" pitchFamily="34" charset="-120"/>
              </a:rPr>
              <a:t>8 / 15</a:t>
            </a:r>
            <a:endParaRPr lang="en-US" sz="900" dirty="0"/>
          </a:p>
        </p:txBody>
      </p:sp>
      <p:sp>
        <p:nvSpPr>
          <p:cNvPr id="8" name="Shape 5"/>
          <p:cNvSpPr/>
          <p:nvPr/>
        </p:nvSpPr>
        <p:spPr>
          <a:xfrm>
            <a:off x="548640" y="1737360"/>
            <a:ext cx="5120640" cy="4434840"/>
          </a:xfrm>
          <a:prstGeom prst="roundRect">
            <a:avLst>
              <a:gd name="adj" fmla="val 1237"/>
            </a:avLst>
          </a:prstGeom>
          <a:solidFill>
            <a:srgbClr val="1E2761"/>
          </a:solidFill>
          <a:ln w="12700">
            <a:solidFill>
              <a:srgbClr val="1E2761"/>
            </a:solidFill>
            <a:prstDash val="solid"/>
          </a:ln>
        </p:spPr>
      </p:sp>
      <p:sp>
        <p:nvSpPr>
          <p:cNvPr id="9" name="Text 6"/>
          <p:cNvSpPr txBox="1"/>
          <p:nvPr/>
        </p:nvSpPr>
        <p:spPr>
          <a:xfrm>
            <a:off x="822960" y="1901952"/>
            <a:ext cx="3657600" cy="228600"/>
          </a:xfrm>
          <a:prstGeom prst="rect">
            <a:avLst/>
          </a:prstGeom>
          <a:noFill/>
          <a:ln/>
        </p:spPr>
        <p:txBody>
          <a:bodyPr wrap="square" lIns="0" tIns="0" rIns="0" bIns="0" rtlCol="0" anchor="t"/>
          <a:lstStyle/>
          <a:p>
            <a:pPr indent="0" marL="0">
              <a:buNone/>
            </a:pPr>
            <a:r>
              <a:rPr lang="en-US" sz="950" b="1" spc="120" kern="0" dirty="0">
                <a:solidFill>
                  <a:srgbClr val="C9A227"/>
                </a:solidFill>
                <a:latin typeface="Calibri" pitchFamily="34" charset="0"/>
                <a:ea typeface="Calibri" pitchFamily="34" charset="-122"/>
                <a:cs typeface="Calibri" pitchFamily="34" charset="-120"/>
              </a:rPr>
              <a:t>ISH GIPOTEZASI</a:t>
            </a:r>
            <a:endParaRPr lang="en-US" sz="950" dirty="0"/>
          </a:p>
        </p:txBody>
      </p:sp>
      <p:sp>
        <p:nvSpPr>
          <p:cNvPr id="10" name="Text 7"/>
          <p:cNvSpPr txBox="1"/>
          <p:nvPr/>
        </p:nvSpPr>
        <p:spPr>
          <a:xfrm>
            <a:off x="749808" y="2103120"/>
            <a:ext cx="548640" cy="640080"/>
          </a:xfrm>
          <a:prstGeom prst="rect">
            <a:avLst/>
          </a:prstGeom>
          <a:noFill/>
          <a:ln/>
        </p:spPr>
        <p:txBody>
          <a:bodyPr wrap="square" lIns="0" tIns="0" rIns="0" bIns="0" rtlCol="0" anchor="t"/>
          <a:lstStyle/>
          <a:p>
            <a:pPr indent="0" marL="0">
              <a:buNone/>
            </a:pPr>
            <a:r>
              <a:rPr lang="en-US" sz="4800" dirty="0">
                <a:solidFill>
                  <a:srgbClr val="C9A227"/>
                </a:solidFill>
                <a:latin typeface="Cambria" pitchFamily="34" charset="0"/>
                <a:ea typeface="Cambria" pitchFamily="34" charset="-122"/>
                <a:cs typeface="Cambria" pitchFamily="34" charset="-120"/>
              </a:rPr>
              <a:t>“</a:t>
            </a:r>
            <a:endParaRPr lang="en-US" sz="4800" dirty="0"/>
          </a:p>
        </p:txBody>
      </p:sp>
      <p:sp>
        <p:nvSpPr>
          <p:cNvPr id="11" name="Text 8"/>
          <p:cNvSpPr txBox="1"/>
          <p:nvPr/>
        </p:nvSpPr>
        <p:spPr>
          <a:xfrm>
            <a:off x="822960" y="2606040"/>
            <a:ext cx="4572000" cy="2286000"/>
          </a:xfrm>
          <a:prstGeom prst="rect">
            <a:avLst/>
          </a:prstGeom>
          <a:noFill/>
          <a:ln/>
        </p:spPr>
        <p:txBody>
          <a:bodyPr wrap="square" lIns="0" tIns="0" rIns="0" bIns="0" rtlCol="0" anchor="t">
            <a:normAutofit/>
          </a:bodyPr>
          <a:lstStyle/>
          <a:p>
            <a:pPr indent="0" marL="0">
              <a:buNone/>
            </a:pPr>
            <a:r>
              <a:rPr lang="en-US" sz="1600" i="1" dirty="0">
                <a:solidFill>
                  <a:srgbClr val="FFFFFF"/>
                </a:solidFill>
                <a:latin typeface="Cambria" pitchFamily="34" charset="0"/>
                <a:ea typeface="Cambria" pitchFamily="34" charset="-122"/>
                <a:cs typeface="Cambria" pitchFamily="34" charset="-120"/>
              </a:rPr>
              <a:t>Chiqindining tarkibi va xossalari tavsiflanib, tanlangan matritsaga mos ravishda tayyorlansa hamda uning kompozitga qo‘shilish miqdori tajribalar asosida aniqlansa, belgilangan talablarga javob beradigan qurilish kompozitini olish mumkin.</a:t>
            </a:r>
            <a:endParaRPr lang="en-US" sz="1600" dirty="0"/>
          </a:p>
        </p:txBody>
      </p:sp>
      <p:sp>
        <p:nvSpPr>
          <p:cNvPr id="12" name="Text 9"/>
          <p:cNvSpPr txBox="1"/>
          <p:nvPr/>
        </p:nvSpPr>
        <p:spPr>
          <a:xfrm>
            <a:off x="822960" y="5074920"/>
            <a:ext cx="4572000" cy="960120"/>
          </a:xfrm>
          <a:prstGeom prst="rect">
            <a:avLst/>
          </a:prstGeom>
          <a:noFill/>
          <a:ln/>
        </p:spPr>
        <p:txBody>
          <a:bodyPr wrap="square" lIns="0" tIns="0" rIns="0" bIns="0" rtlCol="0" anchor="t">
            <a:normAutofit/>
          </a:bodyPr>
          <a:lstStyle/>
          <a:p>
            <a:pPr indent="0" marL="0">
              <a:buNone/>
            </a:pPr>
            <a:r>
              <a:rPr lang="en-US" sz="1200" dirty="0">
                <a:solidFill>
                  <a:srgbClr val="CADCFC"/>
                </a:solidFill>
                <a:latin typeface="Calibri" pitchFamily="34" charset="0"/>
                <a:ea typeface="Calibri" pitchFamily="34" charset="-122"/>
                <a:cs typeface="Calibri" pitchFamily="34" charset="-120"/>
              </a:rPr>
              <a:t>Tekshiriladi: chiqindi ulushi va tayyorlash usulining mustahkamlik, suv shimish, chidamlilik va yuvilib chiqishga ta’siri.</a:t>
            </a:r>
            <a:endParaRPr lang="en-US" sz="1200" dirty="0"/>
          </a:p>
        </p:txBody>
      </p:sp>
      <p:sp>
        <p:nvSpPr>
          <p:cNvPr id="13" name="Text 10"/>
          <p:cNvSpPr txBox="1"/>
          <p:nvPr/>
        </p:nvSpPr>
        <p:spPr>
          <a:xfrm>
            <a:off x="5897880" y="1737360"/>
            <a:ext cx="5486400" cy="228600"/>
          </a:xfrm>
          <a:prstGeom prst="rect">
            <a:avLst/>
          </a:prstGeom>
          <a:noFill/>
          <a:ln/>
        </p:spPr>
        <p:txBody>
          <a:bodyPr wrap="square" lIns="0" tIns="0" rIns="0" bIns="0" rtlCol="0" anchor="t"/>
          <a:lstStyle/>
          <a:p>
            <a:pPr indent="0" marL="0">
              <a:buNone/>
            </a:pPr>
            <a:r>
              <a:rPr lang="en-US" sz="950" b="1" spc="120" kern="0" dirty="0">
                <a:solidFill>
                  <a:srgbClr val="C9A227"/>
                </a:solidFill>
                <a:latin typeface="Calibri" pitchFamily="34" charset="0"/>
                <a:ea typeface="Calibri" pitchFamily="34" charset="-122"/>
                <a:cs typeface="Calibri" pitchFamily="34" charset="-120"/>
              </a:rPr>
              <a:t>KUTILAYOTGAN ILMIY YANGILIK</a:t>
            </a:r>
            <a:endParaRPr lang="en-US" sz="950" dirty="0"/>
          </a:p>
        </p:txBody>
      </p:sp>
      <p:sp>
        <p:nvSpPr>
          <p:cNvPr id="14" name="Shape 11"/>
          <p:cNvSpPr/>
          <p:nvPr/>
        </p:nvSpPr>
        <p:spPr>
          <a:xfrm>
            <a:off x="5897880" y="2029968"/>
            <a:ext cx="5760720" cy="822960"/>
          </a:xfrm>
          <a:prstGeom prst="roundRect">
            <a:avLst>
              <a:gd name="adj" fmla="val 6667"/>
            </a:avLst>
          </a:prstGeom>
          <a:solidFill>
            <a:srgbClr val="F4F6FB"/>
          </a:solidFill>
          <a:ln w="12700">
            <a:solidFill>
              <a:srgbClr val="CADCFC"/>
            </a:solidFill>
            <a:prstDash val="solid"/>
          </a:ln>
        </p:spPr>
      </p:sp>
      <p:sp>
        <p:nvSpPr>
          <p:cNvPr id="15" name="Text 12"/>
          <p:cNvSpPr txBox="1"/>
          <p:nvPr/>
        </p:nvSpPr>
        <p:spPr>
          <a:xfrm>
            <a:off x="6035040" y="2029968"/>
            <a:ext cx="411480" cy="822960"/>
          </a:xfrm>
          <a:prstGeom prst="rect">
            <a:avLst/>
          </a:prstGeom>
          <a:noFill/>
          <a:ln/>
        </p:spPr>
        <p:txBody>
          <a:bodyPr wrap="square" lIns="0" tIns="0" rIns="0" bIns="0" rtlCol="0" anchor="ctr"/>
          <a:lstStyle/>
          <a:p>
            <a:pPr indent="0" marL="0">
              <a:buNone/>
            </a:pPr>
            <a:r>
              <a:rPr lang="en-US" sz="2400" b="1" dirty="0">
                <a:solidFill>
                  <a:srgbClr val="C9A227"/>
                </a:solidFill>
                <a:latin typeface="Cambria" pitchFamily="34" charset="0"/>
                <a:ea typeface="Cambria" pitchFamily="34" charset="-122"/>
                <a:cs typeface="Cambria" pitchFamily="34" charset="-120"/>
              </a:rPr>
              <a:t>1</a:t>
            </a:r>
            <a:endParaRPr lang="en-US" sz="2400" dirty="0"/>
          </a:p>
        </p:txBody>
      </p:sp>
      <p:sp>
        <p:nvSpPr>
          <p:cNvPr id="16" name="Text 13"/>
          <p:cNvSpPr txBox="1"/>
          <p:nvPr/>
        </p:nvSpPr>
        <p:spPr>
          <a:xfrm>
            <a:off x="6492240" y="2029968"/>
            <a:ext cx="5029200" cy="822960"/>
          </a:xfrm>
          <a:prstGeom prst="rect">
            <a:avLst/>
          </a:prstGeom>
          <a:noFill/>
          <a:ln/>
        </p:spPr>
        <p:txBody>
          <a:bodyPr wrap="square" lIns="0" tIns="0" rIns="0" bIns="0" rtlCol="0" anchor="ctr">
            <a:normAutofit/>
          </a:bodyPr>
          <a:lstStyle/>
          <a:p>
            <a:pPr indent="0" marL="0">
              <a:buNone/>
            </a:pPr>
            <a:r>
              <a:rPr lang="en-US" sz="1250" dirty="0">
                <a:solidFill>
                  <a:srgbClr val="1F2633"/>
                </a:solidFill>
                <a:latin typeface="Calibri" pitchFamily="34" charset="0"/>
                <a:ea typeface="Calibri" pitchFamily="34" charset="-122"/>
                <a:cs typeface="Calibri" pitchFamily="34" charset="-120"/>
              </a:rPr>
              <a:t>Tanlangan mahalliy neft chiqindilari uchun «tarkib → tayyorlash usuli → kompozit xossasi» bog‘liqligini ifodalovchi regressiya modellari</a:t>
            </a:r>
            <a:endParaRPr lang="en-US" sz="1250" dirty="0"/>
          </a:p>
        </p:txBody>
      </p:sp>
      <p:sp>
        <p:nvSpPr>
          <p:cNvPr id="17" name="Shape 14"/>
          <p:cNvSpPr/>
          <p:nvPr/>
        </p:nvSpPr>
        <p:spPr>
          <a:xfrm>
            <a:off x="5897880" y="2962656"/>
            <a:ext cx="5760720" cy="822960"/>
          </a:xfrm>
          <a:prstGeom prst="roundRect">
            <a:avLst>
              <a:gd name="adj" fmla="val 6667"/>
            </a:avLst>
          </a:prstGeom>
          <a:solidFill>
            <a:srgbClr val="F4F6FB"/>
          </a:solidFill>
          <a:ln w="12700">
            <a:solidFill>
              <a:srgbClr val="CADCFC"/>
            </a:solidFill>
            <a:prstDash val="solid"/>
          </a:ln>
        </p:spPr>
      </p:sp>
      <p:sp>
        <p:nvSpPr>
          <p:cNvPr id="18" name="Text 15"/>
          <p:cNvSpPr txBox="1"/>
          <p:nvPr/>
        </p:nvSpPr>
        <p:spPr>
          <a:xfrm>
            <a:off x="6035040" y="2962656"/>
            <a:ext cx="411480" cy="822960"/>
          </a:xfrm>
          <a:prstGeom prst="rect">
            <a:avLst/>
          </a:prstGeom>
          <a:noFill/>
          <a:ln/>
        </p:spPr>
        <p:txBody>
          <a:bodyPr wrap="square" lIns="0" tIns="0" rIns="0" bIns="0" rtlCol="0" anchor="ctr"/>
          <a:lstStyle/>
          <a:p>
            <a:pPr indent="0" marL="0">
              <a:buNone/>
            </a:pPr>
            <a:r>
              <a:rPr lang="en-US" sz="2400" b="1" dirty="0">
                <a:solidFill>
                  <a:srgbClr val="C9A227"/>
                </a:solidFill>
                <a:latin typeface="Cambria" pitchFamily="34" charset="0"/>
                <a:ea typeface="Cambria" pitchFamily="34" charset="-122"/>
                <a:cs typeface="Cambria" pitchFamily="34" charset="-120"/>
              </a:rPr>
              <a:t>2</a:t>
            </a:r>
            <a:endParaRPr lang="en-US" sz="2400" dirty="0"/>
          </a:p>
        </p:txBody>
      </p:sp>
      <p:sp>
        <p:nvSpPr>
          <p:cNvPr id="19" name="Text 16"/>
          <p:cNvSpPr txBox="1"/>
          <p:nvPr/>
        </p:nvSpPr>
        <p:spPr>
          <a:xfrm>
            <a:off x="6492240" y="2962656"/>
            <a:ext cx="5029200" cy="822960"/>
          </a:xfrm>
          <a:prstGeom prst="rect">
            <a:avLst/>
          </a:prstGeom>
          <a:noFill/>
          <a:ln/>
        </p:spPr>
        <p:txBody>
          <a:bodyPr wrap="square" lIns="0" tIns="0" rIns="0" bIns="0" rtlCol="0" anchor="ctr">
            <a:normAutofit/>
          </a:bodyPr>
          <a:lstStyle/>
          <a:p>
            <a:pPr indent="0" marL="0">
              <a:buNone/>
            </a:pPr>
            <a:r>
              <a:rPr lang="en-US" sz="1250" dirty="0">
                <a:solidFill>
                  <a:srgbClr val="1F2633"/>
                </a:solidFill>
                <a:latin typeface="Calibri" pitchFamily="34" charset="0"/>
                <a:ea typeface="Calibri" pitchFamily="34" charset="-122"/>
                <a:cs typeface="Calibri" pitchFamily="34" charset="-120"/>
              </a:rPr>
              <a:t>Muayyan matritsada chiqindi ulushining mustahkamlik va ekologik xavfsizlikni saqlaydigan texnologik chegaralari</a:t>
            </a:r>
            <a:endParaRPr lang="en-US" sz="1250" dirty="0"/>
          </a:p>
        </p:txBody>
      </p:sp>
      <p:sp>
        <p:nvSpPr>
          <p:cNvPr id="20" name="Shape 17"/>
          <p:cNvSpPr/>
          <p:nvPr/>
        </p:nvSpPr>
        <p:spPr>
          <a:xfrm>
            <a:off x="5897880" y="3895344"/>
            <a:ext cx="5760720" cy="822960"/>
          </a:xfrm>
          <a:prstGeom prst="roundRect">
            <a:avLst>
              <a:gd name="adj" fmla="val 6667"/>
            </a:avLst>
          </a:prstGeom>
          <a:solidFill>
            <a:srgbClr val="F4F6FB"/>
          </a:solidFill>
          <a:ln w="12700">
            <a:solidFill>
              <a:srgbClr val="CADCFC"/>
            </a:solidFill>
            <a:prstDash val="solid"/>
          </a:ln>
        </p:spPr>
      </p:sp>
      <p:sp>
        <p:nvSpPr>
          <p:cNvPr id="21" name="Text 18"/>
          <p:cNvSpPr txBox="1"/>
          <p:nvPr/>
        </p:nvSpPr>
        <p:spPr>
          <a:xfrm>
            <a:off x="6035040" y="3895344"/>
            <a:ext cx="411480" cy="822960"/>
          </a:xfrm>
          <a:prstGeom prst="rect">
            <a:avLst/>
          </a:prstGeom>
          <a:noFill/>
          <a:ln/>
        </p:spPr>
        <p:txBody>
          <a:bodyPr wrap="square" lIns="0" tIns="0" rIns="0" bIns="0" rtlCol="0" anchor="ctr"/>
          <a:lstStyle/>
          <a:p>
            <a:pPr indent="0" marL="0">
              <a:buNone/>
            </a:pPr>
            <a:r>
              <a:rPr lang="en-US" sz="2400" b="1" dirty="0">
                <a:solidFill>
                  <a:srgbClr val="C9A227"/>
                </a:solidFill>
                <a:latin typeface="Cambria" pitchFamily="34" charset="0"/>
                <a:ea typeface="Cambria" pitchFamily="34" charset="-122"/>
                <a:cs typeface="Cambria" pitchFamily="34" charset="-120"/>
              </a:rPr>
              <a:t>3</a:t>
            </a:r>
            <a:endParaRPr lang="en-US" sz="2400" dirty="0"/>
          </a:p>
        </p:txBody>
      </p:sp>
      <p:sp>
        <p:nvSpPr>
          <p:cNvPr id="22" name="Text 19"/>
          <p:cNvSpPr txBox="1"/>
          <p:nvPr/>
        </p:nvSpPr>
        <p:spPr>
          <a:xfrm>
            <a:off x="6492240" y="3895344"/>
            <a:ext cx="5029200" cy="822960"/>
          </a:xfrm>
          <a:prstGeom prst="rect">
            <a:avLst/>
          </a:prstGeom>
          <a:noFill/>
          <a:ln/>
        </p:spPr>
        <p:txBody>
          <a:bodyPr wrap="square" lIns="0" tIns="0" rIns="0" bIns="0" rtlCol="0" anchor="ctr">
            <a:normAutofit/>
          </a:bodyPr>
          <a:lstStyle/>
          <a:p>
            <a:pPr indent="0" marL="0">
              <a:buNone/>
            </a:pPr>
            <a:r>
              <a:rPr lang="en-US" sz="1250" dirty="0">
                <a:solidFill>
                  <a:srgbClr val="1F2633"/>
                </a:solidFill>
                <a:latin typeface="Calibri" pitchFamily="34" charset="0"/>
                <a:ea typeface="Calibri" pitchFamily="34" charset="-122"/>
                <a:cs typeface="Calibri" pitchFamily="34" charset="-120"/>
              </a:rPr>
              <a:t>Neft chiqindilarini qurilish kompozitlari uchun tanlash mezonlari tizimi (mavjudlik, barqarorlik, moslik, xavfsizlik)</a:t>
            </a:r>
            <a:endParaRPr lang="en-US" sz="1250" dirty="0"/>
          </a:p>
        </p:txBody>
      </p:sp>
      <p:sp>
        <p:nvSpPr>
          <p:cNvPr id="23" name="Shape 20"/>
          <p:cNvSpPr/>
          <p:nvPr/>
        </p:nvSpPr>
        <p:spPr>
          <a:xfrm>
            <a:off x="5897880" y="4919472"/>
            <a:ext cx="5760720" cy="1252728"/>
          </a:xfrm>
          <a:prstGeom prst="roundRect">
            <a:avLst>
              <a:gd name="adj" fmla="val 4380"/>
            </a:avLst>
          </a:prstGeom>
          <a:solidFill>
            <a:srgbClr val="FFFFFF"/>
          </a:solidFill>
          <a:ln w="12700">
            <a:solidFill>
              <a:srgbClr val="C9A227"/>
            </a:solidFill>
            <a:prstDash val="solid"/>
          </a:ln>
        </p:spPr>
      </p:sp>
      <p:sp>
        <p:nvSpPr>
          <p:cNvPr id="24" name="Text 21"/>
          <p:cNvSpPr txBox="1"/>
          <p:nvPr/>
        </p:nvSpPr>
        <p:spPr>
          <a:xfrm>
            <a:off x="6080760" y="5029200"/>
            <a:ext cx="5029200" cy="228600"/>
          </a:xfrm>
          <a:prstGeom prst="rect">
            <a:avLst/>
          </a:prstGeom>
          <a:noFill/>
          <a:ln/>
        </p:spPr>
        <p:txBody>
          <a:bodyPr wrap="square" lIns="0" tIns="0" rIns="0" bIns="0" rtlCol="0" anchor="t"/>
          <a:lstStyle/>
          <a:p>
            <a:pPr indent="0" marL="0">
              <a:buNone/>
            </a:pPr>
            <a:r>
              <a:rPr lang="en-US" sz="950" b="1" spc="120" kern="0" dirty="0">
                <a:solidFill>
                  <a:srgbClr val="C9A227"/>
                </a:solidFill>
                <a:latin typeface="Calibri" pitchFamily="34" charset="0"/>
                <a:ea typeface="Calibri" pitchFamily="34" charset="-122"/>
                <a:cs typeface="Calibri" pitchFamily="34" charset="-120"/>
              </a:rPr>
              <a:t>MAVJUD YECHIMLARDAN FARQI</a:t>
            </a:r>
            <a:endParaRPr lang="en-US" sz="950" dirty="0"/>
          </a:p>
        </p:txBody>
      </p:sp>
      <p:sp>
        <p:nvSpPr>
          <p:cNvPr id="25" name="Text 22"/>
          <p:cNvSpPr txBox="1"/>
          <p:nvPr/>
        </p:nvSpPr>
        <p:spPr>
          <a:xfrm>
            <a:off x="6080760" y="5285232"/>
            <a:ext cx="5394960" cy="822960"/>
          </a:xfrm>
          <a:prstGeom prst="rect">
            <a:avLst/>
          </a:prstGeom>
          <a:noFill/>
          <a:ln/>
        </p:spPr>
        <p:txBody>
          <a:bodyPr wrap="square" lIns="0" tIns="0" rIns="0" bIns="0" rtlCol="0" anchor="t">
            <a:normAutofit/>
          </a:bodyPr>
          <a:lstStyle/>
          <a:p>
            <a:pPr indent="0" marL="0">
              <a:buNone/>
            </a:pPr>
            <a:r>
              <a:rPr lang="en-US" sz="1200" dirty="0">
                <a:solidFill>
                  <a:srgbClr val="1F2633"/>
                </a:solidFill>
                <a:latin typeface="Calibri" pitchFamily="34" charset="0"/>
                <a:ea typeface="Calibri" pitchFamily="34" charset="-122"/>
                <a:cs typeface="Calibri" pitchFamily="34" charset="-120"/>
              </a:rPr>
              <a:t>Ma’lum ishlarda odatda bitta chiqindi va bitta xossa o‘rganiladi. Bu ishda mahalliy xomashyo uchun tanlash, tayyorlash, xossa va yuvilib chiqish bir zanjirda o‘rganiladi.</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7772400" cy="228600"/>
          </a:xfrm>
          <a:prstGeom prst="rect">
            <a:avLst/>
          </a:prstGeom>
          <a:noFill/>
          <a:ln/>
        </p:spPr>
        <p:txBody>
          <a:bodyPr wrap="square" lIns="0" tIns="0" rIns="0" bIns="0" rtlCol="0" anchor="t"/>
          <a:lstStyle/>
          <a:p>
            <a:pPr indent="0" marL="0">
              <a:buNone/>
            </a:pPr>
            <a:r>
              <a:rPr lang="en-US" sz="1000" b="1" spc="150" kern="0" dirty="0">
                <a:solidFill>
                  <a:srgbClr val="C9A227"/>
                </a:solidFill>
                <a:latin typeface="Calibri" pitchFamily="34" charset="0"/>
                <a:ea typeface="Calibri" pitchFamily="34" charset="-122"/>
                <a:cs typeface="Calibri" pitchFamily="34" charset="-120"/>
              </a:rPr>
              <a:t>DASTURNING 9-BANDI · 7-XATBOSHI</a:t>
            </a:r>
            <a:endParaRPr lang="en-US" sz="1000" dirty="0"/>
          </a:p>
        </p:txBody>
      </p:sp>
      <p:sp>
        <p:nvSpPr>
          <p:cNvPr id="3" name="Text 1"/>
          <p:cNvSpPr txBox="1"/>
          <p:nvPr/>
        </p:nvSpPr>
        <p:spPr>
          <a:xfrm>
            <a:off x="548640" y="658368"/>
            <a:ext cx="8778240" cy="868680"/>
          </a:xfrm>
          <a:prstGeom prst="rect">
            <a:avLst/>
          </a:prstGeom>
          <a:noFill/>
          <a:ln/>
        </p:spPr>
        <p:txBody>
          <a:bodyPr wrap="square" lIns="0" tIns="0" rIns="0" bIns="0" rtlCol="0" anchor="ctr">
            <a:normAutofit/>
          </a:bodyPr>
          <a:lstStyle/>
          <a:p>
            <a:pPr indent="0" marL="0">
              <a:buNone/>
            </a:pPr>
            <a:r>
              <a:rPr lang="en-US" sz="2400" b="1" dirty="0">
                <a:solidFill>
                  <a:srgbClr val="1E2761"/>
                </a:solidFill>
                <a:latin typeface="Cambria" pitchFamily="34" charset="0"/>
                <a:ea typeface="Cambria" pitchFamily="34" charset="-122"/>
                <a:cs typeface="Cambria" pitchFamily="34" charset="-120"/>
              </a:rPr>
              <a:t>Qo‘llaniladigan tadqiqot usullari va metodologiyasi</a:t>
            </a:r>
            <a:endParaRPr lang="en-US" sz="2400" dirty="0"/>
          </a:p>
        </p:txBody>
      </p:sp>
      <p:sp>
        <p:nvSpPr>
          <p:cNvPr id="4" name="mezon"/>
          <p:cNvSpPr/>
          <p:nvPr/>
        </p:nvSpPr>
        <p:spPr>
          <a:xfrm>
            <a:off x="9921240" y="457200"/>
            <a:ext cx="1737360" cy="566928"/>
          </a:xfrm>
          <a:prstGeom prst="roundRect">
            <a:avLst>
              <a:gd name="adj" fmla="val 9677"/>
            </a:avLst>
          </a:prstGeom>
          <a:solidFill>
            <a:srgbClr val="1E2761"/>
          </a:solidFill>
          <a:ln w="12700">
            <a:solidFill>
              <a:srgbClr val="1E2761"/>
            </a:solidFill>
            <a:prstDash val="solid"/>
          </a:ln>
        </p:spPr>
      </p:sp>
      <p:sp>
        <p:nvSpPr>
          <p:cNvPr id="5" name="Text 3"/>
          <p:cNvSpPr txBox="1"/>
          <p:nvPr/>
        </p:nvSpPr>
        <p:spPr>
          <a:xfrm>
            <a:off x="9921240" y="457200"/>
            <a:ext cx="1737360" cy="566928"/>
          </a:xfrm>
          <a:prstGeom prst="rect">
            <a:avLst/>
          </a:prstGeom>
          <a:noFill/>
          <a:ln/>
        </p:spPr>
        <p:txBody>
          <a:bodyPr wrap="square" lIns="0" tIns="0" rIns="0" bIns="0" rtlCol="0" anchor="ctr"/>
          <a:lstStyle/>
          <a:p>
            <a:pPr algn="ctr" indent="0" marL="0">
              <a:buNone/>
            </a:pPr>
            <a:r>
              <a:rPr lang="en-US" sz="1100" b="1" spc="100" kern="0" dirty="0">
                <a:solidFill>
                  <a:srgbClr val="C9A227"/>
                </a:solidFill>
                <a:latin typeface="Calibri" pitchFamily="34" charset="0"/>
                <a:ea typeface="Calibri" pitchFamily="34" charset="-122"/>
                <a:cs typeface="Calibri" pitchFamily="34" charset="-120"/>
              </a:rPr>
              <a:t>2-MEZON</a:t>
            </a:r>
            <a:endParaRPr lang="en-US" sz="1100" dirty="0"/>
          </a:p>
        </p:txBody>
      </p:sp>
      <p:sp>
        <p:nvSpPr>
          <p:cNvPr id="6" name="Text 4"/>
          <p:cNvSpPr txBox="1"/>
          <p:nvPr/>
        </p:nvSpPr>
        <p:spPr>
          <a:xfrm>
            <a:off x="10241280" y="6419088"/>
            <a:ext cx="1417320" cy="274320"/>
          </a:xfrm>
          <a:prstGeom prst="rect">
            <a:avLst/>
          </a:prstGeom>
          <a:noFill/>
          <a:ln/>
        </p:spPr>
        <p:txBody>
          <a:bodyPr wrap="square" lIns="0" tIns="0" rIns="0" bIns="0" rtlCol="0" anchor="t"/>
          <a:lstStyle/>
          <a:p>
            <a:pPr algn="r" indent="0" marL="0">
              <a:buNone/>
            </a:pPr>
            <a:r>
              <a:rPr lang="en-US" sz="900" dirty="0">
                <a:solidFill>
                  <a:srgbClr val="8A93AE"/>
                </a:solidFill>
                <a:latin typeface="Calibri" pitchFamily="34" charset="0"/>
                <a:ea typeface="Calibri" pitchFamily="34" charset="-122"/>
                <a:cs typeface="Calibri" pitchFamily="34" charset="-120"/>
              </a:rPr>
              <a:t>9 / 15</a:t>
            </a:r>
            <a:endParaRPr lang="en-US" sz="900" dirty="0"/>
          </a:p>
        </p:txBody>
      </p:sp>
      <p:sp>
        <p:nvSpPr>
          <p:cNvPr id="8" name="Text 5"/>
          <p:cNvSpPr txBox="1"/>
          <p:nvPr/>
        </p:nvSpPr>
        <p:spPr>
          <a:xfrm>
            <a:off x="548640" y="1691640"/>
            <a:ext cx="11109960" cy="411480"/>
          </a:xfrm>
          <a:prstGeom prst="rect">
            <a:avLst/>
          </a:prstGeom>
          <a:noFill/>
          <a:ln/>
        </p:spPr>
        <p:txBody>
          <a:bodyPr wrap="square" lIns="0" tIns="0" rIns="0" bIns="0" rtlCol="0" anchor="ctr">
            <a:normAutofit/>
          </a:bodyPr>
          <a:lstStyle/>
          <a:p>
            <a:pPr indent="0" marL="0">
              <a:buNone/>
            </a:pPr>
            <a:r>
              <a:rPr lang="en-US" sz="1250" b="1" dirty="0">
                <a:solidFill>
                  <a:srgbClr val="1E2761"/>
                </a:solidFill>
                <a:latin typeface="Calibri" pitchFamily="34" charset="0"/>
                <a:ea typeface="Calibri" pitchFamily="34" charset="-122"/>
                <a:cs typeface="Calibri" pitchFamily="34" charset="-120"/>
              </a:rPr>
              <a:t>Umumiy yondashuv: tizimli va eksperimental-statistik — «xomashyo → tayyorlash → kompozit → xossa» zanjiri bo‘yicha rejalashtirilgan tajribalar.</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7680960" cy="914400"/>
        </p:xfrm>
        <a:graphic>
          <a:graphicData uri="http://schemas.openxmlformats.org/drawingml/2006/table">
            <a:tbl>
              <a:tblPr/>
              <a:tblGrid>
                <a:gridCol w="1783080"/>
                <a:gridCol w="3977640"/>
                <a:gridCol w="192024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Vazifa</a:t>
                      </a:r>
                      <a:endParaRPr lang="en-US" sz="1150" dirty="0">
                        <a:latin typeface="Calibri" charset="0"/>
                        <a:ea typeface="Calibri" charset="0"/>
                        <a:cs typeface="Calibri" charset="0"/>
                      </a:endParaRPr>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Usul</a:t>
                      </a:r>
                      <a:endParaRPr lang="en-US" sz="1150" dirty="0">
                        <a:latin typeface="Calibri" charset="0"/>
                        <a:ea typeface="Calibri" charset="0"/>
                        <a:cs typeface="Calibri" charset="0"/>
                      </a:endParaRPr>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Natija</a:t>
                      </a:r>
                      <a:endParaRPr lang="en-US" sz="1150" dirty="0">
                        <a:latin typeface="Calibri" charset="0"/>
                        <a:ea typeface="Calibri" charset="0"/>
                        <a:cs typeface="Calibri" charset="0"/>
                      </a:endParaRPr>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r>
              <a:tr h="621792">
                <a:tc>
                  <a:txBody>
                    <a:bodyPr/>
                    <a:lstStyle/>
                    <a:p>
                      <a:pPr indent="0" marL="0">
                        <a:buNone/>
                      </a:pPr>
                      <a:r>
                        <a:rPr lang="en-US" sz="1200" b="1" dirty="0">
                          <a:solidFill>
                            <a:srgbClr val="1F2633"/>
                          </a:solidFill>
                          <a:latin typeface="Calibri" pitchFamily="34" charset="0"/>
                          <a:ea typeface="Calibri" pitchFamily="34" charset="-122"/>
                          <a:cs typeface="Calibri" pitchFamily="34" charset="-120"/>
                        </a:rPr>
                        <a:t>1. Tanlash</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200" dirty="0">
                          <a:solidFill>
                            <a:srgbClr val="1F2633"/>
                          </a:solidFill>
                          <a:latin typeface="Calibri" pitchFamily="34" charset="0"/>
                          <a:ea typeface="Calibri" pitchFamily="34" charset="-122"/>
                          <a:cs typeface="Calibri" pitchFamily="34" charset="-120"/>
                        </a:rPr>
                        <a:t>Hujjatlar tahlili, suhbat, namuna olish</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200" dirty="0">
                          <a:solidFill>
                            <a:srgbClr val="1F2633"/>
                          </a:solidFill>
                          <a:latin typeface="Calibri" pitchFamily="34" charset="0"/>
                          <a:ea typeface="Calibri" pitchFamily="34" charset="-122"/>
                          <a:cs typeface="Calibri" pitchFamily="34" charset="-120"/>
                        </a:rPr>
                        <a:t>Manbalar xaritasi</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r>
              <a:tr h="621792">
                <a:tc>
                  <a:txBody>
                    <a:bodyPr/>
                    <a:lstStyle/>
                    <a:p>
                      <a:pPr indent="0" marL="0">
                        <a:buNone/>
                      </a:pPr>
                      <a:r>
                        <a:rPr lang="en-US" sz="1200" b="1" dirty="0">
                          <a:solidFill>
                            <a:srgbClr val="1F2633"/>
                          </a:solidFill>
                          <a:latin typeface="Calibri" pitchFamily="34" charset="0"/>
                          <a:ea typeface="Calibri" pitchFamily="34" charset="-122"/>
                          <a:cs typeface="Calibri" pitchFamily="34" charset="-120"/>
                        </a:rPr>
                        <a:t>2. Tavsiflash</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200" dirty="0">
                          <a:solidFill>
                            <a:srgbClr val="1F2633"/>
                          </a:solidFill>
                          <a:latin typeface="Calibri" pitchFamily="34" charset="0"/>
                          <a:ea typeface="Calibri" pitchFamily="34" charset="-122"/>
                          <a:cs typeface="Calibri" pitchFamily="34" charset="-120"/>
                        </a:rPr>
                        <a:t>Granulometriya, namlik, PXRD, FTIR, TG/DSC, SEM-EDS</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200" dirty="0">
                          <a:solidFill>
                            <a:srgbClr val="1F2633"/>
                          </a:solidFill>
                          <a:latin typeface="Calibri" pitchFamily="34" charset="0"/>
                          <a:ea typeface="Calibri" pitchFamily="34" charset="-122"/>
                          <a:cs typeface="Calibri" pitchFamily="34" charset="-120"/>
                        </a:rPr>
                        <a:t>Chiqindi pasporti</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r>
              <a:tr h="621792">
                <a:tc>
                  <a:txBody>
                    <a:bodyPr/>
                    <a:lstStyle/>
                    <a:p>
                      <a:pPr indent="0" marL="0">
                        <a:buNone/>
                      </a:pPr>
                      <a:r>
                        <a:rPr lang="en-US" sz="1200" b="1" dirty="0">
                          <a:solidFill>
                            <a:srgbClr val="1F2633"/>
                          </a:solidFill>
                          <a:latin typeface="Calibri" pitchFamily="34" charset="0"/>
                          <a:ea typeface="Calibri" pitchFamily="34" charset="-122"/>
                          <a:cs typeface="Calibri" pitchFamily="34" charset="-120"/>
                        </a:rPr>
                        <a:t>3. Kompozit olish</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200" dirty="0">
                          <a:solidFill>
                            <a:srgbClr val="1F2633"/>
                          </a:solidFill>
                          <a:latin typeface="Calibri" pitchFamily="34" charset="0"/>
                          <a:ea typeface="Calibri" pitchFamily="34" charset="-122"/>
                          <a:cs typeface="Calibri" pitchFamily="34" charset="-120"/>
                        </a:rPr>
                        <a:t>Massa/hajm bo‘yicha dozalash, qoliplash, qotirish</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200" dirty="0">
                          <a:solidFill>
                            <a:srgbClr val="1F2633"/>
                          </a:solidFill>
                          <a:latin typeface="Calibri" pitchFamily="34" charset="0"/>
                          <a:ea typeface="Calibri" pitchFamily="34" charset="-122"/>
                          <a:cs typeface="Calibri" pitchFamily="34" charset="-120"/>
                        </a:rPr>
                        <a:t>Tarkiblar seriyasi</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r>
              <a:tr h="621792">
                <a:tc>
                  <a:txBody>
                    <a:bodyPr/>
                    <a:lstStyle/>
                    <a:p>
                      <a:pPr indent="0" marL="0">
                        <a:buNone/>
                      </a:pPr>
                      <a:r>
                        <a:rPr lang="en-US" sz="1200" b="1" dirty="0">
                          <a:solidFill>
                            <a:srgbClr val="1F2633"/>
                          </a:solidFill>
                          <a:latin typeface="Calibri" pitchFamily="34" charset="0"/>
                          <a:ea typeface="Calibri" pitchFamily="34" charset="-122"/>
                          <a:cs typeface="Calibri" pitchFamily="34" charset="-120"/>
                        </a:rPr>
                        <a:t>4. Sinash</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200" dirty="0">
                          <a:solidFill>
                            <a:srgbClr val="1F2633"/>
                          </a:solidFill>
                          <a:latin typeface="Calibri" pitchFamily="34" charset="0"/>
                          <a:ea typeface="Calibri" pitchFamily="34" charset="-122"/>
                          <a:cs typeface="Calibri" pitchFamily="34" charset="-120"/>
                        </a:rPr>
                        <a:t>Siqilish/egilish, zichlik, suv shimish, sovuqqa chidamlilik, yuvilib chiqish</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200" dirty="0">
                          <a:solidFill>
                            <a:srgbClr val="1F2633"/>
                          </a:solidFill>
                          <a:latin typeface="Calibri" pitchFamily="34" charset="0"/>
                          <a:ea typeface="Calibri" pitchFamily="34" charset="-122"/>
                          <a:cs typeface="Calibri" pitchFamily="34" charset="-120"/>
                        </a:rPr>
                        <a:t>Sinov bazasi</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r>
              <a:tr h="621792">
                <a:tc>
                  <a:txBody>
                    <a:bodyPr/>
                    <a:lstStyle/>
                    <a:p>
                      <a:pPr indent="0" marL="0">
                        <a:buNone/>
                      </a:pPr>
                      <a:r>
                        <a:rPr lang="en-US" sz="1200" b="1" dirty="0">
                          <a:solidFill>
                            <a:srgbClr val="1F2633"/>
                          </a:solidFill>
                          <a:latin typeface="Calibri" pitchFamily="34" charset="0"/>
                          <a:ea typeface="Calibri" pitchFamily="34" charset="-122"/>
                          <a:cs typeface="Calibri" pitchFamily="34" charset="-120"/>
                        </a:rPr>
                        <a:t>5. Optimallashtirish</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200" dirty="0">
                          <a:solidFill>
                            <a:srgbClr val="1F2633"/>
                          </a:solidFill>
                          <a:latin typeface="Calibri" pitchFamily="34" charset="0"/>
                          <a:ea typeface="Calibri" pitchFamily="34" charset="-122"/>
                          <a:cs typeface="Calibri" pitchFamily="34" charset="-120"/>
                        </a:rPr>
                        <a:t>Tajriba rejasi, javob yuzasi usuli, regressiya</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200" dirty="0">
                          <a:solidFill>
                            <a:srgbClr val="1F2633"/>
                          </a:solidFill>
                          <a:latin typeface="Calibri" pitchFamily="34" charset="0"/>
                          <a:ea typeface="Calibri" pitchFamily="34" charset="-122"/>
                          <a:cs typeface="Calibri" pitchFamily="34" charset="-120"/>
                        </a:rPr>
                        <a:t>Model, diapazon</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r>
              <a:tr h="621792">
                <a:tc>
                  <a:txBody>
                    <a:bodyPr/>
                    <a:lstStyle/>
                    <a:p>
                      <a:pPr indent="0" marL="0">
                        <a:buNone/>
                      </a:pPr>
                      <a:r>
                        <a:rPr lang="en-US" sz="1200" b="1" dirty="0">
                          <a:solidFill>
                            <a:srgbClr val="1F2633"/>
                          </a:solidFill>
                          <a:latin typeface="Calibri" pitchFamily="34" charset="0"/>
                          <a:ea typeface="Calibri" pitchFamily="34" charset="-122"/>
                          <a:cs typeface="Calibri" pitchFamily="34" charset="-120"/>
                        </a:rPr>
                        <a:t>6. Baholash</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200" dirty="0">
                          <a:solidFill>
                            <a:srgbClr val="1F2633"/>
                          </a:solidFill>
                          <a:latin typeface="Calibri" pitchFamily="34" charset="0"/>
                          <a:ea typeface="Calibri" pitchFamily="34" charset="-122"/>
                          <a:cs typeface="Calibri" pitchFamily="34" charset="-120"/>
                        </a:rPr>
                        <a:t>Funksional birlik, CAPEX/OPEX, ssenariylar qiyosi</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200" dirty="0">
                          <a:solidFill>
                            <a:srgbClr val="1F2633"/>
                          </a:solidFill>
                          <a:latin typeface="Calibri" pitchFamily="34" charset="0"/>
                          <a:ea typeface="Calibri" pitchFamily="34" charset="-122"/>
                          <a:cs typeface="Calibri" pitchFamily="34" charset="-120"/>
                        </a:rPr>
                        <a:t>Texnik-iqtisodiy asos</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r>
            </a:tbl>
          </a:graphicData>
        </a:graphic>
      </p:graphicFrame>
      <p:sp>
        <p:nvSpPr>
          <p:cNvPr id="10" name="Shape 6"/>
          <p:cNvSpPr/>
          <p:nvPr/>
        </p:nvSpPr>
        <p:spPr>
          <a:xfrm>
            <a:off x="8458200" y="2194560"/>
            <a:ext cx="3200400" cy="2103120"/>
          </a:xfrm>
          <a:prstGeom prst="roundRect">
            <a:avLst>
              <a:gd name="adj" fmla="val 2609"/>
            </a:avLst>
          </a:prstGeom>
          <a:solidFill>
            <a:srgbClr val="F4F6FB"/>
          </a:solidFill>
          <a:ln w="12700">
            <a:solidFill>
              <a:srgbClr val="CADCFC"/>
            </a:solidFill>
            <a:prstDash val="solid"/>
          </a:ln>
        </p:spPr>
      </p:sp>
      <p:pic>
        <p:nvPicPr>
          <p:cNvPr id="11" name="Image 0" descr="/tmp/claude-0/-home-claude/1a0f1fcd-2772-57a1-9475-1557efb8a840/scratchpad/phd/img/a30.jpg">    </p:cNvPr>
          <p:cNvPicPr>
            <a:picLocks noChangeAspect="1"/>
          </p:cNvPicPr>
          <p:nvPr/>
        </p:nvPicPr>
        <p:blipFill>
          <a:blip r:embed="rId1"/>
          <a:srcRect l="0" r="0" t="0" b="0"/>
          <a:stretch/>
        </p:blipFill>
        <p:spPr>
          <a:xfrm>
            <a:off x="8595360" y="2331720"/>
            <a:ext cx="1143000" cy="1143000"/>
          </a:xfrm>
          <a:prstGeom prst="rect">
            <a:avLst/>
          </a:prstGeom>
        </p:spPr>
      </p:pic>
      <p:pic>
        <p:nvPicPr>
          <p:cNvPr id="12" name="Image 1" descr="/tmp/claude-0/-home-claude/1a0f1fcd-2772-57a1-9475-1557efb8a840/scratchpad/phd/img/a36.jpg">    </p:cNvPr>
          <p:cNvPicPr>
            <a:picLocks noChangeAspect="1"/>
          </p:cNvPicPr>
          <p:nvPr/>
        </p:nvPicPr>
        <p:blipFill>
          <a:blip r:embed="rId2"/>
          <a:srcRect l="0" r="0" t="0" b="0"/>
          <a:stretch/>
        </p:blipFill>
        <p:spPr>
          <a:xfrm>
            <a:off x="9829800" y="2331720"/>
            <a:ext cx="1143000" cy="1143000"/>
          </a:xfrm>
          <a:prstGeom prst="rect">
            <a:avLst/>
          </a:prstGeom>
        </p:spPr>
      </p:pic>
      <p:sp>
        <p:nvSpPr>
          <p:cNvPr id="13" name="Text 7"/>
          <p:cNvSpPr txBox="1"/>
          <p:nvPr/>
        </p:nvSpPr>
        <p:spPr>
          <a:xfrm>
            <a:off x="8595360" y="3566160"/>
            <a:ext cx="2926080" cy="685800"/>
          </a:xfrm>
          <a:prstGeom prst="rect">
            <a:avLst/>
          </a:prstGeom>
          <a:noFill/>
          <a:ln/>
        </p:spPr>
        <p:txBody>
          <a:bodyPr wrap="square" lIns="0" tIns="0" rIns="0" bIns="0" rtlCol="0" anchor="t">
            <a:normAutofit/>
          </a:bodyPr>
          <a:lstStyle/>
          <a:p>
            <a:pPr indent="0" marL="0">
              <a:buNone/>
            </a:pPr>
            <a:r>
              <a:rPr lang="en-US" sz="1000" dirty="0">
                <a:solidFill>
                  <a:srgbClr val="1F2633"/>
                </a:solidFill>
                <a:latin typeface="Calibri" pitchFamily="34" charset="0"/>
                <a:ea typeface="Calibri" pitchFamily="34" charset="-122"/>
                <a:cs typeface="Calibri" pitchFamily="34" charset="-120"/>
              </a:rPr>
              <a:t>Usullar tanlovi: kimyoviy tarkib va struktura (PXRD, FTIR, SEM) xossalarni tushuntiradi; statistik reja kam tajriba bilan ishonchli model beradi.</a:t>
            </a:r>
            <a:endParaRPr lang="en-US" sz="1000" dirty="0"/>
          </a:p>
        </p:txBody>
      </p:sp>
      <p:sp>
        <p:nvSpPr>
          <p:cNvPr id="14" name="Shape 8"/>
          <p:cNvSpPr/>
          <p:nvPr/>
        </p:nvSpPr>
        <p:spPr>
          <a:xfrm>
            <a:off x="8458200" y="4462272"/>
            <a:ext cx="3200400" cy="283464"/>
          </a:xfrm>
          <a:prstGeom prst="roundRect">
            <a:avLst>
              <a:gd name="adj" fmla="val 19355"/>
            </a:avLst>
          </a:prstGeom>
          <a:solidFill>
            <a:srgbClr val="FFFFFF"/>
          </a:solidFill>
          <a:ln w="12700">
            <a:solidFill>
              <a:srgbClr val="CADCFC"/>
            </a:solidFill>
            <a:prstDash val="solid"/>
          </a:ln>
        </p:spPr>
      </p:sp>
      <p:sp>
        <p:nvSpPr>
          <p:cNvPr id="15" name="Text 9"/>
          <p:cNvSpPr txBox="1"/>
          <p:nvPr/>
        </p:nvSpPr>
        <p:spPr>
          <a:xfrm>
            <a:off x="8595360" y="4462272"/>
            <a:ext cx="2926080" cy="283464"/>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Namuna kodi</a:t>
            </a:r>
            <a:endParaRPr lang="en-US" sz="1050" dirty="0"/>
          </a:p>
        </p:txBody>
      </p:sp>
      <p:sp>
        <p:nvSpPr>
          <p:cNvPr id="16" name="Shape 10"/>
          <p:cNvSpPr/>
          <p:nvPr/>
        </p:nvSpPr>
        <p:spPr>
          <a:xfrm>
            <a:off x="8458200" y="4800600"/>
            <a:ext cx="3200400" cy="283464"/>
          </a:xfrm>
          <a:prstGeom prst="roundRect">
            <a:avLst>
              <a:gd name="adj" fmla="val 19355"/>
            </a:avLst>
          </a:prstGeom>
          <a:solidFill>
            <a:srgbClr val="FFFFFF"/>
          </a:solidFill>
          <a:ln w="12700">
            <a:solidFill>
              <a:srgbClr val="CADCFC"/>
            </a:solidFill>
            <a:prstDash val="solid"/>
          </a:ln>
        </p:spPr>
      </p:sp>
      <p:sp>
        <p:nvSpPr>
          <p:cNvPr id="17" name="Text 11"/>
          <p:cNvSpPr txBox="1"/>
          <p:nvPr/>
        </p:nvSpPr>
        <p:spPr>
          <a:xfrm>
            <a:off x="8595360" y="4800600"/>
            <a:ext cx="2926080" cy="283464"/>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  Laboratoriya jurnali</a:t>
            </a:r>
            <a:endParaRPr lang="en-US" sz="1050" dirty="0"/>
          </a:p>
        </p:txBody>
      </p:sp>
      <p:sp>
        <p:nvSpPr>
          <p:cNvPr id="18" name="Shape 12"/>
          <p:cNvSpPr/>
          <p:nvPr/>
        </p:nvSpPr>
        <p:spPr>
          <a:xfrm>
            <a:off x="8458200" y="5138928"/>
            <a:ext cx="3200400" cy="283464"/>
          </a:xfrm>
          <a:prstGeom prst="roundRect">
            <a:avLst>
              <a:gd name="adj" fmla="val 19355"/>
            </a:avLst>
          </a:prstGeom>
          <a:solidFill>
            <a:srgbClr val="FFFFFF"/>
          </a:solidFill>
          <a:ln w="12700">
            <a:solidFill>
              <a:srgbClr val="CADCFC"/>
            </a:solidFill>
            <a:prstDash val="solid"/>
          </a:ln>
        </p:spPr>
      </p:sp>
      <p:sp>
        <p:nvSpPr>
          <p:cNvPr id="19" name="Text 13"/>
          <p:cNvSpPr txBox="1"/>
          <p:nvPr/>
        </p:nvSpPr>
        <p:spPr>
          <a:xfrm>
            <a:off x="8595360" y="5138928"/>
            <a:ext cx="2926080" cy="283464"/>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  Yagona ma’lumotlar bazasi</a:t>
            </a:r>
            <a:endParaRPr lang="en-US" sz="1050" dirty="0"/>
          </a:p>
        </p:txBody>
      </p:sp>
      <p:sp>
        <p:nvSpPr>
          <p:cNvPr id="20" name="Shape 14"/>
          <p:cNvSpPr/>
          <p:nvPr/>
        </p:nvSpPr>
        <p:spPr>
          <a:xfrm>
            <a:off x="8458200" y="5477256"/>
            <a:ext cx="3200400" cy="283464"/>
          </a:xfrm>
          <a:prstGeom prst="roundRect">
            <a:avLst>
              <a:gd name="adj" fmla="val 19355"/>
            </a:avLst>
          </a:prstGeom>
          <a:solidFill>
            <a:srgbClr val="FFFFFF"/>
          </a:solidFill>
          <a:ln w="12700">
            <a:solidFill>
              <a:srgbClr val="CADCFC"/>
            </a:solidFill>
            <a:prstDash val="solid"/>
          </a:ln>
        </p:spPr>
      </p:sp>
      <p:sp>
        <p:nvSpPr>
          <p:cNvPr id="21" name="Text 15"/>
          <p:cNvSpPr txBox="1"/>
          <p:nvPr/>
        </p:nvSpPr>
        <p:spPr>
          <a:xfrm>
            <a:off x="8595360" y="5477256"/>
            <a:ext cx="2926080" cy="283464"/>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  Statistik tahlil</a:t>
            </a:r>
            <a:endParaRPr lang="en-US" sz="1050" dirty="0"/>
          </a:p>
        </p:txBody>
      </p:sp>
      <p:sp>
        <p:nvSpPr>
          <p:cNvPr id="22" name="Shape 16"/>
          <p:cNvSpPr/>
          <p:nvPr/>
        </p:nvSpPr>
        <p:spPr>
          <a:xfrm>
            <a:off x="8458200" y="5815584"/>
            <a:ext cx="3200400" cy="283464"/>
          </a:xfrm>
          <a:prstGeom prst="roundRect">
            <a:avLst>
              <a:gd name="adj" fmla="val 19355"/>
            </a:avLst>
          </a:prstGeom>
          <a:solidFill>
            <a:srgbClr val="1E2761"/>
          </a:solidFill>
          <a:ln w="12700">
            <a:solidFill>
              <a:srgbClr val="1E2761"/>
            </a:solidFill>
            <a:prstDash val="solid"/>
          </a:ln>
        </p:spPr>
      </p:sp>
      <p:sp>
        <p:nvSpPr>
          <p:cNvPr id="23" name="Text 17"/>
          <p:cNvSpPr txBox="1"/>
          <p:nvPr/>
        </p:nvSpPr>
        <p:spPr>
          <a:xfrm>
            <a:off x="8595360" y="5815584"/>
            <a:ext cx="2926080" cy="283464"/>
          </a:xfrm>
          <a:prstGeom prst="rect">
            <a:avLst/>
          </a:prstGeom>
          <a:noFill/>
          <a:ln/>
        </p:spPr>
        <p:txBody>
          <a:bodyPr wrap="square" lIns="0" tIns="0" rIns="0" bIns="0" rtlCol="0" anchor="ctr"/>
          <a:lstStyle/>
          <a:p>
            <a:pPr indent="0" marL="0">
              <a:buNone/>
            </a:pPr>
            <a:r>
              <a:rPr lang="en-US" sz="1050" b="1" dirty="0">
                <a:solidFill>
                  <a:srgbClr val="C9A227"/>
                </a:solidFill>
                <a:latin typeface="Calibri" pitchFamily="34" charset="0"/>
                <a:ea typeface="Calibri" pitchFamily="34" charset="-122"/>
                <a:cs typeface="Calibri" pitchFamily="34" charset="-120"/>
              </a:rPr>
              <a:t>↓  Xulosa</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7772400" cy="228600"/>
          </a:xfrm>
          <a:prstGeom prst="rect">
            <a:avLst/>
          </a:prstGeom>
          <a:noFill/>
          <a:ln/>
        </p:spPr>
        <p:txBody>
          <a:bodyPr wrap="square" lIns="0" tIns="0" rIns="0" bIns="0" rtlCol="0" anchor="t"/>
          <a:lstStyle/>
          <a:p>
            <a:pPr indent="0" marL="0">
              <a:buNone/>
            </a:pPr>
            <a:r>
              <a:rPr lang="en-US" sz="1000" b="1" spc="150" kern="0" dirty="0">
                <a:solidFill>
                  <a:srgbClr val="C9A227"/>
                </a:solidFill>
                <a:latin typeface="Calibri" pitchFamily="34" charset="0"/>
                <a:ea typeface="Calibri" pitchFamily="34" charset="-122"/>
                <a:cs typeface="Calibri" pitchFamily="34" charset="-120"/>
              </a:rPr>
              <a:t>DASTURNING 11-BANDI · B BLOKI</a:t>
            </a:r>
            <a:endParaRPr lang="en-US" sz="1000" dirty="0"/>
          </a:p>
        </p:txBody>
      </p:sp>
      <p:sp>
        <p:nvSpPr>
          <p:cNvPr id="3" name="Text 1"/>
          <p:cNvSpPr txBox="1"/>
          <p:nvPr/>
        </p:nvSpPr>
        <p:spPr>
          <a:xfrm>
            <a:off x="548640" y="658368"/>
            <a:ext cx="8778240" cy="868680"/>
          </a:xfrm>
          <a:prstGeom prst="rect">
            <a:avLst/>
          </a:prstGeom>
          <a:noFill/>
          <a:ln/>
        </p:spPr>
        <p:txBody>
          <a:bodyPr wrap="square" lIns="0" tIns="0" rIns="0" bIns="0" rtlCol="0" anchor="ctr">
            <a:normAutofit/>
          </a:bodyPr>
          <a:lstStyle/>
          <a:p>
            <a:pPr indent="0" marL="0">
              <a:buNone/>
            </a:pPr>
            <a:r>
              <a:rPr lang="en-US" sz="2400" b="1" dirty="0">
                <a:solidFill>
                  <a:srgbClr val="1E2761"/>
                </a:solidFill>
                <a:latin typeface="Cambria" pitchFamily="34" charset="0"/>
                <a:ea typeface="Cambria" pitchFamily="34" charset="-122"/>
                <a:cs typeface="Cambria" pitchFamily="34" charset="-120"/>
              </a:rPr>
              <a:t>Sintez usuli, texnologik rejimlar va sinash metodikasi</a:t>
            </a:r>
            <a:endParaRPr lang="en-US" sz="2400" dirty="0"/>
          </a:p>
        </p:txBody>
      </p:sp>
      <p:sp>
        <p:nvSpPr>
          <p:cNvPr id="4" name="mezon"/>
          <p:cNvSpPr/>
          <p:nvPr/>
        </p:nvSpPr>
        <p:spPr>
          <a:xfrm>
            <a:off x="9921240" y="457200"/>
            <a:ext cx="1737360" cy="566928"/>
          </a:xfrm>
          <a:prstGeom prst="roundRect">
            <a:avLst>
              <a:gd name="adj" fmla="val 9677"/>
            </a:avLst>
          </a:prstGeom>
          <a:solidFill>
            <a:srgbClr val="1E2761"/>
          </a:solidFill>
          <a:ln w="12700">
            <a:solidFill>
              <a:srgbClr val="1E2761"/>
            </a:solidFill>
            <a:prstDash val="solid"/>
          </a:ln>
        </p:spPr>
      </p:sp>
      <p:sp>
        <p:nvSpPr>
          <p:cNvPr id="5" name="Text 3"/>
          <p:cNvSpPr txBox="1"/>
          <p:nvPr/>
        </p:nvSpPr>
        <p:spPr>
          <a:xfrm>
            <a:off x="9921240" y="457200"/>
            <a:ext cx="1737360" cy="566928"/>
          </a:xfrm>
          <a:prstGeom prst="rect">
            <a:avLst/>
          </a:prstGeom>
          <a:noFill/>
          <a:ln/>
        </p:spPr>
        <p:txBody>
          <a:bodyPr wrap="square" lIns="0" tIns="0" rIns="0" bIns="0" rtlCol="0" anchor="ctr"/>
          <a:lstStyle/>
          <a:p>
            <a:pPr algn="ctr" indent="0" marL="0">
              <a:buNone/>
            </a:pPr>
            <a:r>
              <a:rPr lang="en-US" sz="1100" b="1" spc="100" kern="0" dirty="0">
                <a:solidFill>
                  <a:srgbClr val="C9A227"/>
                </a:solidFill>
                <a:latin typeface="Calibri" pitchFamily="34" charset="0"/>
                <a:ea typeface="Calibri" pitchFamily="34" charset="-122"/>
                <a:cs typeface="Calibri" pitchFamily="34" charset="-120"/>
              </a:rPr>
              <a:t>2-MEZON</a:t>
            </a:r>
            <a:endParaRPr lang="en-US" sz="1100" dirty="0"/>
          </a:p>
        </p:txBody>
      </p:sp>
      <p:sp>
        <p:nvSpPr>
          <p:cNvPr id="6" name="Text 4"/>
          <p:cNvSpPr txBox="1"/>
          <p:nvPr/>
        </p:nvSpPr>
        <p:spPr>
          <a:xfrm>
            <a:off x="10241280" y="6419088"/>
            <a:ext cx="1417320" cy="274320"/>
          </a:xfrm>
          <a:prstGeom prst="rect">
            <a:avLst/>
          </a:prstGeom>
          <a:noFill/>
          <a:ln/>
        </p:spPr>
        <p:txBody>
          <a:bodyPr wrap="square" lIns="0" tIns="0" rIns="0" bIns="0" rtlCol="0" anchor="t"/>
          <a:lstStyle/>
          <a:p>
            <a:pPr algn="r" indent="0" marL="0">
              <a:buNone/>
            </a:pPr>
            <a:r>
              <a:rPr lang="en-US" sz="900" dirty="0">
                <a:solidFill>
                  <a:srgbClr val="8A93AE"/>
                </a:solidFill>
                <a:latin typeface="Calibri" pitchFamily="34" charset="0"/>
                <a:ea typeface="Calibri" pitchFamily="34" charset="-122"/>
                <a:cs typeface="Calibri" pitchFamily="34" charset="-120"/>
              </a:rPr>
              <a:t>10 / 15</a:t>
            </a:r>
            <a:endParaRPr lang="en-US" sz="900" dirty="0"/>
          </a:p>
        </p:txBody>
      </p:sp>
      <p:sp>
        <p:nvSpPr>
          <p:cNvPr id="8" name="Text 5"/>
          <p:cNvSpPr txBox="1"/>
          <p:nvPr/>
        </p:nvSpPr>
        <p:spPr>
          <a:xfrm>
            <a:off x="548640" y="1719072"/>
            <a:ext cx="7315200" cy="228600"/>
          </a:xfrm>
          <a:prstGeom prst="rect">
            <a:avLst/>
          </a:prstGeom>
          <a:noFill/>
          <a:ln/>
        </p:spPr>
        <p:txBody>
          <a:bodyPr wrap="square" lIns="0" tIns="0" rIns="0" bIns="0" rtlCol="0" anchor="t"/>
          <a:lstStyle/>
          <a:p>
            <a:pPr indent="0" marL="0">
              <a:buNone/>
            </a:pPr>
            <a:r>
              <a:rPr lang="en-US" sz="950" b="1" spc="120" kern="0" dirty="0">
                <a:solidFill>
                  <a:srgbClr val="C9A227"/>
                </a:solidFill>
                <a:latin typeface="Calibri" pitchFamily="34" charset="0"/>
                <a:ea typeface="Calibri" pitchFamily="34" charset="-122"/>
                <a:cs typeface="Calibri" pitchFamily="34" charset="-120"/>
              </a:rPr>
              <a:t>KOMPOZIT OLISHNING PRINSIPIAL SXEMASI</a:t>
            </a:r>
            <a:endParaRPr lang="en-US" sz="950" dirty="0"/>
          </a:p>
        </p:txBody>
      </p:sp>
      <p:sp>
        <p:nvSpPr>
          <p:cNvPr id="9" name="Shape 6"/>
          <p:cNvSpPr/>
          <p:nvPr/>
        </p:nvSpPr>
        <p:spPr>
          <a:xfrm>
            <a:off x="548640" y="2011680"/>
            <a:ext cx="2560320" cy="713232"/>
          </a:xfrm>
          <a:prstGeom prst="roundRect">
            <a:avLst>
              <a:gd name="adj" fmla="val 7692"/>
            </a:avLst>
          </a:prstGeom>
          <a:solidFill>
            <a:srgbClr val="1E2761"/>
          </a:solidFill>
          <a:ln w="12700">
            <a:solidFill>
              <a:srgbClr val="1E2761"/>
            </a:solidFill>
            <a:prstDash val="solid"/>
          </a:ln>
        </p:spPr>
      </p:sp>
      <p:sp>
        <p:nvSpPr>
          <p:cNvPr id="10" name="Text 7"/>
          <p:cNvSpPr txBox="1"/>
          <p:nvPr/>
        </p:nvSpPr>
        <p:spPr>
          <a:xfrm>
            <a:off x="658368" y="2011680"/>
            <a:ext cx="365760" cy="713232"/>
          </a:xfrm>
          <a:prstGeom prst="rect">
            <a:avLst/>
          </a:prstGeom>
          <a:noFill/>
          <a:ln/>
        </p:spPr>
        <p:txBody>
          <a:bodyPr wrap="square" lIns="0" tIns="0" rIns="0" bIns="0" rtlCol="0" anchor="ctr"/>
          <a:lstStyle/>
          <a:p>
            <a:pPr indent="0" marL="0">
              <a:buNone/>
            </a:pPr>
            <a:r>
              <a:rPr lang="en-US" sz="1800" b="1" dirty="0">
                <a:solidFill>
                  <a:srgbClr val="C9A227"/>
                </a:solidFill>
                <a:latin typeface="Cambria" pitchFamily="34" charset="0"/>
                <a:ea typeface="Cambria" pitchFamily="34" charset="-122"/>
                <a:cs typeface="Cambria" pitchFamily="34" charset="-120"/>
              </a:rPr>
              <a:t>1</a:t>
            </a:r>
            <a:endParaRPr lang="en-US" sz="1800" dirty="0"/>
          </a:p>
        </p:txBody>
      </p:sp>
      <p:sp>
        <p:nvSpPr>
          <p:cNvPr id="11" name="Text 8"/>
          <p:cNvSpPr txBox="1"/>
          <p:nvPr/>
        </p:nvSpPr>
        <p:spPr>
          <a:xfrm>
            <a:off x="1005840" y="2011680"/>
            <a:ext cx="2011680" cy="713232"/>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Calibri" pitchFamily="34" charset="0"/>
                <a:ea typeface="Calibri" pitchFamily="34" charset="-122"/>
                <a:cs typeface="Calibri" pitchFamily="34" charset="-120"/>
              </a:rPr>
              <a:t>Qabul va saralash</a:t>
            </a:r>
            <a:endParaRPr lang="en-US" sz="1150" dirty="0"/>
          </a:p>
        </p:txBody>
      </p:sp>
      <p:sp>
        <p:nvSpPr>
          <p:cNvPr id="12" name="Text 9"/>
          <p:cNvSpPr txBox="1"/>
          <p:nvPr/>
        </p:nvSpPr>
        <p:spPr>
          <a:xfrm>
            <a:off x="3108960" y="2157984"/>
            <a:ext cx="256032" cy="411480"/>
          </a:xfrm>
          <a:prstGeom prst="rect">
            <a:avLst/>
          </a:prstGeom>
          <a:noFill/>
          <a:ln/>
        </p:spPr>
        <p:txBody>
          <a:bodyPr wrap="square" lIns="0" tIns="0" rIns="0" bIns="0" rtlCol="0" anchor="t"/>
          <a:lstStyle/>
          <a:p>
            <a:pPr algn="ctr" indent="0" marL="0">
              <a:buNone/>
            </a:pPr>
            <a:r>
              <a:rPr lang="en-US" sz="1500" b="1" dirty="0">
                <a:solidFill>
                  <a:srgbClr val="C9A227"/>
                </a:solidFill>
                <a:latin typeface="Calibri" pitchFamily="34" charset="0"/>
                <a:ea typeface="Calibri" pitchFamily="34" charset="-122"/>
                <a:cs typeface="Calibri" pitchFamily="34" charset="-120"/>
              </a:rPr>
              <a:t>→</a:t>
            </a:r>
            <a:endParaRPr lang="en-US" sz="1500" dirty="0"/>
          </a:p>
        </p:txBody>
      </p:sp>
      <p:sp>
        <p:nvSpPr>
          <p:cNvPr id="13" name="Shape 10"/>
          <p:cNvSpPr/>
          <p:nvPr/>
        </p:nvSpPr>
        <p:spPr>
          <a:xfrm>
            <a:off x="3364992" y="2011680"/>
            <a:ext cx="2560320" cy="713232"/>
          </a:xfrm>
          <a:prstGeom prst="roundRect">
            <a:avLst>
              <a:gd name="adj" fmla="val 7692"/>
            </a:avLst>
          </a:prstGeom>
          <a:solidFill>
            <a:srgbClr val="1E2761"/>
          </a:solidFill>
          <a:ln w="12700">
            <a:solidFill>
              <a:srgbClr val="1E2761"/>
            </a:solidFill>
            <a:prstDash val="solid"/>
          </a:ln>
        </p:spPr>
      </p:sp>
      <p:sp>
        <p:nvSpPr>
          <p:cNvPr id="14" name="Text 11"/>
          <p:cNvSpPr txBox="1"/>
          <p:nvPr/>
        </p:nvSpPr>
        <p:spPr>
          <a:xfrm>
            <a:off x="3474720" y="2011680"/>
            <a:ext cx="365760" cy="713232"/>
          </a:xfrm>
          <a:prstGeom prst="rect">
            <a:avLst/>
          </a:prstGeom>
          <a:noFill/>
          <a:ln/>
        </p:spPr>
        <p:txBody>
          <a:bodyPr wrap="square" lIns="0" tIns="0" rIns="0" bIns="0" rtlCol="0" anchor="ctr"/>
          <a:lstStyle/>
          <a:p>
            <a:pPr indent="0" marL="0">
              <a:buNone/>
            </a:pPr>
            <a:r>
              <a:rPr lang="en-US" sz="1800" b="1" dirty="0">
                <a:solidFill>
                  <a:srgbClr val="C9A227"/>
                </a:solidFill>
                <a:latin typeface="Cambria" pitchFamily="34" charset="0"/>
                <a:ea typeface="Cambria" pitchFamily="34" charset="-122"/>
                <a:cs typeface="Cambria" pitchFamily="34" charset="-120"/>
              </a:rPr>
              <a:t>2</a:t>
            </a:r>
            <a:endParaRPr lang="en-US" sz="1800" dirty="0"/>
          </a:p>
        </p:txBody>
      </p:sp>
      <p:sp>
        <p:nvSpPr>
          <p:cNvPr id="15" name="Text 12"/>
          <p:cNvSpPr txBox="1"/>
          <p:nvPr/>
        </p:nvSpPr>
        <p:spPr>
          <a:xfrm>
            <a:off x="3822192" y="2011680"/>
            <a:ext cx="2011680" cy="713232"/>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Calibri" pitchFamily="34" charset="0"/>
                <a:ea typeface="Calibri" pitchFamily="34" charset="-122"/>
                <a:cs typeface="Calibri" pitchFamily="34" charset="-120"/>
              </a:rPr>
              <a:t>Quritish</a:t>
            </a:r>
            <a:endParaRPr lang="en-US" sz="1150" dirty="0"/>
          </a:p>
        </p:txBody>
      </p:sp>
      <p:sp>
        <p:nvSpPr>
          <p:cNvPr id="16" name="Text 13"/>
          <p:cNvSpPr txBox="1"/>
          <p:nvPr/>
        </p:nvSpPr>
        <p:spPr>
          <a:xfrm>
            <a:off x="5925312" y="2157984"/>
            <a:ext cx="256032" cy="411480"/>
          </a:xfrm>
          <a:prstGeom prst="rect">
            <a:avLst/>
          </a:prstGeom>
          <a:noFill/>
          <a:ln/>
        </p:spPr>
        <p:txBody>
          <a:bodyPr wrap="square" lIns="0" tIns="0" rIns="0" bIns="0" rtlCol="0" anchor="t"/>
          <a:lstStyle/>
          <a:p>
            <a:pPr algn="ctr" indent="0" marL="0">
              <a:buNone/>
            </a:pPr>
            <a:r>
              <a:rPr lang="en-US" sz="1500" b="1" dirty="0">
                <a:solidFill>
                  <a:srgbClr val="C9A227"/>
                </a:solidFill>
                <a:latin typeface="Calibri" pitchFamily="34" charset="0"/>
                <a:ea typeface="Calibri" pitchFamily="34" charset="-122"/>
                <a:cs typeface="Calibri" pitchFamily="34" charset="-120"/>
              </a:rPr>
              <a:t>→</a:t>
            </a:r>
            <a:endParaRPr lang="en-US" sz="1500" dirty="0"/>
          </a:p>
        </p:txBody>
      </p:sp>
      <p:sp>
        <p:nvSpPr>
          <p:cNvPr id="17" name="Shape 14"/>
          <p:cNvSpPr/>
          <p:nvPr/>
        </p:nvSpPr>
        <p:spPr>
          <a:xfrm>
            <a:off x="6181344" y="2011680"/>
            <a:ext cx="2560320" cy="713232"/>
          </a:xfrm>
          <a:prstGeom prst="roundRect">
            <a:avLst>
              <a:gd name="adj" fmla="val 7692"/>
            </a:avLst>
          </a:prstGeom>
          <a:solidFill>
            <a:srgbClr val="1E2761"/>
          </a:solidFill>
          <a:ln w="12700">
            <a:solidFill>
              <a:srgbClr val="1E2761"/>
            </a:solidFill>
            <a:prstDash val="solid"/>
          </a:ln>
        </p:spPr>
      </p:sp>
      <p:sp>
        <p:nvSpPr>
          <p:cNvPr id="18" name="Text 15"/>
          <p:cNvSpPr txBox="1"/>
          <p:nvPr/>
        </p:nvSpPr>
        <p:spPr>
          <a:xfrm>
            <a:off x="6291072" y="2011680"/>
            <a:ext cx="365760" cy="713232"/>
          </a:xfrm>
          <a:prstGeom prst="rect">
            <a:avLst/>
          </a:prstGeom>
          <a:noFill/>
          <a:ln/>
        </p:spPr>
        <p:txBody>
          <a:bodyPr wrap="square" lIns="0" tIns="0" rIns="0" bIns="0" rtlCol="0" anchor="ctr"/>
          <a:lstStyle/>
          <a:p>
            <a:pPr indent="0" marL="0">
              <a:buNone/>
            </a:pPr>
            <a:r>
              <a:rPr lang="en-US" sz="1800" b="1" dirty="0">
                <a:solidFill>
                  <a:srgbClr val="C9A227"/>
                </a:solidFill>
                <a:latin typeface="Cambria" pitchFamily="34" charset="0"/>
                <a:ea typeface="Cambria" pitchFamily="34" charset="-122"/>
                <a:cs typeface="Cambria" pitchFamily="34" charset="-120"/>
              </a:rPr>
              <a:t>3</a:t>
            </a:r>
            <a:endParaRPr lang="en-US" sz="1800" dirty="0"/>
          </a:p>
        </p:txBody>
      </p:sp>
      <p:sp>
        <p:nvSpPr>
          <p:cNvPr id="19" name="Text 16"/>
          <p:cNvSpPr txBox="1"/>
          <p:nvPr/>
        </p:nvSpPr>
        <p:spPr>
          <a:xfrm>
            <a:off x="6638544" y="2011680"/>
            <a:ext cx="2011680" cy="713232"/>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Calibri" pitchFamily="34" charset="0"/>
                <a:ea typeface="Calibri" pitchFamily="34" charset="-122"/>
                <a:cs typeface="Calibri" pitchFamily="34" charset="-120"/>
              </a:rPr>
              <a:t>Maydalash, elash</a:t>
            </a:r>
            <a:endParaRPr lang="en-US" sz="1150" dirty="0"/>
          </a:p>
        </p:txBody>
      </p:sp>
      <p:sp>
        <p:nvSpPr>
          <p:cNvPr id="20" name="Text 17"/>
          <p:cNvSpPr txBox="1"/>
          <p:nvPr/>
        </p:nvSpPr>
        <p:spPr>
          <a:xfrm>
            <a:off x="8741664" y="2157984"/>
            <a:ext cx="256032" cy="411480"/>
          </a:xfrm>
          <a:prstGeom prst="rect">
            <a:avLst/>
          </a:prstGeom>
          <a:noFill/>
          <a:ln/>
        </p:spPr>
        <p:txBody>
          <a:bodyPr wrap="square" lIns="0" tIns="0" rIns="0" bIns="0" rtlCol="0" anchor="t"/>
          <a:lstStyle/>
          <a:p>
            <a:pPr algn="ctr" indent="0" marL="0">
              <a:buNone/>
            </a:pPr>
            <a:r>
              <a:rPr lang="en-US" sz="1500" b="1" dirty="0">
                <a:solidFill>
                  <a:srgbClr val="C9A227"/>
                </a:solidFill>
                <a:latin typeface="Calibri" pitchFamily="34" charset="0"/>
                <a:ea typeface="Calibri" pitchFamily="34" charset="-122"/>
                <a:cs typeface="Calibri" pitchFamily="34" charset="-120"/>
              </a:rPr>
              <a:t>→</a:t>
            </a:r>
            <a:endParaRPr lang="en-US" sz="1500" dirty="0"/>
          </a:p>
        </p:txBody>
      </p:sp>
      <p:sp>
        <p:nvSpPr>
          <p:cNvPr id="21" name="Shape 18"/>
          <p:cNvSpPr/>
          <p:nvPr/>
        </p:nvSpPr>
        <p:spPr>
          <a:xfrm>
            <a:off x="8997696" y="2011680"/>
            <a:ext cx="2560320" cy="713232"/>
          </a:xfrm>
          <a:prstGeom prst="roundRect">
            <a:avLst>
              <a:gd name="adj" fmla="val 7692"/>
            </a:avLst>
          </a:prstGeom>
          <a:solidFill>
            <a:srgbClr val="1E2761"/>
          </a:solidFill>
          <a:ln w="12700">
            <a:solidFill>
              <a:srgbClr val="1E2761"/>
            </a:solidFill>
            <a:prstDash val="solid"/>
          </a:ln>
        </p:spPr>
      </p:sp>
      <p:sp>
        <p:nvSpPr>
          <p:cNvPr id="22" name="Text 19"/>
          <p:cNvSpPr txBox="1"/>
          <p:nvPr/>
        </p:nvSpPr>
        <p:spPr>
          <a:xfrm>
            <a:off x="9107424" y="2011680"/>
            <a:ext cx="365760" cy="713232"/>
          </a:xfrm>
          <a:prstGeom prst="rect">
            <a:avLst/>
          </a:prstGeom>
          <a:noFill/>
          <a:ln/>
        </p:spPr>
        <p:txBody>
          <a:bodyPr wrap="square" lIns="0" tIns="0" rIns="0" bIns="0" rtlCol="0" anchor="ctr"/>
          <a:lstStyle/>
          <a:p>
            <a:pPr indent="0" marL="0">
              <a:buNone/>
            </a:pPr>
            <a:r>
              <a:rPr lang="en-US" sz="1800" b="1" dirty="0">
                <a:solidFill>
                  <a:srgbClr val="C9A227"/>
                </a:solidFill>
                <a:latin typeface="Cambria" pitchFamily="34" charset="0"/>
                <a:ea typeface="Cambria" pitchFamily="34" charset="-122"/>
                <a:cs typeface="Cambria" pitchFamily="34" charset="-120"/>
              </a:rPr>
              <a:t>4</a:t>
            </a:r>
            <a:endParaRPr lang="en-US" sz="1800" dirty="0"/>
          </a:p>
        </p:txBody>
      </p:sp>
      <p:sp>
        <p:nvSpPr>
          <p:cNvPr id="23" name="Text 20"/>
          <p:cNvSpPr txBox="1"/>
          <p:nvPr/>
        </p:nvSpPr>
        <p:spPr>
          <a:xfrm>
            <a:off x="9454896" y="2011680"/>
            <a:ext cx="2011680" cy="713232"/>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Calibri" pitchFamily="34" charset="0"/>
                <a:ea typeface="Calibri" pitchFamily="34" charset="-122"/>
                <a:cs typeface="Calibri" pitchFamily="34" charset="-120"/>
              </a:rPr>
              <a:t>Modifikatsiya / barqarorlashtirish</a:t>
            </a:r>
            <a:endParaRPr lang="en-US" sz="1150" dirty="0"/>
          </a:p>
        </p:txBody>
      </p:sp>
      <p:sp>
        <p:nvSpPr>
          <p:cNvPr id="24" name="Shape 21"/>
          <p:cNvSpPr/>
          <p:nvPr/>
        </p:nvSpPr>
        <p:spPr>
          <a:xfrm>
            <a:off x="548640" y="2880360"/>
            <a:ext cx="2560320" cy="713232"/>
          </a:xfrm>
          <a:prstGeom prst="roundRect">
            <a:avLst>
              <a:gd name="adj" fmla="val 7692"/>
            </a:avLst>
          </a:prstGeom>
          <a:solidFill>
            <a:srgbClr val="F4F6FB"/>
          </a:solidFill>
          <a:ln w="12700">
            <a:solidFill>
              <a:srgbClr val="CADCFC"/>
            </a:solidFill>
            <a:prstDash val="solid"/>
          </a:ln>
        </p:spPr>
      </p:sp>
      <p:sp>
        <p:nvSpPr>
          <p:cNvPr id="25" name="Text 22"/>
          <p:cNvSpPr txBox="1"/>
          <p:nvPr/>
        </p:nvSpPr>
        <p:spPr>
          <a:xfrm>
            <a:off x="658368" y="2880360"/>
            <a:ext cx="365760" cy="713232"/>
          </a:xfrm>
          <a:prstGeom prst="rect">
            <a:avLst/>
          </a:prstGeom>
          <a:noFill/>
          <a:ln/>
        </p:spPr>
        <p:txBody>
          <a:bodyPr wrap="square" lIns="0" tIns="0" rIns="0" bIns="0" rtlCol="0" anchor="ctr"/>
          <a:lstStyle/>
          <a:p>
            <a:pPr indent="0" marL="0">
              <a:buNone/>
            </a:pPr>
            <a:r>
              <a:rPr lang="en-US" sz="1800" b="1" dirty="0">
                <a:solidFill>
                  <a:srgbClr val="C9A227"/>
                </a:solidFill>
                <a:latin typeface="Cambria" pitchFamily="34" charset="0"/>
                <a:ea typeface="Cambria" pitchFamily="34" charset="-122"/>
                <a:cs typeface="Cambria" pitchFamily="34" charset="-120"/>
              </a:rPr>
              <a:t>5</a:t>
            </a:r>
            <a:endParaRPr lang="en-US" sz="1800" dirty="0"/>
          </a:p>
        </p:txBody>
      </p:sp>
      <p:sp>
        <p:nvSpPr>
          <p:cNvPr id="26" name="Text 23"/>
          <p:cNvSpPr txBox="1"/>
          <p:nvPr/>
        </p:nvSpPr>
        <p:spPr>
          <a:xfrm>
            <a:off x="1005840" y="2880360"/>
            <a:ext cx="2011680" cy="713232"/>
          </a:xfrm>
          <a:prstGeom prst="rect">
            <a:avLst/>
          </a:prstGeom>
          <a:noFill/>
          <a:ln/>
        </p:spPr>
        <p:txBody>
          <a:bodyPr wrap="square" lIns="0" tIns="0" rIns="0" bIns="0" rtlCol="0" anchor="ctr">
            <a:normAutofit/>
          </a:bodyPr>
          <a:lstStyle/>
          <a:p>
            <a:pPr indent="0" marL="0">
              <a:buNone/>
            </a:pPr>
            <a:r>
              <a:rPr lang="en-US" sz="1150" b="1" dirty="0">
                <a:solidFill>
                  <a:srgbClr val="1E2761"/>
                </a:solidFill>
                <a:latin typeface="Calibri" pitchFamily="34" charset="0"/>
                <a:ea typeface="Calibri" pitchFamily="34" charset="-122"/>
                <a:cs typeface="Calibri" pitchFamily="34" charset="-120"/>
              </a:rPr>
              <a:t>Bog‘lovchi bilan aralashtirish</a:t>
            </a:r>
            <a:endParaRPr lang="en-US" sz="1150" dirty="0"/>
          </a:p>
        </p:txBody>
      </p:sp>
      <p:sp>
        <p:nvSpPr>
          <p:cNvPr id="27" name="Text 24"/>
          <p:cNvSpPr txBox="1"/>
          <p:nvPr/>
        </p:nvSpPr>
        <p:spPr>
          <a:xfrm>
            <a:off x="3108960" y="3026664"/>
            <a:ext cx="256032" cy="411480"/>
          </a:xfrm>
          <a:prstGeom prst="rect">
            <a:avLst/>
          </a:prstGeom>
          <a:noFill/>
          <a:ln/>
        </p:spPr>
        <p:txBody>
          <a:bodyPr wrap="square" lIns="0" tIns="0" rIns="0" bIns="0" rtlCol="0" anchor="t"/>
          <a:lstStyle/>
          <a:p>
            <a:pPr algn="ctr" indent="0" marL="0">
              <a:buNone/>
            </a:pPr>
            <a:r>
              <a:rPr lang="en-US" sz="1500" b="1" dirty="0">
                <a:solidFill>
                  <a:srgbClr val="C9A227"/>
                </a:solidFill>
                <a:latin typeface="Calibri" pitchFamily="34" charset="0"/>
                <a:ea typeface="Calibri" pitchFamily="34" charset="-122"/>
                <a:cs typeface="Calibri" pitchFamily="34" charset="-120"/>
              </a:rPr>
              <a:t>→</a:t>
            </a:r>
            <a:endParaRPr lang="en-US" sz="1500" dirty="0"/>
          </a:p>
        </p:txBody>
      </p:sp>
      <p:sp>
        <p:nvSpPr>
          <p:cNvPr id="28" name="Shape 25"/>
          <p:cNvSpPr/>
          <p:nvPr/>
        </p:nvSpPr>
        <p:spPr>
          <a:xfrm>
            <a:off x="3364992" y="2880360"/>
            <a:ext cx="2560320" cy="713232"/>
          </a:xfrm>
          <a:prstGeom prst="roundRect">
            <a:avLst>
              <a:gd name="adj" fmla="val 7692"/>
            </a:avLst>
          </a:prstGeom>
          <a:solidFill>
            <a:srgbClr val="F4F6FB"/>
          </a:solidFill>
          <a:ln w="12700">
            <a:solidFill>
              <a:srgbClr val="CADCFC"/>
            </a:solidFill>
            <a:prstDash val="solid"/>
          </a:ln>
        </p:spPr>
      </p:sp>
      <p:sp>
        <p:nvSpPr>
          <p:cNvPr id="29" name="Text 26"/>
          <p:cNvSpPr txBox="1"/>
          <p:nvPr/>
        </p:nvSpPr>
        <p:spPr>
          <a:xfrm>
            <a:off x="3474720" y="2880360"/>
            <a:ext cx="365760" cy="713232"/>
          </a:xfrm>
          <a:prstGeom prst="rect">
            <a:avLst/>
          </a:prstGeom>
          <a:noFill/>
          <a:ln/>
        </p:spPr>
        <p:txBody>
          <a:bodyPr wrap="square" lIns="0" tIns="0" rIns="0" bIns="0" rtlCol="0" anchor="ctr"/>
          <a:lstStyle/>
          <a:p>
            <a:pPr indent="0" marL="0">
              <a:buNone/>
            </a:pPr>
            <a:r>
              <a:rPr lang="en-US" sz="1800" b="1" dirty="0">
                <a:solidFill>
                  <a:srgbClr val="C9A227"/>
                </a:solidFill>
                <a:latin typeface="Cambria" pitchFamily="34" charset="0"/>
                <a:ea typeface="Cambria" pitchFamily="34" charset="-122"/>
                <a:cs typeface="Cambria" pitchFamily="34" charset="-120"/>
              </a:rPr>
              <a:t>6</a:t>
            </a:r>
            <a:endParaRPr lang="en-US" sz="1800" dirty="0"/>
          </a:p>
        </p:txBody>
      </p:sp>
      <p:sp>
        <p:nvSpPr>
          <p:cNvPr id="30" name="Text 27"/>
          <p:cNvSpPr txBox="1"/>
          <p:nvPr/>
        </p:nvSpPr>
        <p:spPr>
          <a:xfrm>
            <a:off x="3822192" y="2880360"/>
            <a:ext cx="2011680" cy="713232"/>
          </a:xfrm>
          <a:prstGeom prst="rect">
            <a:avLst/>
          </a:prstGeom>
          <a:noFill/>
          <a:ln/>
        </p:spPr>
        <p:txBody>
          <a:bodyPr wrap="square" lIns="0" tIns="0" rIns="0" bIns="0" rtlCol="0" anchor="ctr">
            <a:normAutofit/>
          </a:bodyPr>
          <a:lstStyle/>
          <a:p>
            <a:pPr indent="0" marL="0">
              <a:buNone/>
            </a:pPr>
            <a:r>
              <a:rPr lang="en-US" sz="1150" b="1" dirty="0">
                <a:solidFill>
                  <a:srgbClr val="1E2761"/>
                </a:solidFill>
                <a:latin typeface="Calibri" pitchFamily="34" charset="0"/>
                <a:ea typeface="Calibri" pitchFamily="34" charset="-122"/>
                <a:cs typeface="Calibri" pitchFamily="34" charset="-120"/>
              </a:rPr>
              <a:t>Qoliplash, zichlash</a:t>
            </a:r>
            <a:endParaRPr lang="en-US" sz="1150" dirty="0"/>
          </a:p>
        </p:txBody>
      </p:sp>
      <p:sp>
        <p:nvSpPr>
          <p:cNvPr id="31" name="Text 28"/>
          <p:cNvSpPr txBox="1"/>
          <p:nvPr/>
        </p:nvSpPr>
        <p:spPr>
          <a:xfrm>
            <a:off x="5925312" y="3026664"/>
            <a:ext cx="256032" cy="411480"/>
          </a:xfrm>
          <a:prstGeom prst="rect">
            <a:avLst/>
          </a:prstGeom>
          <a:noFill/>
          <a:ln/>
        </p:spPr>
        <p:txBody>
          <a:bodyPr wrap="square" lIns="0" tIns="0" rIns="0" bIns="0" rtlCol="0" anchor="t"/>
          <a:lstStyle/>
          <a:p>
            <a:pPr algn="ctr" indent="0" marL="0">
              <a:buNone/>
            </a:pPr>
            <a:r>
              <a:rPr lang="en-US" sz="1500" b="1" dirty="0">
                <a:solidFill>
                  <a:srgbClr val="C9A227"/>
                </a:solidFill>
                <a:latin typeface="Calibri" pitchFamily="34" charset="0"/>
                <a:ea typeface="Calibri" pitchFamily="34" charset="-122"/>
                <a:cs typeface="Calibri" pitchFamily="34" charset="-120"/>
              </a:rPr>
              <a:t>→</a:t>
            </a:r>
            <a:endParaRPr lang="en-US" sz="1500" dirty="0"/>
          </a:p>
        </p:txBody>
      </p:sp>
      <p:sp>
        <p:nvSpPr>
          <p:cNvPr id="32" name="Shape 29"/>
          <p:cNvSpPr/>
          <p:nvPr/>
        </p:nvSpPr>
        <p:spPr>
          <a:xfrm>
            <a:off x="6181344" y="2880360"/>
            <a:ext cx="2560320" cy="713232"/>
          </a:xfrm>
          <a:prstGeom prst="roundRect">
            <a:avLst>
              <a:gd name="adj" fmla="val 7692"/>
            </a:avLst>
          </a:prstGeom>
          <a:solidFill>
            <a:srgbClr val="F4F6FB"/>
          </a:solidFill>
          <a:ln w="12700">
            <a:solidFill>
              <a:srgbClr val="CADCFC"/>
            </a:solidFill>
            <a:prstDash val="solid"/>
          </a:ln>
        </p:spPr>
      </p:sp>
      <p:sp>
        <p:nvSpPr>
          <p:cNvPr id="33" name="Text 30"/>
          <p:cNvSpPr txBox="1"/>
          <p:nvPr/>
        </p:nvSpPr>
        <p:spPr>
          <a:xfrm>
            <a:off x="6291072" y="2880360"/>
            <a:ext cx="365760" cy="713232"/>
          </a:xfrm>
          <a:prstGeom prst="rect">
            <a:avLst/>
          </a:prstGeom>
          <a:noFill/>
          <a:ln/>
        </p:spPr>
        <p:txBody>
          <a:bodyPr wrap="square" lIns="0" tIns="0" rIns="0" bIns="0" rtlCol="0" anchor="ctr"/>
          <a:lstStyle/>
          <a:p>
            <a:pPr indent="0" marL="0">
              <a:buNone/>
            </a:pPr>
            <a:r>
              <a:rPr lang="en-US" sz="1800" b="1" dirty="0">
                <a:solidFill>
                  <a:srgbClr val="C9A227"/>
                </a:solidFill>
                <a:latin typeface="Cambria" pitchFamily="34" charset="0"/>
                <a:ea typeface="Cambria" pitchFamily="34" charset="-122"/>
                <a:cs typeface="Cambria" pitchFamily="34" charset="-120"/>
              </a:rPr>
              <a:t>7</a:t>
            </a:r>
            <a:endParaRPr lang="en-US" sz="1800" dirty="0"/>
          </a:p>
        </p:txBody>
      </p:sp>
      <p:sp>
        <p:nvSpPr>
          <p:cNvPr id="34" name="Text 31"/>
          <p:cNvSpPr txBox="1"/>
          <p:nvPr/>
        </p:nvSpPr>
        <p:spPr>
          <a:xfrm>
            <a:off x="6638544" y="2880360"/>
            <a:ext cx="2011680" cy="713232"/>
          </a:xfrm>
          <a:prstGeom prst="rect">
            <a:avLst/>
          </a:prstGeom>
          <a:noFill/>
          <a:ln/>
        </p:spPr>
        <p:txBody>
          <a:bodyPr wrap="square" lIns="0" tIns="0" rIns="0" bIns="0" rtlCol="0" anchor="ctr">
            <a:normAutofit/>
          </a:bodyPr>
          <a:lstStyle/>
          <a:p>
            <a:pPr indent="0" marL="0">
              <a:buNone/>
            </a:pPr>
            <a:r>
              <a:rPr lang="en-US" sz="1150" b="1" dirty="0">
                <a:solidFill>
                  <a:srgbClr val="1E2761"/>
                </a:solidFill>
                <a:latin typeface="Calibri" pitchFamily="34" charset="0"/>
                <a:ea typeface="Calibri" pitchFamily="34" charset="-122"/>
                <a:cs typeface="Calibri" pitchFamily="34" charset="-120"/>
              </a:rPr>
              <a:t>Qotirish</a:t>
            </a:r>
            <a:endParaRPr lang="en-US" sz="1150" dirty="0"/>
          </a:p>
        </p:txBody>
      </p:sp>
      <p:sp>
        <p:nvSpPr>
          <p:cNvPr id="35" name="Text 32"/>
          <p:cNvSpPr txBox="1"/>
          <p:nvPr/>
        </p:nvSpPr>
        <p:spPr>
          <a:xfrm>
            <a:off x="8741664" y="3026664"/>
            <a:ext cx="256032" cy="411480"/>
          </a:xfrm>
          <a:prstGeom prst="rect">
            <a:avLst/>
          </a:prstGeom>
          <a:noFill/>
          <a:ln/>
        </p:spPr>
        <p:txBody>
          <a:bodyPr wrap="square" lIns="0" tIns="0" rIns="0" bIns="0" rtlCol="0" anchor="t"/>
          <a:lstStyle/>
          <a:p>
            <a:pPr algn="ctr" indent="0" marL="0">
              <a:buNone/>
            </a:pPr>
            <a:r>
              <a:rPr lang="en-US" sz="1500" b="1" dirty="0">
                <a:solidFill>
                  <a:srgbClr val="C9A227"/>
                </a:solidFill>
                <a:latin typeface="Calibri" pitchFamily="34" charset="0"/>
                <a:ea typeface="Calibri" pitchFamily="34" charset="-122"/>
                <a:cs typeface="Calibri" pitchFamily="34" charset="-120"/>
              </a:rPr>
              <a:t>→</a:t>
            </a:r>
            <a:endParaRPr lang="en-US" sz="1500" dirty="0"/>
          </a:p>
        </p:txBody>
      </p:sp>
      <p:sp>
        <p:nvSpPr>
          <p:cNvPr id="36" name="Shape 33"/>
          <p:cNvSpPr/>
          <p:nvPr/>
        </p:nvSpPr>
        <p:spPr>
          <a:xfrm>
            <a:off x="8997696" y="2880360"/>
            <a:ext cx="2560320" cy="713232"/>
          </a:xfrm>
          <a:prstGeom prst="roundRect">
            <a:avLst>
              <a:gd name="adj" fmla="val 7692"/>
            </a:avLst>
          </a:prstGeom>
          <a:solidFill>
            <a:srgbClr val="F4F6FB"/>
          </a:solidFill>
          <a:ln w="12700">
            <a:solidFill>
              <a:srgbClr val="CADCFC"/>
            </a:solidFill>
            <a:prstDash val="solid"/>
          </a:ln>
        </p:spPr>
      </p:sp>
      <p:sp>
        <p:nvSpPr>
          <p:cNvPr id="37" name="Text 34"/>
          <p:cNvSpPr txBox="1"/>
          <p:nvPr/>
        </p:nvSpPr>
        <p:spPr>
          <a:xfrm>
            <a:off x="9107424" y="2880360"/>
            <a:ext cx="365760" cy="713232"/>
          </a:xfrm>
          <a:prstGeom prst="rect">
            <a:avLst/>
          </a:prstGeom>
          <a:noFill/>
          <a:ln/>
        </p:spPr>
        <p:txBody>
          <a:bodyPr wrap="square" lIns="0" tIns="0" rIns="0" bIns="0" rtlCol="0" anchor="ctr"/>
          <a:lstStyle/>
          <a:p>
            <a:pPr indent="0" marL="0">
              <a:buNone/>
            </a:pPr>
            <a:r>
              <a:rPr lang="en-US" sz="1800" b="1" dirty="0">
                <a:solidFill>
                  <a:srgbClr val="C9A227"/>
                </a:solidFill>
                <a:latin typeface="Cambria" pitchFamily="34" charset="0"/>
                <a:ea typeface="Cambria" pitchFamily="34" charset="-122"/>
                <a:cs typeface="Cambria" pitchFamily="34" charset="-120"/>
              </a:rPr>
              <a:t>8</a:t>
            </a:r>
            <a:endParaRPr lang="en-US" sz="1800" dirty="0"/>
          </a:p>
        </p:txBody>
      </p:sp>
      <p:sp>
        <p:nvSpPr>
          <p:cNvPr id="38" name="Text 35"/>
          <p:cNvSpPr txBox="1"/>
          <p:nvPr/>
        </p:nvSpPr>
        <p:spPr>
          <a:xfrm>
            <a:off x="9454896" y="2880360"/>
            <a:ext cx="2011680" cy="713232"/>
          </a:xfrm>
          <a:prstGeom prst="rect">
            <a:avLst/>
          </a:prstGeom>
          <a:noFill/>
          <a:ln/>
        </p:spPr>
        <p:txBody>
          <a:bodyPr wrap="square" lIns="0" tIns="0" rIns="0" bIns="0" rtlCol="0" anchor="ctr">
            <a:normAutofit/>
          </a:bodyPr>
          <a:lstStyle/>
          <a:p>
            <a:pPr indent="0" marL="0">
              <a:buNone/>
            </a:pPr>
            <a:r>
              <a:rPr lang="en-US" sz="1150" b="1" dirty="0">
                <a:solidFill>
                  <a:srgbClr val="1E2761"/>
                </a:solidFill>
                <a:latin typeface="Calibri" pitchFamily="34" charset="0"/>
                <a:ea typeface="Calibri" pitchFamily="34" charset="-122"/>
                <a:cs typeface="Calibri" pitchFamily="34" charset="-120"/>
              </a:rPr>
              <a:t>Sinov</a:t>
            </a:r>
            <a:endParaRPr lang="en-US" sz="1150" dirty="0"/>
          </a:p>
        </p:txBody>
      </p:sp>
      <p:sp>
        <p:nvSpPr>
          <p:cNvPr id="39" name="Text 36"/>
          <p:cNvSpPr txBox="1"/>
          <p:nvPr/>
        </p:nvSpPr>
        <p:spPr>
          <a:xfrm>
            <a:off x="548640" y="3840480"/>
            <a:ext cx="5486400" cy="228600"/>
          </a:xfrm>
          <a:prstGeom prst="rect">
            <a:avLst/>
          </a:prstGeom>
          <a:noFill/>
          <a:ln/>
        </p:spPr>
        <p:txBody>
          <a:bodyPr wrap="square" lIns="0" tIns="0" rIns="0" bIns="0" rtlCol="0" anchor="t"/>
          <a:lstStyle/>
          <a:p>
            <a:pPr indent="0" marL="0">
              <a:buNone/>
            </a:pPr>
            <a:r>
              <a:rPr lang="en-US" sz="950" b="1" spc="120" kern="0" dirty="0">
                <a:solidFill>
                  <a:srgbClr val="C9A227"/>
                </a:solidFill>
                <a:latin typeface="Calibri" pitchFamily="34" charset="0"/>
                <a:ea typeface="Calibri" pitchFamily="34" charset="-122"/>
                <a:cs typeface="Calibri" pitchFamily="34" charset="-120"/>
              </a:rPr>
              <a:t>REJALASHTIRILGAN REJIMLAR</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4114800"/>
          <a:ext cx="6949440" cy="914400"/>
        </p:xfrm>
        <a:graphic>
          <a:graphicData uri="http://schemas.openxmlformats.org/drawingml/2006/table">
            <a:tbl>
              <a:tblPr/>
              <a:tblGrid>
                <a:gridCol w="1920240"/>
                <a:gridCol w="5029200"/>
              </a:tblGrid>
              <a:tr h="30175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Parametr</a:t>
                      </a:r>
                      <a:endParaRPr lang="en-US" sz="1100" dirty="0">
                        <a:latin typeface="Calibri" charset="0"/>
                        <a:ea typeface="Calibri" charset="0"/>
                        <a:cs typeface="Calibri" charset="0"/>
                      </a:endParaRPr>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Qiymat</a:t>
                      </a:r>
                      <a:endParaRPr lang="en-US" sz="1100" dirty="0">
                        <a:latin typeface="Calibri" charset="0"/>
                        <a:ea typeface="Calibri" charset="0"/>
                        <a:cs typeface="Calibri" charset="0"/>
                      </a:endParaRPr>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r>
              <a:tr h="301752">
                <a:tc>
                  <a:txBody>
                    <a:bodyPr/>
                    <a:lstStyle/>
                    <a:p>
                      <a:pPr indent="0" marL="0">
                        <a:buNone/>
                      </a:pPr>
                      <a:r>
                        <a:rPr lang="en-US" sz="1150" b="1" dirty="0">
                          <a:solidFill>
                            <a:srgbClr val="1F2633"/>
                          </a:solidFill>
                          <a:latin typeface="Calibri" pitchFamily="34" charset="0"/>
                          <a:ea typeface="Calibri" pitchFamily="34" charset="-122"/>
                          <a:cs typeface="Calibri" pitchFamily="34" charset="-120"/>
                        </a:rPr>
                        <a:t>Chiqindi ulushi</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150" dirty="0">
                          <a:solidFill>
                            <a:srgbClr val="1F2633"/>
                          </a:solidFill>
                          <a:latin typeface="Calibri" pitchFamily="34" charset="0"/>
                          <a:ea typeface="Calibri" pitchFamily="34" charset="-122"/>
                          <a:cs typeface="Calibri" pitchFamily="34" charset="-120"/>
                        </a:rPr>
                        <a:t>0 (nazorat) · 10 · 20 · 30 · 40%</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r>
              <a:tr h="301752">
                <a:tc>
                  <a:txBody>
                    <a:bodyPr/>
                    <a:lstStyle/>
                    <a:p>
                      <a:pPr indent="0" marL="0">
                        <a:buNone/>
                      </a:pPr>
                      <a:r>
                        <a:rPr lang="en-US" sz="1150" b="1" dirty="0">
                          <a:solidFill>
                            <a:srgbClr val="1F2633"/>
                          </a:solidFill>
                          <a:latin typeface="Calibri" pitchFamily="34" charset="0"/>
                          <a:ea typeface="Calibri" pitchFamily="34" charset="-122"/>
                          <a:cs typeface="Calibri" pitchFamily="34" charset="-120"/>
                        </a:rPr>
                        <a:t>Bog‘lovchi</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150" dirty="0">
                          <a:solidFill>
                            <a:srgbClr val="1F2633"/>
                          </a:solidFill>
                          <a:latin typeface="Calibri" pitchFamily="34" charset="0"/>
                          <a:ea typeface="Calibri" pitchFamily="34" charset="-122"/>
                          <a:cs typeface="Calibri" pitchFamily="34" charset="-120"/>
                        </a:rPr>
                        <a:t>Portlandsement (asosiy), polimer — qiyos uchun</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r>
              <a:tr h="301752">
                <a:tc>
                  <a:txBody>
                    <a:bodyPr/>
                    <a:lstStyle/>
                    <a:p>
                      <a:pPr indent="0" marL="0">
                        <a:buNone/>
                      </a:pPr>
                      <a:r>
                        <a:rPr lang="en-US" sz="1150" b="1" dirty="0">
                          <a:solidFill>
                            <a:srgbClr val="1F2633"/>
                          </a:solidFill>
                          <a:latin typeface="Calibri" pitchFamily="34" charset="0"/>
                          <a:ea typeface="Calibri" pitchFamily="34" charset="-122"/>
                          <a:cs typeface="Calibri" pitchFamily="34" charset="-120"/>
                        </a:rPr>
                        <a:t>Quritish</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150" dirty="0">
                          <a:solidFill>
                            <a:srgbClr val="1F2633"/>
                          </a:solidFill>
                          <a:latin typeface="Calibri" pitchFamily="34" charset="0"/>
                          <a:ea typeface="Calibri" pitchFamily="34" charset="-122"/>
                          <a:cs typeface="Calibri" pitchFamily="34" charset="-120"/>
                        </a:rPr>
                        <a:t>Doimiy massagacha, </a:t>
                      </a:r>
                      <a:pPr indent="0" marL="0">
                        <a:buNone/>
                      </a:pPr>
                      <a:r>
                        <a:rPr lang="en-US" sz="1150" b="1" dirty="0">
                          <a:solidFill>
                            <a:srgbClr val="8A5A00"/>
                          </a:solidFill>
                          <a:highlight>
                            <a:srgbClr val="FFF1C2"/>
                          </a:highlight>
                          <a:latin typeface="Calibri" pitchFamily="34" charset="0"/>
                          <a:ea typeface="Calibri" pitchFamily="34" charset="-122"/>
                          <a:cs typeface="Calibri" pitchFamily="34" charset="-120"/>
                        </a:rPr>
                        <a:t>[harorat, °C]</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r>
              <a:tr h="301752">
                <a:tc>
                  <a:txBody>
                    <a:bodyPr/>
                    <a:lstStyle/>
                    <a:p>
                      <a:pPr indent="0" marL="0">
                        <a:buNone/>
                      </a:pPr>
                      <a:r>
                        <a:rPr lang="en-US" sz="1150" b="1" dirty="0">
                          <a:solidFill>
                            <a:srgbClr val="1F2633"/>
                          </a:solidFill>
                          <a:latin typeface="Calibri" pitchFamily="34" charset="0"/>
                          <a:ea typeface="Calibri" pitchFamily="34" charset="-122"/>
                          <a:cs typeface="Calibri" pitchFamily="34" charset="-120"/>
                        </a:rPr>
                        <a:t>Zarracha o‘lchami</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150" dirty="0">
                          <a:solidFill>
                            <a:srgbClr val="1F2633"/>
                          </a:solidFill>
                          <a:latin typeface="Calibri" pitchFamily="34" charset="0"/>
                          <a:ea typeface="Calibri" pitchFamily="34" charset="-122"/>
                          <a:cs typeface="Calibri" pitchFamily="34" charset="-120"/>
                        </a:rPr>
                        <a:t>Elash bilan belgilanadi, </a:t>
                      </a:r>
                      <a:pPr indent="0" marL="0">
                        <a:buNone/>
                      </a:pPr>
                      <a:r>
                        <a:rPr lang="en-US" sz="1150" b="1" dirty="0">
                          <a:solidFill>
                            <a:srgbClr val="8A5A00"/>
                          </a:solidFill>
                          <a:highlight>
                            <a:srgbClr val="FFF1C2"/>
                          </a:highlight>
                          <a:latin typeface="Calibri" pitchFamily="34" charset="0"/>
                          <a:ea typeface="Calibri" pitchFamily="34" charset="-122"/>
                          <a:cs typeface="Calibri" pitchFamily="34" charset="-120"/>
                        </a:rPr>
                        <a:t>[mm]</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r>
              <a:tr h="301752">
                <a:tc>
                  <a:txBody>
                    <a:bodyPr/>
                    <a:lstStyle/>
                    <a:p>
                      <a:pPr indent="0" marL="0">
                        <a:buNone/>
                      </a:pPr>
                      <a:r>
                        <a:rPr lang="en-US" sz="1150" b="1" dirty="0">
                          <a:solidFill>
                            <a:srgbClr val="1F2633"/>
                          </a:solidFill>
                          <a:latin typeface="Calibri" pitchFamily="34" charset="0"/>
                          <a:ea typeface="Calibri" pitchFamily="34" charset="-122"/>
                          <a:cs typeface="Calibri" pitchFamily="34" charset="-120"/>
                        </a:rPr>
                        <a:t>Qotish</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150" dirty="0">
                          <a:solidFill>
                            <a:srgbClr val="1F2633"/>
                          </a:solidFill>
                          <a:latin typeface="Calibri" pitchFamily="34" charset="0"/>
                          <a:ea typeface="Calibri" pitchFamily="34" charset="-122"/>
                          <a:cs typeface="Calibri" pitchFamily="34" charset="-120"/>
                        </a:rPr>
                        <a:t>7 va 28 sutka, normal sharoit</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r>
              <a:tr h="301752">
                <a:tc>
                  <a:txBody>
                    <a:bodyPr/>
                    <a:lstStyle/>
                    <a:p>
                      <a:pPr indent="0" marL="0">
                        <a:buNone/>
                      </a:pPr>
                      <a:r>
                        <a:rPr lang="en-US" sz="1150" b="1" dirty="0">
                          <a:solidFill>
                            <a:srgbClr val="1F2633"/>
                          </a:solidFill>
                          <a:latin typeface="Calibri" pitchFamily="34" charset="0"/>
                          <a:ea typeface="Calibri" pitchFamily="34" charset="-122"/>
                          <a:cs typeface="Calibri" pitchFamily="34" charset="-120"/>
                        </a:rPr>
                        <a:t>Takrorlar</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150" dirty="0">
                          <a:solidFill>
                            <a:srgbClr val="1F2633"/>
                          </a:solidFill>
                          <a:latin typeface="Calibri" pitchFamily="34" charset="0"/>
                          <a:ea typeface="Calibri" pitchFamily="34" charset="-122"/>
                          <a:cs typeface="Calibri" pitchFamily="34" charset="-120"/>
                        </a:rPr>
                        <a:t>Har bir tarkib uchun kamida 3 ta namuna</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r>
            </a:tbl>
          </a:graphicData>
        </a:graphic>
      </p:graphicFrame>
      <p:sp>
        <p:nvSpPr>
          <p:cNvPr id="41" name="Shape 37"/>
          <p:cNvSpPr/>
          <p:nvPr/>
        </p:nvSpPr>
        <p:spPr>
          <a:xfrm>
            <a:off x="7726680" y="3840480"/>
            <a:ext cx="3931920" cy="2377440"/>
          </a:xfrm>
          <a:prstGeom prst="roundRect">
            <a:avLst>
              <a:gd name="adj" fmla="val 2308"/>
            </a:avLst>
          </a:prstGeom>
          <a:solidFill>
            <a:srgbClr val="F4F6FB"/>
          </a:solidFill>
          <a:ln w="12700">
            <a:solidFill>
              <a:srgbClr val="CADCFC"/>
            </a:solidFill>
            <a:prstDash val="solid"/>
          </a:ln>
        </p:spPr>
      </p:sp>
      <p:sp>
        <p:nvSpPr>
          <p:cNvPr id="42" name="Text 38"/>
          <p:cNvSpPr txBox="1"/>
          <p:nvPr/>
        </p:nvSpPr>
        <p:spPr>
          <a:xfrm>
            <a:off x="7909560" y="3950208"/>
            <a:ext cx="3657600" cy="228600"/>
          </a:xfrm>
          <a:prstGeom prst="rect">
            <a:avLst/>
          </a:prstGeom>
          <a:noFill/>
          <a:ln/>
        </p:spPr>
        <p:txBody>
          <a:bodyPr wrap="square" lIns="0" tIns="0" rIns="0" bIns="0" rtlCol="0" anchor="t"/>
          <a:lstStyle/>
          <a:p>
            <a:pPr indent="0" marL="0">
              <a:buNone/>
            </a:pPr>
            <a:r>
              <a:rPr lang="en-US" sz="950" b="1" spc="120" kern="0" dirty="0">
                <a:solidFill>
                  <a:srgbClr val="C9A227"/>
                </a:solidFill>
                <a:latin typeface="Calibri" pitchFamily="34" charset="0"/>
                <a:ea typeface="Calibri" pitchFamily="34" charset="-122"/>
                <a:cs typeface="Calibri" pitchFamily="34" charset="-120"/>
              </a:rPr>
              <a:t>ANALITIK USKUNALAR</a:t>
            </a:r>
            <a:endParaRPr lang="en-US" sz="950" dirty="0"/>
          </a:p>
        </p:txBody>
      </p:sp>
      <p:sp>
        <p:nvSpPr>
          <p:cNvPr id="43" name="Text 39"/>
          <p:cNvSpPr txBox="1"/>
          <p:nvPr/>
        </p:nvSpPr>
        <p:spPr>
          <a:xfrm>
            <a:off x="7909560" y="4224528"/>
            <a:ext cx="2331720" cy="1691640"/>
          </a:xfrm>
          <a:prstGeom prst="rect">
            <a:avLst/>
          </a:prstGeom>
          <a:noFill/>
          <a:ln/>
        </p:spPr>
        <p:txBody>
          <a:bodyPr wrap="square" lIns="0" tIns="0" rIns="0" bIns="0" rtlCol="0" anchor="t">
            <a:normAutofit/>
          </a:bodyPr>
          <a:lstStyle/>
          <a:p>
            <a:pPr marL="342900" indent="-342900">
              <a:spcAft>
                <a:spcPts val="500"/>
              </a:spcAft>
              <a:buSzPct val="100000"/>
              <a:buChar char="■"/>
            </a:pPr>
            <a:r>
              <a:rPr lang="en-US" sz="1150" dirty="0">
                <a:solidFill>
                  <a:srgbClr val="1F2633"/>
                </a:solidFill>
                <a:latin typeface="Calibri" pitchFamily="34" charset="0"/>
                <a:ea typeface="Calibri" pitchFamily="34" charset="-122"/>
                <a:cs typeface="Calibri" pitchFamily="34" charset="-120"/>
              </a:rPr>
              <a:t>PXRD — faza tarkibi</a:t>
            </a:r>
            <a:endParaRPr lang="en-US" sz="1150" dirty="0"/>
          </a:p>
          <a:p>
            <a:pPr marL="342900" indent="-342900">
              <a:spcAft>
                <a:spcPts val="500"/>
              </a:spcAft>
              <a:buSzPct val="100000"/>
              <a:buChar char="■"/>
            </a:pPr>
            <a:r>
              <a:rPr lang="en-US" sz="1150" dirty="0">
                <a:solidFill>
                  <a:srgbClr val="1F2633"/>
                </a:solidFill>
                <a:latin typeface="Calibri" pitchFamily="34" charset="0"/>
                <a:ea typeface="Calibri" pitchFamily="34" charset="-122"/>
                <a:cs typeface="Calibri" pitchFamily="34" charset="-120"/>
              </a:rPr>
              <a:t>SEM-EDS — mikrostruktura</a:t>
            </a:r>
            <a:endParaRPr lang="en-US" sz="1150" dirty="0"/>
          </a:p>
          <a:p>
            <a:pPr marL="342900" indent="-342900">
              <a:spcAft>
                <a:spcPts val="500"/>
              </a:spcAft>
              <a:buSzPct val="100000"/>
              <a:buChar char="■"/>
            </a:pPr>
            <a:r>
              <a:rPr lang="en-US" sz="1150" dirty="0">
                <a:solidFill>
                  <a:srgbClr val="1F2633"/>
                </a:solidFill>
                <a:latin typeface="Calibri" pitchFamily="34" charset="0"/>
                <a:ea typeface="Calibri" pitchFamily="34" charset="-122"/>
                <a:cs typeface="Calibri" pitchFamily="34" charset="-120"/>
              </a:rPr>
              <a:t>FTIR — funksional guruhlar</a:t>
            </a:r>
            <a:endParaRPr lang="en-US" sz="1150" dirty="0"/>
          </a:p>
          <a:p>
            <a:pPr marL="342900" indent="-342900">
              <a:spcAft>
                <a:spcPts val="500"/>
              </a:spcAft>
              <a:buSzPct val="100000"/>
              <a:buChar char="■"/>
            </a:pPr>
            <a:r>
              <a:rPr lang="en-US" sz="1150" dirty="0">
                <a:solidFill>
                  <a:srgbClr val="1F2633"/>
                </a:solidFill>
                <a:latin typeface="Calibri" pitchFamily="34" charset="0"/>
                <a:ea typeface="Calibri" pitchFamily="34" charset="-122"/>
                <a:cs typeface="Calibri" pitchFamily="34" charset="-120"/>
              </a:rPr>
              <a:t>TG/DSC — termik xulq</a:t>
            </a:r>
            <a:endParaRPr lang="en-US" sz="1150" dirty="0"/>
          </a:p>
          <a:p>
            <a:pPr marL="342900" indent="-342900">
              <a:spcAft>
                <a:spcPts val="500"/>
              </a:spcAft>
              <a:buSzPct val="100000"/>
              <a:buChar char="■"/>
            </a:pPr>
            <a:r>
              <a:rPr lang="en-US" sz="1150" dirty="0">
                <a:solidFill>
                  <a:srgbClr val="1F2633"/>
                </a:solidFill>
                <a:latin typeface="Calibri" pitchFamily="34" charset="0"/>
                <a:ea typeface="Calibri" pitchFamily="34" charset="-122"/>
                <a:cs typeface="Calibri" pitchFamily="34" charset="-120"/>
              </a:rPr>
              <a:t>Gidravlik press — mustahkamlik</a:t>
            </a:r>
            <a:endParaRPr lang="en-US" sz="1150" dirty="0"/>
          </a:p>
        </p:txBody>
      </p:sp>
      <p:pic>
        <p:nvPicPr>
          <p:cNvPr id="44" name="Image 0" descr="/tmp/claude-0/-home-claude/1a0f1fcd-2772-57a1-9475-1557efb8a840/scratchpad/phd/img/a23.jpg">    </p:cNvPr>
          <p:cNvPicPr>
            <a:picLocks noChangeAspect="1"/>
          </p:cNvPicPr>
          <p:nvPr/>
        </p:nvPicPr>
        <p:blipFill>
          <a:blip r:embed="rId1"/>
          <a:srcRect l="0" r="0" t="0" b="0"/>
          <a:stretch/>
        </p:blipFill>
        <p:spPr>
          <a:xfrm>
            <a:off x="10332720" y="4224528"/>
            <a:ext cx="1188720" cy="1463040"/>
          </a:xfrm>
          <a:prstGeom prst="rect">
            <a:avLst/>
          </a:prstGeom>
        </p:spPr>
      </p:pic>
      <p:sp>
        <p:nvSpPr>
          <p:cNvPr id="45" name="Text 40"/>
          <p:cNvSpPr txBox="1"/>
          <p:nvPr/>
        </p:nvSpPr>
        <p:spPr>
          <a:xfrm>
            <a:off x="7909560" y="5897880"/>
            <a:ext cx="3566160" cy="256032"/>
          </a:xfrm>
          <a:prstGeom prst="rect">
            <a:avLst/>
          </a:prstGeom>
          <a:noFill/>
          <a:ln/>
        </p:spPr>
        <p:txBody>
          <a:bodyPr wrap="square" lIns="0" tIns="0" rIns="0" bIns="0" rtlCol="0" anchor="t"/>
          <a:lstStyle/>
          <a:p>
            <a:pPr indent="0" marL="0">
              <a:buNone/>
            </a:pPr>
            <a:r>
              <a:rPr lang="en-US" sz="950" i="1" dirty="0">
                <a:solidFill>
                  <a:srgbClr val="58607C"/>
                </a:solidFill>
                <a:latin typeface="Calibri" pitchFamily="34" charset="0"/>
                <a:ea typeface="Calibri" pitchFamily="34" charset="-122"/>
                <a:cs typeface="Calibri" pitchFamily="34" charset="-120"/>
              </a:rPr>
              <a:t>Mavjudligi 12-slaydda</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7772400" cy="228600"/>
          </a:xfrm>
          <a:prstGeom prst="rect">
            <a:avLst/>
          </a:prstGeom>
          <a:noFill/>
          <a:ln/>
        </p:spPr>
        <p:txBody>
          <a:bodyPr wrap="square" lIns="0" tIns="0" rIns="0" bIns="0" rtlCol="0" anchor="t"/>
          <a:lstStyle/>
          <a:p>
            <a:pPr indent="0" marL="0">
              <a:buNone/>
            </a:pPr>
            <a:r>
              <a:rPr lang="en-US" sz="1000" b="1" spc="150" kern="0" dirty="0">
                <a:solidFill>
                  <a:srgbClr val="C9A227"/>
                </a:solidFill>
                <a:latin typeface="Calibri" pitchFamily="34" charset="0"/>
                <a:ea typeface="Calibri" pitchFamily="34" charset="-122"/>
                <a:cs typeface="Calibri" pitchFamily="34" charset="-120"/>
              </a:rPr>
              <a:t>DASTURNING 11-BANDI · B BLOKI</a:t>
            </a:r>
            <a:endParaRPr lang="en-US" sz="1000" dirty="0"/>
          </a:p>
        </p:txBody>
      </p:sp>
      <p:sp>
        <p:nvSpPr>
          <p:cNvPr id="3" name="Text 1"/>
          <p:cNvSpPr txBox="1"/>
          <p:nvPr/>
        </p:nvSpPr>
        <p:spPr>
          <a:xfrm>
            <a:off x="548640" y="658368"/>
            <a:ext cx="8778240" cy="868680"/>
          </a:xfrm>
          <a:prstGeom prst="rect">
            <a:avLst/>
          </a:prstGeom>
          <a:noFill/>
          <a:ln/>
        </p:spPr>
        <p:txBody>
          <a:bodyPr wrap="square" lIns="0" tIns="0" rIns="0" bIns="0" rtlCol="0" anchor="ctr">
            <a:normAutofit/>
          </a:bodyPr>
          <a:lstStyle/>
          <a:p>
            <a:pPr indent="0" marL="0">
              <a:buNone/>
            </a:pPr>
            <a:r>
              <a:rPr lang="en-US" sz="2400" b="1" dirty="0">
                <a:solidFill>
                  <a:srgbClr val="1E2761"/>
                </a:solidFill>
                <a:latin typeface="Cambria" pitchFamily="34" charset="0"/>
                <a:ea typeface="Cambria" pitchFamily="34" charset="-122"/>
                <a:cs typeface="Cambria" pitchFamily="34" charset="-120"/>
              </a:rPr>
              <a:t>Maqsadli xossalar, xomashyo bazasi va ekologik jihatlar</a:t>
            </a:r>
            <a:endParaRPr lang="en-US" sz="2400" dirty="0"/>
          </a:p>
        </p:txBody>
      </p:sp>
      <p:sp>
        <p:nvSpPr>
          <p:cNvPr id="4" name="mezon"/>
          <p:cNvSpPr/>
          <p:nvPr/>
        </p:nvSpPr>
        <p:spPr>
          <a:xfrm>
            <a:off x="9921240" y="457200"/>
            <a:ext cx="1737360" cy="566928"/>
          </a:xfrm>
          <a:prstGeom prst="roundRect">
            <a:avLst>
              <a:gd name="adj" fmla="val 9677"/>
            </a:avLst>
          </a:prstGeom>
          <a:solidFill>
            <a:srgbClr val="1E2761"/>
          </a:solidFill>
          <a:ln w="12700">
            <a:solidFill>
              <a:srgbClr val="1E2761"/>
            </a:solidFill>
            <a:prstDash val="solid"/>
          </a:ln>
        </p:spPr>
      </p:sp>
      <p:sp>
        <p:nvSpPr>
          <p:cNvPr id="5" name="Text 3"/>
          <p:cNvSpPr txBox="1"/>
          <p:nvPr/>
        </p:nvSpPr>
        <p:spPr>
          <a:xfrm>
            <a:off x="9921240" y="457200"/>
            <a:ext cx="1737360" cy="566928"/>
          </a:xfrm>
          <a:prstGeom prst="rect">
            <a:avLst/>
          </a:prstGeom>
          <a:noFill/>
          <a:ln/>
        </p:spPr>
        <p:txBody>
          <a:bodyPr wrap="square" lIns="0" tIns="0" rIns="0" bIns="0" rtlCol="0" anchor="ctr"/>
          <a:lstStyle/>
          <a:p>
            <a:pPr algn="ctr" indent="0" marL="0">
              <a:buNone/>
            </a:pPr>
            <a:r>
              <a:rPr lang="en-US" sz="1100" b="1" spc="100" kern="0" dirty="0">
                <a:solidFill>
                  <a:srgbClr val="C9A227"/>
                </a:solidFill>
                <a:latin typeface="Calibri" pitchFamily="34" charset="0"/>
                <a:ea typeface="Calibri" pitchFamily="34" charset="-122"/>
                <a:cs typeface="Calibri" pitchFamily="34" charset="-120"/>
              </a:rPr>
              <a:t>2-MEZON</a:t>
            </a:r>
            <a:endParaRPr lang="en-US" sz="1100" dirty="0"/>
          </a:p>
        </p:txBody>
      </p:sp>
      <p:sp>
        <p:nvSpPr>
          <p:cNvPr id="6" name="Text 4"/>
          <p:cNvSpPr txBox="1"/>
          <p:nvPr/>
        </p:nvSpPr>
        <p:spPr>
          <a:xfrm>
            <a:off x="10241280" y="6419088"/>
            <a:ext cx="1417320" cy="274320"/>
          </a:xfrm>
          <a:prstGeom prst="rect">
            <a:avLst/>
          </a:prstGeom>
          <a:noFill/>
          <a:ln/>
        </p:spPr>
        <p:txBody>
          <a:bodyPr wrap="square" lIns="0" tIns="0" rIns="0" bIns="0" rtlCol="0" anchor="t"/>
          <a:lstStyle/>
          <a:p>
            <a:pPr algn="r" indent="0" marL="0">
              <a:buNone/>
            </a:pPr>
            <a:r>
              <a:rPr lang="en-US" sz="900" dirty="0">
                <a:solidFill>
                  <a:srgbClr val="8A93AE"/>
                </a:solidFill>
                <a:latin typeface="Calibri" pitchFamily="34" charset="0"/>
                <a:ea typeface="Calibri" pitchFamily="34" charset="-122"/>
                <a:cs typeface="Calibri" pitchFamily="34" charset="-120"/>
              </a:rPr>
              <a:t>11 / 15</a:t>
            </a:r>
            <a:endParaRPr lang="en-US" sz="900" dirty="0"/>
          </a:p>
        </p:txBody>
      </p:sp>
      <p:sp>
        <p:nvSpPr>
          <p:cNvPr id="8" name="Text 5"/>
          <p:cNvSpPr txBox="1"/>
          <p:nvPr/>
        </p:nvSpPr>
        <p:spPr>
          <a:xfrm>
            <a:off x="548640" y="1719072"/>
            <a:ext cx="10972800" cy="228600"/>
          </a:xfrm>
          <a:prstGeom prst="rect">
            <a:avLst/>
          </a:prstGeom>
          <a:noFill/>
          <a:ln/>
        </p:spPr>
        <p:txBody>
          <a:bodyPr wrap="square" lIns="0" tIns="0" rIns="0" bIns="0" rtlCol="0" anchor="t"/>
          <a:lstStyle/>
          <a:p>
            <a:pPr indent="0" marL="0">
              <a:buNone/>
            </a:pPr>
            <a:r>
              <a:rPr lang="en-US" sz="950" b="1" spc="120" kern="0" dirty="0">
                <a:solidFill>
                  <a:srgbClr val="C9A227"/>
                </a:solidFill>
                <a:latin typeface="Calibri" pitchFamily="34" charset="0"/>
                <a:ea typeface="Calibri" pitchFamily="34" charset="-122"/>
                <a:cs typeface="Calibri" pitchFamily="34" charset="-120"/>
              </a:rPr>
              <a:t>MAQSADLI KO‘RSATKICHLAR (DEVOR TOSHLARI UCHUN, GOST 6133-2019 ASOSIDA)</a:t>
            </a:r>
            <a:endParaRPr lang="en-US" sz="950" dirty="0"/>
          </a:p>
        </p:txBody>
      </p:sp>
      <p:sp>
        <p:nvSpPr>
          <p:cNvPr id="9" name="Shape 6"/>
          <p:cNvSpPr/>
          <p:nvPr/>
        </p:nvSpPr>
        <p:spPr>
          <a:xfrm>
            <a:off x="548640" y="2011680"/>
            <a:ext cx="2670048" cy="1463040"/>
          </a:xfrm>
          <a:prstGeom prst="roundRect">
            <a:avLst>
              <a:gd name="adj" fmla="val 3750"/>
            </a:avLst>
          </a:prstGeom>
          <a:solidFill>
            <a:srgbClr val="1E2761"/>
          </a:solidFill>
          <a:ln w="12700">
            <a:solidFill>
              <a:srgbClr val="1E2761"/>
            </a:solidFill>
            <a:prstDash val="solid"/>
          </a:ln>
        </p:spPr>
      </p:sp>
      <p:sp>
        <p:nvSpPr>
          <p:cNvPr id="10" name="Text 7"/>
          <p:cNvSpPr txBox="1"/>
          <p:nvPr/>
        </p:nvSpPr>
        <p:spPr>
          <a:xfrm>
            <a:off x="731520" y="2103120"/>
            <a:ext cx="2304288" cy="685800"/>
          </a:xfrm>
          <a:prstGeom prst="rect">
            <a:avLst/>
          </a:prstGeom>
          <a:noFill/>
          <a:ln/>
        </p:spPr>
        <p:txBody>
          <a:bodyPr wrap="square" lIns="0" tIns="0" rIns="0" bIns="0" rtlCol="0" anchor="ctr">
            <a:normAutofit/>
          </a:bodyPr>
          <a:lstStyle/>
          <a:p>
            <a:pPr indent="0" marL="0">
              <a:buNone/>
            </a:pPr>
            <a:r>
              <a:rPr lang="en-US" sz="3000" b="1" dirty="0">
                <a:solidFill>
                  <a:srgbClr val="C9A227"/>
                </a:solidFill>
                <a:latin typeface="Cambria" pitchFamily="34" charset="0"/>
                <a:ea typeface="Cambria" pitchFamily="34" charset="-122"/>
                <a:cs typeface="Cambria" pitchFamily="34" charset="-120"/>
              </a:rPr>
              <a:t>≥ M50</a:t>
            </a:r>
            <a:endParaRPr lang="en-US" sz="3000" dirty="0"/>
          </a:p>
        </p:txBody>
      </p:sp>
      <p:sp>
        <p:nvSpPr>
          <p:cNvPr id="11" name="Text 8"/>
          <p:cNvSpPr txBox="1"/>
          <p:nvPr/>
        </p:nvSpPr>
        <p:spPr>
          <a:xfrm>
            <a:off x="731520" y="2788920"/>
            <a:ext cx="2304288" cy="621792"/>
          </a:xfrm>
          <a:prstGeom prst="rect">
            <a:avLst/>
          </a:prstGeom>
          <a:noFill/>
          <a:ln/>
        </p:spPr>
        <p:txBody>
          <a:bodyPr wrap="square" lIns="0" tIns="0" rIns="0" bIns="0" rtlCol="0" anchor="t">
            <a:normAutofit/>
          </a:bodyPr>
          <a:lstStyle/>
          <a:p>
            <a:pPr indent="0" marL="0">
              <a:buNone/>
            </a:pPr>
            <a:r>
              <a:rPr lang="en-US" sz="1150" dirty="0">
                <a:solidFill>
                  <a:srgbClr val="FFFFFF"/>
                </a:solidFill>
                <a:latin typeface="Calibri" pitchFamily="34" charset="0"/>
                <a:ea typeface="Calibri" pitchFamily="34" charset="-122"/>
                <a:cs typeface="Calibri" pitchFamily="34" charset="-120"/>
              </a:rPr>
              <a:t>siqilishdagi mustahkamlik markasi (standartda M25–M300)</a:t>
            </a:r>
            <a:endParaRPr lang="en-US" sz="1150" dirty="0"/>
          </a:p>
        </p:txBody>
      </p:sp>
      <p:sp>
        <p:nvSpPr>
          <p:cNvPr id="12" name="Shape 9"/>
          <p:cNvSpPr/>
          <p:nvPr/>
        </p:nvSpPr>
        <p:spPr>
          <a:xfrm>
            <a:off x="3364992" y="2011680"/>
            <a:ext cx="2670048" cy="1463040"/>
          </a:xfrm>
          <a:prstGeom prst="roundRect">
            <a:avLst>
              <a:gd name="adj" fmla="val 3750"/>
            </a:avLst>
          </a:prstGeom>
          <a:solidFill>
            <a:srgbClr val="1E2761"/>
          </a:solidFill>
          <a:ln w="12700">
            <a:solidFill>
              <a:srgbClr val="1E2761"/>
            </a:solidFill>
            <a:prstDash val="solid"/>
          </a:ln>
        </p:spPr>
      </p:sp>
      <p:sp>
        <p:nvSpPr>
          <p:cNvPr id="13" name="Text 10"/>
          <p:cNvSpPr txBox="1"/>
          <p:nvPr/>
        </p:nvSpPr>
        <p:spPr>
          <a:xfrm>
            <a:off x="3547872" y="2103120"/>
            <a:ext cx="2304288" cy="685800"/>
          </a:xfrm>
          <a:prstGeom prst="rect">
            <a:avLst/>
          </a:prstGeom>
          <a:noFill/>
          <a:ln/>
        </p:spPr>
        <p:txBody>
          <a:bodyPr wrap="square" lIns="0" tIns="0" rIns="0" bIns="0" rtlCol="0" anchor="ctr">
            <a:normAutofit/>
          </a:bodyPr>
          <a:lstStyle/>
          <a:p>
            <a:pPr indent="0" marL="0">
              <a:buNone/>
            </a:pPr>
            <a:r>
              <a:rPr lang="en-US" sz="3000" b="1" dirty="0">
                <a:solidFill>
                  <a:srgbClr val="C9A227"/>
                </a:solidFill>
                <a:latin typeface="Cambria" pitchFamily="34" charset="0"/>
                <a:ea typeface="Cambria" pitchFamily="34" charset="-122"/>
                <a:cs typeface="Cambria" pitchFamily="34" charset="-120"/>
              </a:rPr>
              <a:t>≥ F25</a:t>
            </a:r>
            <a:endParaRPr lang="en-US" sz="3000" dirty="0"/>
          </a:p>
        </p:txBody>
      </p:sp>
      <p:sp>
        <p:nvSpPr>
          <p:cNvPr id="14" name="Text 11"/>
          <p:cNvSpPr txBox="1"/>
          <p:nvPr/>
        </p:nvSpPr>
        <p:spPr>
          <a:xfrm>
            <a:off x="3547872" y="2788920"/>
            <a:ext cx="2304288" cy="621792"/>
          </a:xfrm>
          <a:prstGeom prst="rect">
            <a:avLst/>
          </a:prstGeom>
          <a:noFill/>
          <a:ln/>
        </p:spPr>
        <p:txBody>
          <a:bodyPr wrap="square" lIns="0" tIns="0" rIns="0" bIns="0" rtlCol="0" anchor="t">
            <a:normAutofit/>
          </a:bodyPr>
          <a:lstStyle/>
          <a:p>
            <a:pPr indent="0" marL="0">
              <a:buNone/>
            </a:pPr>
            <a:r>
              <a:rPr lang="en-US" sz="1150" dirty="0">
                <a:solidFill>
                  <a:srgbClr val="FFFFFF"/>
                </a:solidFill>
                <a:latin typeface="Calibri" pitchFamily="34" charset="0"/>
                <a:ea typeface="Calibri" pitchFamily="34" charset="-122"/>
                <a:cs typeface="Calibri" pitchFamily="34" charset="-120"/>
              </a:rPr>
              <a:t>sovuqqa chidamlilik markasi (standartda F15–F200)</a:t>
            </a:r>
            <a:endParaRPr lang="en-US" sz="1150" dirty="0"/>
          </a:p>
        </p:txBody>
      </p:sp>
      <p:sp>
        <p:nvSpPr>
          <p:cNvPr id="15" name="Shape 12"/>
          <p:cNvSpPr/>
          <p:nvPr/>
        </p:nvSpPr>
        <p:spPr>
          <a:xfrm>
            <a:off x="6181344" y="2011680"/>
            <a:ext cx="2670048" cy="1463040"/>
          </a:xfrm>
          <a:prstGeom prst="roundRect">
            <a:avLst>
              <a:gd name="adj" fmla="val 3750"/>
            </a:avLst>
          </a:prstGeom>
          <a:solidFill>
            <a:srgbClr val="1E2761"/>
          </a:solidFill>
          <a:ln w="12700">
            <a:solidFill>
              <a:srgbClr val="1E2761"/>
            </a:solidFill>
            <a:prstDash val="solid"/>
          </a:ln>
        </p:spPr>
      </p:sp>
      <p:sp>
        <p:nvSpPr>
          <p:cNvPr id="16" name="Text 13"/>
          <p:cNvSpPr txBox="1"/>
          <p:nvPr/>
        </p:nvSpPr>
        <p:spPr>
          <a:xfrm>
            <a:off x="6364224" y="2103120"/>
            <a:ext cx="2304288" cy="685800"/>
          </a:xfrm>
          <a:prstGeom prst="rect">
            <a:avLst/>
          </a:prstGeom>
          <a:noFill/>
          <a:ln/>
        </p:spPr>
        <p:txBody>
          <a:bodyPr wrap="square" lIns="0" tIns="0" rIns="0" bIns="0" rtlCol="0" anchor="ctr">
            <a:normAutofit/>
          </a:bodyPr>
          <a:lstStyle/>
          <a:p>
            <a:pPr indent="0" marL="0">
              <a:buNone/>
            </a:pPr>
            <a:r>
              <a:rPr lang="en-US" sz="3000" b="1" dirty="0">
                <a:solidFill>
                  <a:srgbClr val="C9A227"/>
                </a:solidFill>
                <a:latin typeface="Cambria" pitchFamily="34" charset="0"/>
                <a:ea typeface="Cambria" pitchFamily="34" charset="-122"/>
                <a:cs typeface="Cambria" pitchFamily="34" charset="-120"/>
              </a:rPr>
              <a:t>≥ 10%</a:t>
            </a:r>
            <a:endParaRPr lang="en-US" sz="3000" dirty="0"/>
          </a:p>
        </p:txBody>
      </p:sp>
      <p:sp>
        <p:nvSpPr>
          <p:cNvPr id="17" name="Text 14"/>
          <p:cNvSpPr txBox="1"/>
          <p:nvPr/>
        </p:nvSpPr>
        <p:spPr>
          <a:xfrm>
            <a:off x="6364224" y="2788920"/>
            <a:ext cx="2304288" cy="621792"/>
          </a:xfrm>
          <a:prstGeom prst="rect">
            <a:avLst/>
          </a:prstGeom>
          <a:noFill/>
          <a:ln/>
        </p:spPr>
        <p:txBody>
          <a:bodyPr wrap="square" lIns="0" tIns="0" rIns="0" bIns="0" rtlCol="0" anchor="t">
            <a:normAutofit/>
          </a:bodyPr>
          <a:lstStyle/>
          <a:p>
            <a:pPr indent="0" marL="0">
              <a:buNone/>
            </a:pPr>
            <a:r>
              <a:rPr lang="en-US" sz="1150" dirty="0">
                <a:solidFill>
                  <a:srgbClr val="FFFFFF"/>
                </a:solidFill>
                <a:latin typeface="Calibri" pitchFamily="34" charset="0"/>
                <a:ea typeface="Calibri" pitchFamily="34" charset="-122"/>
                <a:cs typeface="Calibri" pitchFamily="34" charset="-120"/>
              </a:rPr>
              <a:t>chiqindi ulushi — boshlang‘ich maqsad, tajribada aniqlashtiriladi</a:t>
            </a:r>
            <a:endParaRPr lang="en-US" sz="1150" dirty="0"/>
          </a:p>
        </p:txBody>
      </p:sp>
      <p:sp>
        <p:nvSpPr>
          <p:cNvPr id="18" name="Shape 15"/>
          <p:cNvSpPr/>
          <p:nvPr/>
        </p:nvSpPr>
        <p:spPr>
          <a:xfrm>
            <a:off x="8997696" y="2011680"/>
            <a:ext cx="2670048" cy="1463040"/>
          </a:xfrm>
          <a:prstGeom prst="roundRect">
            <a:avLst>
              <a:gd name="adj" fmla="val 3750"/>
            </a:avLst>
          </a:prstGeom>
          <a:solidFill>
            <a:srgbClr val="1E2761"/>
          </a:solidFill>
          <a:ln w="12700">
            <a:solidFill>
              <a:srgbClr val="1E2761"/>
            </a:solidFill>
            <a:prstDash val="solid"/>
          </a:ln>
        </p:spPr>
      </p:sp>
      <p:sp>
        <p:nvSpPr>
          <p:cNvPr id="19" name="Text 16"/>
          <p:cNvSpPr txBox="1"/>
          <p:nvPr/>
        </p:nvSpPr>
        <p:spPr>
          <a:xfrm>
            <a:off x="9180576" y="2103120"/>
            <a:ext cx="2304288" cy="685800"/>
          </a:xfrm>
          <a:prstGeom prst="rect">
            <a:avLst/>
          </a:prstGeom>
          <a:noFill/>
          <a:ln/>
        </p:spPr>
        <p:txBody>
          <a:bodyPr wrap="square" lIns="0" tIns="0" rIns="0" bIns="0" rtlCol="0" anchor="ctr">
            <a:normAutofit/>
          </a:bodyPr>
          <a:lstStyle/>
          <a:p>
            <a:pPr indent="0" marL="0">
              <a:buNone/>
            </a:pPr>
            <a:r>
              <a:rPr lang="en-US" sz="3000" b="1" dirty="0">
                <a:solidFill>
                  <a:srgbClr val="C9A227"/>
                </a:solidFill>
                <a:latin typeface="Cambria" pitchFamily="34" charset="0"/>
                <a:ea typeface="Cambria" pitchFamily="34" charset="-122"/>
                <a:cs typeface="Cambria" pitchFamily="34" charset="-120"/>
              </a:rPr>
              <a:t>≤ me’yor</a:t>
            </a:r>
            <a:endParaRPr lang="en-US" sz="3000" dirty="0"/>
          </a:p>
        </p:txBody>
      </p:sp>
      <p:sp>
        <p:nvSpPr>
          <p:cNvPr id="20" name="Text 17"/>
          <p:cNvSpPr txBox="1"/>
          <p:nvPr/>
        </p:nvSpPr>
        <p:spPr>
          <a:xfrm>
            <a:off x="9180576" y="2788920"/>
            <a:ext cx="2304288" cy="621792"/>
          </a:xfrm>
          <a:prstGeom prst="rect">
            <a:avLst/>
          </a:prstGeom>
          <a:noFill/>
          <a:ln/>
        </p:spPr>
        <p:txBody>
          <a:bodyPr wrap="square" lIns="0" tIns="0" rIns="0" bIns="0" rtlCol="0" anchor="t">
            <a:normAutofit/>
          </a:bodyPr>
          <a:lstStyle/>
          <a:p>
            <a:pPr indent="0" marL="0">
              <a:buNone/>
            </a:pPr>
            <a:r>
              <a:rPr lang="en-US" sz="1150" dirty="0">
                <a:solidFill>
                  <a:srgbClr val="FFFFFF"/>
                </a:solidFill>
                <a:latin typeface="Calibri" pitchFamily="34" charset="0"/>
                <a:ea typeface="Calibri" pitchFamily="34" charset="-122"/>
                <a:cs typeface="Calibri" pitchFamily="34" charset="-120"/>
              </a:rPr>
              <a:t>xavfli komponentlar yuvilib chiqishi amaldagi me’yorlardan oshmasligi</a:t>
            </a:r>
            <a:endParaRPr lang="en-US" sz="1150" dirty="0"/>
          </a:p>
        </p:txBody>
      </p:sp>
      <p:sp>
        <p:nvSpPr>
          <p:cNvPr id="21" name="Text 18"/>
          <p:cNvSpPr txBox="1"/>
          <p:nvPr/>
        </p:nvSpPr>
        <p:spPr>
          <a:xfrm>
            <a:off x="548640" y="3566160"/>
            <a:ext cx="11109960" cy="274320"/>
          </a:xfrm>
          <a:prstGeom prst="rect">
            <a:avLst/>
          </a:prstGeom>
          <a:noFill/>
          <a:ln/>
        </p:spPr>
        <p:txBody>
          <a:bodyPr wrap="square" lIns="0" tIns="0" rIns="0" bIns="0" rtlCol="0" anchor="t"/>
          <a:lstStyle/>
          <a:p>
            <a:pPr indent="0" marL="0">
              <a:buNone/>
            </a:pPr>
            <a:r>
              <a:rPr lang="en-US" sz="1000" i="1" dirty="0">
                <a:solidFill>
                  <a:srgbClr val="58607C"/>
                </a:solidFill>
                <a:latin typeface="Calibri" pitchFamily="34" charset="0"/>
                <a:ea typeface="Calibri" pitchFamily="34" charset="-122"/>
                <a:cs typeface="Calibri" pitchFamily="34" charset="-120"/>
              </a:rPr>
              <a:t>Maqsadli qiymatlar dastlabki; nazorat tarkibi bilan bir xil sharoitda tasdiqlanadi.</a:t>
            </a:r>
            <a:endParaRPr lang="en-US" sz="1000" dirty="0"/>
          </a:p>
        </p:txBody>
      </p:sp>
      <p:sp>
        <p:nvSpPr>
          <p:cNvPr id="22" name="Shape 19"/>
          <p:cNvSpPr/>
          <p:nvPr/>
        </p:nvSpPr>
        <p:spPr>
          <a:xfrm>
            <a:off x="548640" y="3977640"/>
            <a:ext cx="3611880" cy="2194560"/>
          </a:xfrm>
          <a:prstGeom prst="roundRect">
            <a:avLst>
              <a:gd name="adj" fmla="val 2500"/>
            </a:avLst>
          </a:prstGeom>
          <a:solidFill>
            <a:srgbClr val="F4F6FB"/>
          </a:solidFill>
          <a:ln w="12700">
            <a:solidFill>
              <a:srgbClr val="CADCFC"/>
            </a:solidFill>
            <a:prstDash val="solid"/>
          </a:ln>
        </p:spPr>
      </p:sp>
      <p:sp>
        <p:nvSpPr>
          <p:cNvPr id="23" name="Text 20"/>
          <p:cNvSpPr txBox="1"/>
          <p:nvPr/>
        </p:nvSpPr>
        <p:spPr>
          <a:xfrm>
            <a:off x="749808" y="4114800"/>
            <a:ext cx="3200400" cy="502920"/>
          </a:xfrm>
          <a:prstGeom prst="rect">
            <a:avLst/>
          </a:prstGeom>
          <a:noFill/>
          <a:ln/>
        </p:spPr>
        <p:txBody>
          <a:bodyPr wrap="square" lIns="0" tIns="0" rIns="0" bIns="0" rtlCol="0" anchor="t">
            <a:normAutofit/>
          </a:bodyPr>
          <a:lstStyle/>
          <a:p>
            <a:pPr indent="0" marL="0">
              <a:buNone/>
            </a:pPr>
            <a:r>
              <a:rPr lang="en-US" sz="1300" b="1" dirty="0">
                <a:solidFill>
                  <a:srgbClr val="1E2761"/>
                </a:solidFill>
                <a:latin typeface="Cambria" pitchFamily="34" charset="0"/>
                <a:ea typeface="Cambria" pitchFamily="34" charset="-122"/>
                <a:cs typeface="Cambria" pitchFamily="34" charset="-120"/>
              </a:rPr>
              <a:t>Mahalliy xomashyo va import o‘rnini bosish</a:t>
            </a:r>
            <a:endParaRPr lang="en-US" sz="1300" dirty="0"/>
          </a:p>
        </p:txBody>
      </p:sp>
      <p:sp>
        <p:nvSpPr>
          <p:cNvPr id="24" name="Text 21"/>
          <p:cNvSpPr txBox="1"/>
          <p:nvPr/>
        </p:nvSpPr>
        <p:spPr>
          <a:xfrm>
            <a:off x="749808" y="4645152"/>
            <a:ext cx="3200400" cy="1417320"/>
          </a:xfrm>
          <a:prstGeom prst="rect">
            <a:avLst/>
          </a:prstGeom>
          <a:noFill/>
          <a:ln/>
        </p:spPr>
        <p:txBody>
          <a:bodyPr wrap="square" lIns="0" tIns="0" rIns="0" bIns="0" rtlCol="0" anchor="t">
            <a:normAutofit/>
          </a:bodyPr>
          <a:lstStyle/>
          <a:p>
            <a:pPr indent="0" marL="0">
              <a:buNone/>
            </a:pPr>
            <a:r>
              <a:rPr lang="en-US" sz="1300" dirty="0">
                <a:solidFill>
                  <a:srgbClr val="1F2633"/>
                </a:solidFill>
                <a:latin typeface="Calibri" pitchFamily="34" charset="0"/>
                <a:ea typeface="Calibri" pitchFamily="34" charset="-122"/>
                <a:cs typeface="Calibri" pitchFamily="34" charset="-120"/>
              </a:rPr>
              <a:t>Mahalliy NQIZ chiqindilari sement va to‘ldiruvchining bir qismini almashtiradi; birlamchi tabiiy xomashyo sarfi kamayadi.</a:t>
            </a:r>
            <a:endParaRPr lang="en-US" sz="1300" dirty="0"/>
          </a:p>
        </p:txBody>
      </p:sp>
      <p:sp>
        <p:nvSpPr>
          <p:cNvPr id="25" name="Shape 22"/>
          <p:cNvSpPr/>
          <p:nvPr/>
        </p:nvSpPr>
        <p:spPr>
          <a:xfrm>
            <a:off x="4297680" y="3977640"/>
            <a:ext cx="3611880" cy="2194560"/>
          </a:xfrm>
          <a:prstGeom prst="roundRect">
            <a:avLst>
              <a:gd name="adj" fmla="val 2500"/>
            </a:avLst>
          </a:prstGeom>
          <a:solidFill>
            <a:srgbClr val="F4F6FB"/>
          </a:solidFill>
          <a:ln w="12700">
            <a:solidFill>
              <a:srgbClr val="CADCFC"/>
            </a:solidFill>
            <a:prstDash val="solid"/>
          </a:ln>
        </p:spPr>
      </p:sp>
      <p:sp>
        <p:nvSpPr>
          <p:cNvPr id="26" name="Text 23"/>
          <p:cNvSpPr txBox="1"/>
          <p:nvPr/>
        </p:nvSpPr>
        <p:spPr>
          <a:xfrm>
            <a:off x="4498848" y="4114800"/>
            <a:ext cx="3200400" cy="502920"/>
          </a:xfrm>
          <a:prstGeom prst="rect">
            <a:avLst/>
          </a:prstGeom>
          <a:noFill/>
          <a:ln/>
        </p:spPr>
        <p:txBody>
          <a:bodyPr wrap="square" lIns="0" tIns="0" rIns="0" bIns="0" rtlCol="0" anchor="t">
            <a:normAutofit/>
          </a:bodyPr>
          <a:lstStyle/>
          <a:p>
            <a:pPr indent="0" marL="0">
              <a:buNone/>
            </a:pPr>
            <a:r>
              <a:rPr lang="en-US" sz="1300" b="1" dirty="0">
                <a:solidFill>
                  <a:srgbClr val="1E2761"/>
                </a:solidFill>
                <a:latin typeface="Cambria" pitchFamily="34" charset="0"/>
                <a:ea typeface="Cambria" pitchFamily="34" charset="-122"/>
                <a:cs typeface="Cambria" pitchFamily="34" charset="-120"/>
              </a:rPr>
              <a:t>Ekologik xavfsizlik va tejamkorlik</a:t>
            </a:r>
            <a:endParaRPr lang="en-US" sz="1300" dirty="0"/>
          </a:p>
        </p:txBody>
      </p:sp>
      <p:sp>
        <p:nvSpPr>
          <p:cNvPr id="27" name="Text 24"/>
          <p:cNvSpPr txBox="1"/>
          <p:nvPr/>
        </p:nvSpPr>
        <p:spPr>
          <a:xfrm>
            <a:off x="4498848" y="4645152"/>
            <a:ext cx="3200400" cy="1417320"/>
          </a:xfrm>
          <a:prstGeom prst="rect">
            <a:avLst/>
          </a:prstGeom>
          <a:noFill/>
          <a:ln/>
        </p:spPr>
        <p:txBody>
          <a:bodyPr wrap="square" lIns="0" tIns="0" rIns="0" bIns="0" rtlCol="0" anchor="t">
            <a:normAutofit/>
          </a:bodyPr>
          <a:lstStyle/>
          <a:p>
            <a:pPr indent="0" marL="0">
              <a:buNone/>
            </a:pPr>
            <a:r>
              <a:rPr lang="en-US" sz="1300" dirty="0">
                <a:solidFill>
                  <a:srgbClr val="1F2633"/>
                </a:solidFill>
                <a:latin typeface="Calibri" pitchFamily="34" charset="0"/>
                <a:ea typeface="Calibri" pitchFamily="34" charset="-122"/>
                <a:cs typeface="Calibri" pitchFamily="34" charset="-120"/>
              </a:rPr>
              <a:t>Chiqindi utilizatsiya qilinadi; quritish va maydalash energiyasi hisobga olinadi; yuvilib chiqish nazorat qilinadi.</a:t>
            </a:r>
            <a:endParaRPr lang="en-US" sz="1300" dirty="0"/>
          </a:p>
        </p:txBody>
      </p:sp>
      <p:sp>
        <p:nvSpPr>
          <p:cNvPr id="28" name="Shape 25"/>
          <p:cNvSpPr/>
          <p:nvPr/>
        </p:nvSpPr>
        <p:spPr>
          <a:xfrm>
            <a:off x="8046720" y="3977640"/>
            <a:ext cx="3611880" cy="2194560"/>
          </a:xfrm>
          <a:prstGeom prst="roundRect">
            <a:avLst>
              <a:gd name="adj" fmla="val 2500"/>
            </a:avLst>
          </a:prstGeom>
          <a:solidFill>
            <a:srgbClr val="F4F6FB"/>
          </a:solidFill>
          <a:ln w="12700">
            <a:solidFill>
              <a:srgbClr val="CADCFC"/>
            </a:solidFill>
            <a:prstDash val="solid"/>
          </a:ln>
        </p:spPr>
      </p:sp>
      <p:sp>
        <p:nvSpPr>
          <p:cNvPr id="29" name="Text 26"/>
          <p:cNvSpPr txBox="1"/>
          <p:nvPr/>
        </p:nvSpPr>
        <p:spPr>
          <a:xfrm>
            <a:off x="8247888" y="4114800"/>
            <a:ext cx="3200400" cy="502920"/>
          </a:xfrm>
          <a:prstGeom prst="rect">
            <a:avLst/>
          </a:prstGeom>
          <a:noFill/>
          <a:ln/>
        </p:spPr>
        <p:txBody>
          <a:bodyPr wrap="square" lIns="0" tIns="0" rIns="0" bIns="0" rtlCol="0" anchor="t">
            <a:normAutofit/>
          </a:bodyPr>
          <a:lstStyle/>
          <a:p>
            <a:pPr indent="0" marL="0">
              <a:buNone/>
            </a:pPr>
            <a:r>
              <a:rPr lang="en-US" sz="1300" b="1" dirty="0">
                <a:solidFill>
                  <a:srgbClr val="1E2761"/>
                </a:solidFill>
                <a:latin typeface="Cambria" pitchFamily="34" charset="0"/>
                <a:ea typeface="Cambria" pitchFamily="34" charset="-122"/>
                <a:cs typeface="Cambria" pitchFamily="34" charset="-120"/>
              </a:rPr>
              <a:t>Eksperimental tasdiqlash</a:t>
            </a:r>
            <a:endParaRPr lang="en-US" sz="1300" dirty="0"/>
          </a:p>
        </p:txBody>
      </p:sp>
      <p:sp>
        <p:nvSpPr>
          <p:cNvPr id="30" name="Text 27"/>
          <p:cNvSpPr txBox="1"/>
          <p:nvPr/>
        </p:nvSpPr>
        <p:spPr>
          <a:xfrm>
            <a:off x="8247888" y="4645152"/>
            <a:ext cx="3200400" cy="1417320"/>
          </a:xfrm>
          <a:prstGeom prst="rect">
            <a:avLst/>
          </a:prstGeom>
          <a:noFill/>
          <a:ln/>
        </p:spPr>
        <p:txBody>
          <a:bodyPr wrap="square" lIns="0" tIns="0" rIns="0" bIns="0" rtlCol="0" anchor="t">
            <a:normAutofit/>
          </a:bodyPr>
          <a:lstStyle/>
          <a:p>
            <a:pPr indent="0" marL="0">
              <a:buNone/>
            </a:pPr>
            <a:r>
              <a:rPr lang="en-US" sz="1300" dirty="0">
                <a:solidFill>
                  <a:srgbClr val="1F2633"/>
                </a:solidFill>
                <a:latin typeface="Calibri" pitchFamily="34" charset="0"/>
                <a:ea typeface="Calibri" pitchFamily="34" charset="-122"/>
                <a:cs typeface="Calibri" pitchFamily="34" charset="-120"/>
              </a:rPr>
              <a:t>Adabiyotda sementning 8–10% ini neft shlami kuli bilan almashtirganda mustahkamlik nazorat tarkibidan past bo‘lmagan [4, 7] — bu maqsadlarning realligini asoslaydi.</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7772400" cy="228600"/>
          </a:xfrm>
          <a:prstGeom prst="rect">
            <a:avLst/>
          </a:prstGeom>
          <a:noFill/>
          <a:ln/>
        </p:spPr>
        <p:txBody>
          <a:bodyPr wrap="square" lIns="0" tIns="0" rIns="0" bIns="0" rtlCol="0" anchor="t"/>
          <a:lstStyle/>
          <a:p>
            <a:pPr indent="0" marL="0">
              <a:buNone/>
            </a:pPr>
            <a:r>
              <a:rPr lang="en-US" sz="1000" b="1" spc="150" kern="0" dirty="0">
                <a:solidFill>
                  <a:srgbClr val="C9A227"/>
                </a:solidFill>
                <a:latin typeface="Calibri" pitchFamily="34" charset="0"/>
                <a:ea typeface="Calibri" pitchFamily="34" charset="-122"/>
                <a:cs typeface="Calibri" pitchFamily="34" charset="-120"/>
              </a:rPr>
              <a:t>DASTURNING 9-BANDI · 7-XATBOSHI</a:t>
            </a:r>
            <a:endParaRPr lang="en-US" sz="1000" dirty="0"/>
          </a:p>
        </p:txBody>
      </p:sp>
      <p:sp>
        <p:nvSpPr>
          <p:cNvPr id="3" name="Text 1"/>
          <p:cNvSpPr txBox="1"/>
          <p:nvPr/>
        </p:nvSpPr>
        <p:spPr>
          <a:xfrm>
            <a:off x="548640" y="658368"/>
            <a:ext cx="8778240" cy="868680"/>
          </a:xfrm>
          <a:prstGeom prst="rect">
            <a:avLst/>
          </a:prstGeom>
          <a:noFill/>
          <a:ln/>
        </p:spPr>
        <p:txBody>
          <a:bodyPr wrap="square" lIns="0" tIns="0" rIns="0" bIns="0" rtlCol="0" anchor="ctr">
            <a:normAutofit/>
          </a:bodyPr>
          <a:lstStyle/>
          <a:p>
            <a:pPr indent="0" marL="0">
              <a:buNone/>
            </a:pPr>
            <a:r>
              <a:rPr lang="en-US" sz="2400" b="1" dirty="0">
                <a:solidFill>
                  <a:srgbClr val="1E2761"/>
                </a:solidFill>
                <a:latin typeface="Cambria" pitchFamily="34" charset="0"/>
                <a:ea typeface="Cambria" pitchFamily="34" charset="-122"/>
                <a:cs typeface="Cambria" pitchFamily="34" charset="-120"/>
              </a:rPr>
              <a:t>Moddiy-texnik baza va uning mavjudligi</a:t>
            </a:r>
            <a:endParaRPr lang="en-US" sz="2400" dirty="0"/>
          </a:p>
        </p:txBody>
      </p:sp>
      <p:sp>
        <p:nvSpPr>
          <p:cNvPr id="4" name="mezon"/>
          <p:cNvSpPr/>
          <p:nvPr/>
        </p:nvSpPr>
        <p:spPr>
          <a:xfrm>
            <a:off x="9921240" y="457200"/>
            <a:ext cx="1737360" cy="566928"/>
          </a:xfrm>
          <a:prstGeom prst="roundRect">
            <a:avLst>
              <a:gd name="adj" fmla="val 9677"/>
            </a:avLst>
          </a:prstGeom>
          <a:solidFill>
            <a:srgbClr val="1E2761"/>
          </a:solidFill>
          <a:ln w="12700">
            <a:solidFill>
              <a:srgbClr val="1E2761"/>
            </a:solidFill>
            <a:prstDash val="solid"/>
          </a:ln>
        </p:spPr>
      </p:sp>
      <p:sp>
        <p:nvSpPr>
          <p:cNvPr id="5" name="Text 3"/>
          <p:cNvSpPr txBox="1"/>
          <p:nvPr/>
        </p:nvSpPr>
        <p:spPr>
          <a:xfrm>
            <a:off x="9921240" y="457200"/>
            <a:ext cx="1737360" cy="566928"/>
          </a:xfrm>
          <a:prstGeom prst="rect">
            <a:avLst/>
          </a:prstGeom>
          <a:noFill/>
          <a:ln/>
        </p:spPr>
        <p:txBody>
          <a:bodyPr wrap="square" lIns="0" tIns="0" rIns="0" bIns="0" rtlCol="0" anchor="ctr"/>
          <a:lstStyle/>
          <a:p>
            <a:pPr algn="ctr" indent="0" marL="0">
              <a:buNone/>
            </a:pPr>
            <a:r>
              <a:rPr lang="en-US" sz="1100" b="1" spc="100" kern="0" dirty="0">
                <a:solidFill>
                  <a:srgbClr val="C9A227"/>
                </a:solidFill>
                <a:latin typeface="Calibri" pitchFamily="34" charset="0"/>
                <a:ea typeface="Calibri" pitchFamily="34" charset="-122"/>
                <a:cs typeface="Calibri" pitchFamily="34" charset="-120"/>
              </a:rPr>
              <a:t>2-MEZON</a:t>
            </a:r>
            <a:endParaRPr lang="en-US" sz="1100" dirty="0"/>
          </a:p>
        </p:txBody>
      </p:sp>
      <p:sp>
        <p:nvSpPr>
          <p:cNvPr id="6" name="Text 4"/>
          <p:cNvSpPr txBox="1"/>
          <p:nvPr/>
        </p:nvSpPr>
        <p:spPr>
          <a:xfrm>
            <a:off x="10241280" y="6419088"/>
            <a:ext cx="1417320" cy="274320"/>
          </a:xfrm>
          <a:prstGeom prst="rect">
            <a:avLst/>
          </a:prstGeom>
          <a:noFill/>
          <a:ln/>
        </p:spPr>
        <p:txBody>
          <a:bodyPr wrap="square" lIns="0" tIns="0" rIns="0" bIns="0" rtlCol="0" anchor="t"/>
          <a:lstStyle/>
          <a:p>
            <a:pPr algn="r" indent="0" marL="0">
              <a:buNone/>
            </a:pPr>
            <a:r>
              <a:rPr lang="en-US" sz="900" dirty="0">
                <a:solidFill>
                  <a:srgbClr val="8A93AE"/>
                </a:solidFill>
                <a:latin typeface="Calibri" pitchFamily="34" charset="0"/>
                <a:ea typeface="Calibri" pitchFamily="34" charset="-122"/>
                <a:cs typeface="Calibri" pitchFamily="34" charset="-120"/>
              </a:rPr>
              <a:t>12 / 15</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8503920" cy="914400"/>
        </p:xfrm>
        <a:graphic>
          <a:graphicData uri="http://schemas.openxmlformats.org/drawingml/2006/table">
            <a:tbl>
              <a:tblPr/>
              <a:tblGrid>
                <a:gridCol w="2514600"/>
                <a:gridCol w="2514600"/>
                <a:gridCol w="1737360"/>
                <a:gridCol w="1737360"/>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Uskuna / vosita</a:t>
                      </a:r>
                      <a:endParaRPr lang="en-US" sz="1100" dirty="0">
                        <a:latin typeface="Calibri" charset="0"/>
                        <a:ea typeface="Calibri" charset="0"/>
                        <a:cs typeface="Calibri" charset="0"/>
                      </a:endParaRPr>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Vazifasi</a:t>
                      </a:r>
                      <a:endParaRPr lang="en-US" sz="1100" dirty="0">
                        <a:latin typeface="Calibri" charset="0"/>
                        <a:ea typeface="Calibri" charset="0"/>
                        <a:cs typeface="Calibri" charset="0"/>
                      </a:endParaRPr>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Universitetda</a:t>
                      </a:r>
                      <a:endParaRPr lang="en-US" sz="1100" dirty="0">
                        <a:latin typeface="Calibri" charset="0"/>
                        <a:ea typeface="Calibri" charset="0"/>
                        <a:cs typeface="Calibri" charset="0"/>
                      </a:endParaRPr>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Hamkor tashkilotda</a:t>
                      </a:r>
                      <a:endParaRPr lang="en-US" sz="1100" dirty="0">
                        <a:latin typeface="Calibri" charset="0"/>
                        <a:ea typeface="Calibri" charset="0"/>
                        <a:cs typeface="Calibri" charset="0"/>
                      </a:endParaRPr>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r>
              <a:tr h="475488">
                <a:tc>
                  <a:txBody>
                    <a:bodyPr/>
                    <a:lstStyle/>
                    <a:p>
                      <a:pPr indent="0" marL="0">
                        <a:buNone/>
                      </a:pPr>
                      <a:r>
                        <a:rPr lang="en-US" sz="1150" b="1" dirty="0">
                          <a:solidFill>
                            <a:srgbClr val="1F2633"/>
                          </a:solidFill>
                          <a:latin typeface="Calibri" pitchFamily="34" charset="0"/>
                          <a:ea typeface="Calibri" pitchFamily="34" charset="-122"/>
                          <a:cs typeface="Calibri" pitchFamily="34" charset="-120"/>
                        </a:rPr>
                        <a:t>Quritish shkafi, tegirmon, elaklar</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150" dirty="0">
                          <a:solidFill>
                            <a:srgbClr val="1F2633"/>
                          </a:solidFill>
                          <a:latin typeface="Calibri" pitchFamily="34" charset="0"/>
                          <a:ea typeface="Calibri" pitchFamily="34" charset="-122"/>
                          <a:cs typeface="Calibri" pitchFamily="34" charset="-120"/>
                        </a:rPr>
                        <a:t>Chiqindini tayyorlash</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150" b="1" dirty="0">
                          <a:solidFill>
                            <a:srgbClr val="8A5A00"/>
                          </a:solidFill>
                          <a:highlight>
                            <a:srgbClr val="FFF1C2"/>
                          </a:highlight>
                          <a:latin typeface="Calibri" pitchFamily="34" charset="0"/>
                          <a:ea typeface="Calibri" pitchFamily="34" charset="-122"/>
                          <a:cs typeface="Calibri" pitchFamily="34" charset="-120"/>
                        </a:rPr>
                        <a:t>[laboratoriya]</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150" dirty="0">
                          <a:solidFill>
                            <a:srgbClr val="1F2633"/>
                          </a:solidFill>
                          <a:latin typeface="Calibri" pitchFamily="34" charset="0"/>
                          <a:ea typeface="Calibri" pitchFamily="34" charset="-122"/>
                          <a:cs typeface="Calibri" pitchFamily="34" charset="-120"/>
                        </a:rPr>
                        <a:t>—</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r>
              <a:tr h="475488">
                <a:tc>
                  <a:txBody>
                    <a:bodyPr/>
                    <a:lstStyle/>
                    <a:p>
                      <a:pPr indent="0" marL="0">
                        <a:buNone/>
                      </a:pPr>
                      <a:r>
                        <a:rPr lang="en-US" sz="1150" b="1" dirty="0">
                          <a:solidFill>
                            <a:srgbClr val="1F2633"/>
                          </a:solidFill>
                          <a:latin typeface="Calibri" pitchFamily="34" charset="0"/>
                          <a:ea typeface="Calibri" pitchFamily="34" charset="-122"/>
                          <a:cs typeface="Calibri" pitchFamily="34" charset="-120"/>
                        </a:rPr>
                        <a:t>Gidravlik press</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150" dirty="0">
                          <a:solidFill>
                            <a:srgbClr val="1F2633"/>
                          </a:solidFill>
                          <a:latin typeface="Calibri" pitchFamily="34" charset="0"/>
                          <a:ea typeface="Calibri" pitchFamily="34" charset="-122"/>
                          <a:cs typeface="Calibri" pitchFamily="34" charset="-120"/>
                        </a:rPr>
                        <a:t>Siqilish va egilish sinovi</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150" b="1" dirty="0">
                          <a:solidFill>
                            <a:srgbClr val="8A5A00"/>
                          </a:solidFill>
                          <a:highlight>
                            <a:srgbClr val="FFF1C2"/>
                          </a:highlight>
                          <a:latin typeface="Calibri" pitchFamily="34" charset="0"/>
                          <a:ea typeface="Calibri" pitchFamily="34" charset="-122"/>
                          <a:cs typeface="Calibri" pitchFamily="34" charset="-120"/>
                        </a:rPr>
                        <a:t>[laboratoriya]</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150" b="1" dirty="0">
                          <a:solidFill>
                            <a:srgbClr val="8A5A00"/>
                          </a:solidFill>
                          <a:highlight>
                            <a:srgbClr val="FFF1C2"/>
                          </a:highlight>
                          <a:latin typeface="Calibri" pitchFamily="34" charset="0"/>
                          <a:ea typeface="Calibri" pitchFamily="34" charset="-122"/>
                          <a:cs typeface="Calibri" pitchFamily="34" charset="-120"/>
                        </a:rPr>
                        <a:t>[tashkilot]</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rgbClr val="1F2633"/>
                          </a:solidFill>
                          <a:latin typeface="Calibri" pitchFamily="34" charset="0"/>
                          <a:ea typeface="Calibri" pitchFamily="34" charset="-122"/>
                          <a:cs typeface="Calibri" pitchFamily="34" charset="-120"/>
                        </a:rPr>
                        <a:t>Sovuqqa chidamlilik kamerasi</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150" dirty="0">
                          <a:solidFill>
                            <a:srgbClr val="1F2633"/>
                          </a:solidFill>
                          <a:latin typeface="Calibri" pitchFamily="34" charset="0"/>
                          <a:ea typeface="Calibri" pitchFamily="34" charset="-122"/>
                          <a:cs typeface="Calibri" pitchFamily="34" charset="-120"/>
                        </a:rPr>
                        <a:t>Muzlash-erish sikllari</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150" b="1" dirty="0">
                          <a:solidFill>
                            <a:srgbClr val="8A5A00"/>
                          </a:solidFill>
                          <a:highlight>
                            <a:srgbClr val="FFF1C2"/>
                          </a:highlight>
                          <a:latin typeface="Calibri" pitchFamily="34" charset="0"/>
                          <a:ea typeface="Calibri" pitchFamily="34" charset="-122"/>
                          <a:cs typeface="Calibri" pitchFamily="34" charset="-120"/>
                        </a:rPr>
                        <a:t>[mavjud / yo‘q]</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150" b="1" dirty="0">
                          <a:solidFill>
                            <a:srgbClr val="8A5A00"/>
                          </a:solidFill>
                          <a:highlight>
                            <a:srgbClr val="FFF1C2"/>
                          </a:highlight>
                          <a:latin typeface="Calibri" pitchFamily="34" charset="0"/>
                          <a:ea typeface="Calibri" pitchFamily="34" charset="-122"/>
                          <a:cs typeface="Calibri" pitchFamily="34" charset="-120"/>
                        </a:rPr>
                        <a:t>[tashkilot]</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r>
              <a:tr h="475488">
                <a:tc>
                  <a:txBody>
                    <a:bodyPr/>
                    <a:lstStyle/>
                    <a:p>
                      <a:pPr indent="0" marL="0">
                        <a:buNone/>
                      </a:pPr>
                      <a:r>
                        <a:rPr lang="en-US" sz="1150" b="1" dirty="0">
                          <a:solidFill>
                            <a:srgbClr val="1F2633"/>
                          </a:solidFill>
                          <a:latin typeface="Calibri" pitchFamily="34" charset="0"/>
                          <a:ea typeface="Calibri" pitchFamily="34" charset="-122"/>
                          <a:cs typeface="Calibri" pitchFamily="34" charset="-120"/>
                        </a:rPr>
                        <a:t>PXRD difraktometr</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150" dirty="0">
                          <a:solidFill>
                            <a:srgbClr val="1F2633"/>
                          </a:solidFill>
                          <a:latin typeface="Calibri" pitchFamily="34" charset="0"/>
                          <a:ea typeface="Calibri" pitchFamily="34" charset="-122"/>
                          <a:cs typeface="Calibri" pitchFamily="34" charset="-120"/>
                        </a:rPr>
                        <a:t>Faza tarkibi</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150" b="1" dirty="0">
                          <a:solidFill>
                            <a:srgbClr val="8A5A00"/>
                          </a:solidFill>
                          <a:highlight>
                            <a:srgbClr val="FFF1C2"/>
                          </a:highlight>
                          <a:latin typeface="Calibri" pitchFamily="34" charset="0"/>
                          <a:ea typeface="Calibri" pitchFamily="34" charset="-122"/>
                          <a:cs typeface="Calibri" pitchFamily="34" charset="-120"/>
                        </a:rPr>
                        <a:t>[mavjud / yo‘q]</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150" b="1" dirty="0">
                          <a:solidFill>
                            <a:srgbClr val="8A5A00"/>
                          </a:solidFill>
                          <a:highlight>
                            <a:srgbClr val="FFF1C2"/>
                          </a:highlight>
                          <a:latin typeface="Calibri" pitchFamily="34" charset="0"/>
                          <a:ea typeface="Calibri" pitchFamily="34" charset="-122"/>
                          <a:cs typeface="Calibri" pitchFamily="34" charset="-120"/>
                        </a:rPr>
                        <a:t>[tashkilot]</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rgbClr val="1F2633"/>
                          </a:solidFill>
                          <a:latin typeface="Calibri" pitchFamily="34" charset="0"/>
                          <a:ea typeface="Calibri" pitchFamily="34" charset="-122"/>
                          <a:cs typeface="Calibri" pitchFamily="34" charset="-120"/>
                        </a:rPr>
                        <a:t>SEM-EDS mikroskop</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150" dirty="0">
                          <a:solidFill>
                            <a:srgbClr val="1F2633"/>
                          </a:solidFill>
                          <a:latin typeface="Calibri" pitchFamily="34" charset="0"/>
                          <a:ea typeface="Calibri" pitchFamily="34" charset="-122"/>
                          <a:cs typeface="Calibri" pitchFamily="34" charset="-120"/>
                        </a:rPr>
                        <a:t>Mikrostruktura va element tarkibi</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150" b="1" dirty="0">
                          <a:solidFill>
                            <a:srgbClr val="8A5A00"/>
                          </a:solidFill>
                          <a:highlight>
                            <a:srgbClr val="FFF1C2"/>
                          </a:highlight>
                          <a:latin typeface="Calibri" pitchFamily="34" charset="0"/>
                          <a:ea typeface="Calibri" pitchFamily="34" charset="-122"/>
                          <a:cs typeface="Calibri" pitchFamily="34" charset="-120"/>
                        </a:rPr>
                        <a:t>[mavjud / yo‘q]</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150" b="1" dirty="0">
                          <a:solidFill>
                            <a:srgbClr val="8A5A00"/>
                          </a:solidFill>
                          <a:highlight>
                            <a:srgbClr val="FFF1C2"/>
                          </a:highlight>
                          <a:latin typeface="Calibri" pitchFamily="34" charset="0"/>
                          <a:ea typeface="Calibri" pitchFamily="34" charset="-122"/>
                          <a:cs typeface="Calibri" pitchFamily="34" charset="-120"/>
                        </a:rPr>
                        <a:t>[tashkilot]</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r>
              <a:tr h="475488">
                <a:tc>
                  <a:txBody>
                    <a:bodyPr/>
                    <a:lstStyle/>
                    <a:p>
                      <a:pPr indent="0" marL="0">
                        <a:buNone/>
                      </a:pPr>
                      <a:r>
                        <a:rPr lang="en-US" sz="1150" b="1" dirty="0">
                          <a:solidFill>
                            <a:srgbClr val="1F2633"/>
                          </a:solidFill>
                          <a:latin typeface="Calibri" pitchFamily="34" charset="0"/>
                          <a:ea typeface="Calibri" pitchFamily="34" charset="-122"/>
                          <a:cs typeface="Calibri" pitchFamily="34" charset="-120"/>
                        </a:rPr>
                        <a:t>FTIR spektrometr, TG/DSC</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150" dirty="0">
                          <a:solidFill>
                            <a:srgbClr val="1F2633"/>
                          </a:solidFill>
                          <a:latin typeface="Calibri" pitchFamily="34" charset="0"/>
                          <a:ea typeface="Calibri" pitchFamily="34" charset="-122"/>
                          <a:cs typeface="Calibri" pitchFamily="34" charset="-120"/>
                        </a:rPr>
                        <a:t>Funksional guruhlar, termik tahlil</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150" b="1" dirty="0">
                          <a:solidFill>
                            <a:srgbClr val="8A5A00"/>
                          </a:solidFill>
                          <a:highlight>
                            <a:srgbClr val="FFF1C2"/>
                          </a:highlight>
                          <a:latin typeface="Calibri" pitchFamily="34" charset="0"/>
                          <a:ea typeface="Calibri" pitchFamily="34" charset="-122"/>
                          <a:cs typeface="Calibri" pitchFamily="34" charset="-120"/>
                        </a:rPr>
                        <a:t>[mavjud / yo‘q]</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150" b="1" dirty="0">
                          <a:solidFill>
                            <a:srgbClr val="8A5A00"/>
                          </a:solidFill>
                          <a:highlight>
                            <a:srgbClr val="FFF1C2"/>
                          </a:highlight>
                          <a:latin typeface="Calibri" pitchFamily="34" charset="0"/>
                          <a:ea typeface="Calibri" pitchFamily="34" charset="-122"/>
                          <a:cs typeface="Calibri" pitchFamily="34" charset="-120"/>
                        </a:rPr>
                        <a:t>[tashkilot]</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rgbClr val="1F2633"/>
                          </a:solidFill>
                          <a:latin typeface="Calibri" pitchFamily="34" charset="0"/>
                          <a:ea typeface="Calibri" pitchFamily="34" charset="-122"/>
                          <a:cs typeface="Calibri" pitchFamily="34" charset="-120"/>
                        </a:rPr>
                        <a:t>Dasturiy vositalar</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150" dirty="0">
                          <a:solidFill>
                            <a:srgbClr val="1F2633"/>
                          </a:solidFill>
                          <a:latin typeface="Calibri" pitchFamily="34" charset="0"/>
                          <a:ea typeface="Calibri" pitchFamily="34" charset="-122"/>
                          <a:cs typeface="Calibri" pitchFamily="34" charset="-120"/>
                        </a:rPr>
                        <a:t>Tajriba rejasi va statistik tahlil</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150" dirty="0">
                          <a:solidFill>
                            <a:srgbClr val="1F2633"/>
                          </a:solidFill>
                          <a:latin typeface="Calibri" pitchFamily="34" charset="0"/>
                          <a:ea typeface="Calibri" pitchFamily="34" charset="-122"/>
                          <a:cs typeface="Calibri" pitchFamily="34" charset="-120"/>
                        </a:rPr>
                        <a:t>Python / Excel</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150" dirty="0">
                          <a:solidFill>
                            <a:srgbClr val="1F2633"/>
                          </a:solidFill>
                          <a:latin typeface="Calibri" pitchFamily="34" charset="0"/>
                          <a:ea typeface="Calibri" pitchFamily="34" charset="-122"/>
                          <a:cs typeface="Calibri" pitchFamily="34" charset="-120"/>
                        </a:rPr>
                        <a:t>—</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r>
            </a:tbl>
          </a:graphicData>
        </a:graphic>
      </p:graphicFrame>
      <p:pic>
        <p:nvPicPr>
          <p:cNvPr id="9" name="Image 0" descr="/tmp/claude-0/-home-claude/1a0f1fcd-2772-57a1-9475-1557efb8a840/scratchpad/phd/img/a22.jpg">    </p:cNvPr>
          <p:cNvPicPr>
            <a:picLocks noChangeAspect="1"/>
          </p:cNvPicPr>
          <p:nvPr/>
        </p:nvPicPr>
        <p:blipFill>
          <a:blip r:embed="rId1"/>
          <a:srcRect l="0" r="0" t="0" b="0"/>
          <a:stretch/>
        </p:blipFill>
        <p:spPr>
          <a:xfrm>
            <a:off x="9281160" y="1737360"/>
            <a:ext cx="2377440" cy="1828800"/>
          </a:xfrm>
          <a:prstGeom prst="rect">
            <a:avLst/>
          </a:prstGeom>
        </p:spPr>
      </p:pic>
      <p:pic>
        <p:nvPicPr>
          <p:cNvPr id="10" name="Image 1" descr="/tmp/claude-0/-home-claude/1a0f1fcd-2772-57a1-9475-1557efb8a840/scratchpad/phd/img/a23.jpg">    </p:cNvPr>
          <p:cNvPicPr>
            <a:picLocks noChangeAspect="1"/>
          </p:cNvPicPr>
          <p:nvPr/>
        </p:nvPicPr>
        <p:blipFill>
          <a:blip r:embed="rId2"/>
          <a:srcRect l="0" r="0" t="0" b="0"/>
          <a:stretch/>
        </p:blipFill>
        <p:spPr>
          <a:xfrm>
            <a:off x="9281160" y="3657600"/>
            <a:ext cx="2377440" cy="1828800"/>
          </a:xfrm>
          <a:prstGeom prst="rect">
            <a:avLst/>
          </a:prstGeom>
        </p:spPr>
      </p:pic>
      <p:sp>
        <p:nvSpPr>
          <p:cNvPr id="11" name="Shape 5"/>
          <p:cNvSpPr/>
          <p:nvPr/>
        </p:nvSpPr>
        <p:spPr>
          <a:xfrm>
            <a:off x="548640" y="5623560"/>
            <a:ext cx="11109960" cy="566928"/>
          </a:xfrm>
          <a:prstGeom prst="roundRect">
            <a:avLst>
              <a:gd name="adj" fmla="val 9677"/>
            </a:avLst>
          </a:prstGeom>
          <a:solidFill>
            <a:srgbClr val="FFFBEF"/>
          </a:solidFill>
          <a:ln w="12700">
            <a:solidFill>
              <a:srgbClr val="E8CE8A"/>
            </a:solidFill>
            <a:prstDash val="solid"/>
          </a:ln>
        </p:spPr>
      </p:sp>
      <p:sp>
        <p:nvSpPr>
          <p:cNvPr id="12" name="Text 6"/>
          <p:cNvSpPr txBox="1"/>
          <p:nvPr/>
        </p:nvSpPr>
        <p:spPr>
          <a:xfrm>
            <a:off x="777240" y="5623560"/>
            <a:ext cx="10698480" cy="566928"/>
          </a:xfrm>
          <a:prstGeom prst="rect">
            <a:avLst/>
          </a:prstGeom>
          <a:noFill/>
          <a:ln/>
        </p:spPr>
        <p:txBody>
          <a:bodyPr wrap="square" lIns="0" tIns="0" rIns="0" bIns="0" rtlCol="0" anchor="ctr">
            <a:normAutofit/>
          </a:bodyPr>
          <a:lstStyle/>
          <a:p>
            <a:pPr indent="0" marL="0">
              <a:buNone/>
            </a:pPr>
            <a:r>
              <a:rPr lang="en-US" sz="1150" dirty="0">
                <a:solidFill>
                  <a:srgbClr val="1F2633"/>
                </a:solidFill>
                <a:latin typeface="Calibri" pitchFamily="34" charset="0"/>
                <a:ea typeface="Calibri" pitchFamily="34" charset="-122"/>
                <a:cs typeface="Calibri" pitchFamily="34" charset="-120"/>
              </a:rPr>
              <a:t>Yetishmayotgan uskunalar: hamkor ilmiy tashkilot bilan shartnoma asosida sinovlar </a:t>
            </a:r>
            <a:pPr indent="0" marL="0">
              <a:buNone/>
            </a:pPr>
            <a:r>
              <a:rPr lang="en-US" sz="1150" b="1" dirty="0">
                <a:solidFill>
                  <a:srgbClr val="8A5A00"/>
                </a:solidFill>
                <a:highlight>
                  <a:srgbClr val="FFF1C2"/>
                </a:highlight>
                <a:latin typeface="Calibri" pitchFamily="34" charset="0"/>
                <a:ea typeface="Calibri" pitchFamily="34" charset="-122"/>
                <a:cs typeface="Calibri" pitchFamily="34" charset="-120"/>
              </a:rPr>
              <a:t>[tashkilot nomi]</a:t>
            </a:r>
            <a:pPr indent="0" marL="0">
              <a:buNone/>
            </a:pPr>
            <a:r>
              <a:rPr lang="en-US" sz="1150" dirty="0">
                <a:solidFill>
                  <a:srgbClr val="1F2633"/>
                </a:solidFill>
                <a:latin typeface="Calibri" pitchFamily="34" charset="0"/>
                <a:ea typeface="Calibri" pitchFamily="34" charset="-122"/>
                <a:cs typeface="Calibri" pitchFamily="34" charset="-120"/>
              </a:rPr>
              <a: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7772400" cy="228600"/>
          </a:xfrm>
          <a:prstGeom prst="rect">
            <a:avLst/>
          </a:prstGeom>
          <a:noFill/>
          <a:ln/>
        </p:spPr>
        <p:txBody>
          <a:bodyPr wrap="square" lIns="0" tIns="0" rIns="0" bIns="0" rtlCol="0" anchor="t"/>
          <a:lstStyle/>
          <a:p>
            <a:pPr indent="0" marL="0">
              <a:buNone/>
            </a:pPr>
            <a:r>
              <a:rPr lang="en-US" sz="1000" b="1" spc="150" kern="0" dirty="0">
                <a:solidFill>
                  <a:srgbClr val="C9A227"/>
                </a:solidFill>
                <a:latin typeface="Calibri" pitchFamily="34" charset="0"/>
                <a:ea typeface="Calibri" pitchFamily="34" charset="-122"/>
                <a:cs typeface="Calibri" pitchFamily="34" charset="-120"/>
              </a:rPr>
              <a:t>DASTURNING 9-BANDI · 8-XATBOSHI</a:t>
            </a:r>
            <a:endParaRPr lang="en-US" sz="1000" dirty="0"/>
          </a:p>
        </p:txBody>
      </p:sp>
      <p:sp>
        <p:nvSpPr>
          <p:cNvPr id="3" name="Text 1"/>
          <p:cNvSpPr txBox="1"/>
          <p:nvPr/>
        </p:nvSpPr>
        <p:spPr>
          <a:xfrm>
            <a:off x="548640" y="658368"/>
            <a:ext cx="8778240" cy="868680"/>
          </a:xfrm>
          <a:prstGeom prst="rect">
            <a:avLst/>
          </a:prstGeom>
          <a:noFill/>
          <a:ln/>
        </p:spPr>
        <p:txBody>
          <a:bodyPr wrap="square" lIns="0" tIns="0" rIns="0" bIns="0" rtlCol="0" anchor="ctr">
            <a:normAutofit/>
          </a:bodyPr>
          <a:lstStyle/>
          <a:p>
            <a:pPr indent="0" marL="0">
              <a:buNone/>
            </a:pPr>
            <a:r>
              <a:rPr lang="en-US" sz="2400" b="1" dirty="0">
                <a:solidFill>
                  <a:srgbClr val="1E2761"/>
                </a:solidFill>
                <a:latin typeface="Cambria" pitchFamily="34" charset="0"/>
                <a:ea typeface="Cambria" pitchFamily="34" charset="-122"/>
                <a:cs typeface="Cambria" pitchFamily="34" charset="-120"/>
              </a:rPr>
              <a:t>Mavzu doirasidagi dastlabki tadqiqot natijalari</a:t>
            </a:r>
            <a:endParaRPr lang="en-US" sz="2400" dirty="0"/>
          </a:p>
        </p:txBody>
      </p:sp>
      <p:sp>
        <p:nvSpPr>
          <p:cNvPr id="4" name="mezon"/>
          <p:cNvSpPr/>
          <p:nvPr/>
        </p:nvSpPr>
        <p:spPr>
          <a:xfrm>
            <a:off x="9921240" y="457200"/>
            <a:ext cx="1737360" cy="566928"/>
          </a:xfrm>
          <a:prstGeom prst="roundRect">
            <a:avLst>
              <a:gd name="adj" fmla="val 9677"/>
            </a:avLst>
          </a:prstGeom>
          <a:solidFill>
            <a:srgbClr val="1E2761"/>
          </a:solidFill>
          <a:ln w="12700">
            <a:solidFill>
              <a:srgbClr val="1E2761"/>
            </a:solidFill>
            <a:prstDash val="solid"/>
          </a:ln>
        </p:spPr>
      </p:sp>
      <p:sp>
        <p:nvSpPr>
          <p:cNvPr id="5" name="Text 3"/>
          <p:cNvSpPr txBox="1"/>
          <p:nvPr/>
        </p:nvSpPr>
        <p:spPr>
          <a:xfrm>
            <a:off x="9921240" y="457200"/>
            <a:ext cx="1737360" cy="566928"/>
          </a:xfrm>
          <a:prstGeom prst="rect">
            <a:avLst/>
          </a:prstGeom>
          <a:noFill/>
          <a:ln/>
        </p:spPr>
        <p:txBody>
          <a:bodyPr wrap="square" lIns="0" tIns="0" rIns="0" bIns="0" rtlCol="0" anchor="ctr"/>
          <a:lstStyle/>
          <a:p>
            <a:pPr algn="ctr" indent="0" marL="0">
              <a:buNone/>
            </a:pPr>
            <a:r>
              <a:rPr lang="en-US" sz="1100" b="1" spc="100" kern="0" dirty="0">
                <a:solidFill>
                  <a:srgbClr val="C9A227"/>
                </a:solidFill>
                <a:latin typeface="Calibri" pitchFamily="34" charset="0"/>
                <a:ea typeface="Calibri" pitchFamily="34" charset="-122"/>
                <a:cs typeface="Calibri" pitchFamily="34" charset="-120"/>
              </a:rPr>
              <a:t>3-MEZON</a:t>
            </a:r>
            <a:endParaRPr lang="en-US" sz="1100" dirty="0"/>
          </a:p>
        </p:txBody>
      </p:sp>
      <p:sp>
        <p:nvSpPr>
          <p:cNvPr id="6" name="Text 4"/>
          <p:cNvSpPr txBox="1"/>
          <p:nvPr/>
        </p:nvSpPr>
        <p:spPr>
          <a:xfrm>
            <a:off x="10241280" y="6419088"/>
            <a:ext cx="1417320" cy="274320"/>
          </a:xfrm>
          <a:prstGeom prst="rect">
            <a:avLst/>
          </a:prstGeom>
          <a:noFill/>
          <a:ln/>
        </p:spPr>
        <p:txBody>
          <a:bodyPr wrap="square" lIns="0" tIns="0" rIns="0" bIns="0" rtlCol="0" anchor="t"/>
          <a:lstStyle/>
          <a:p>
            <a:pPr algn="r" indent="0" marL="0">
              <a:buNone/>
            </a:pPr>
            <a:r>
              <a:rPr lang="en-US" sz="900" dirty="0">
                <a:solidFill>
                  <a:srgbClr val="8A93AE"/>
                </a:solidFill>
                <a:latin typeface="Calibri" pitchFamily="34" charset="0"/>
                <a:ea typeface="Calibri" pitchFamily="34" charset="-122"/>
                <a:cs typeface="Calibri" pitchFamily="34" charset="-120"/>
              </a:rPr>
              <a:t>13 / 15</a:t>
            </a:r>
            <a:endParaRPr lang="en-US" sz="900" dirty="0"/>
          </a:p>
        </p:txBody>
      </p:sp>
      <p:sp>
        <p:nvSpPr>
          <p:cNvPr id="8" name="Shape 5"/>
          <p:cNvSpPr/>
          <p:nvPr/>
        </p:nvSpPr>
        <p:spPr>
          <a:xfrm>
            <a:off x="548640" y="1737360"/>
            <a:ext cx="5120640" cy="822960"/>
          </a:xfrm>
          <a:prstGeom prst="roundRect">
            <a:avLst>
              <a:gd name="adj" fmla="val 6667"/>
            </a:avLst>
          </a:prstGeom>
          <a:solidFill>
            <a:srgbClr val="FFFBEF"/>
          </a:solidFill>
          <a:ln w="12700">
            <a:solidFill>
              <a:srgbClr val="E8CE8A"/>
            </a:solidFill>
            <a:prstDash val="solid"/>
          </a:ln>
        </p:spPr>
      </p:sp>
      <p:sp>
        <p:nvSpPr>
          <p:cNvPr id="9" name="Text 6"/>
          <p:cNvSpPr txBox="1"/>
          <p:nvPr/>
        </p:nvSpPr>
        <p:spPr>
          <a:xfrm>
            <a:off x="777240" y="1810512"/>
            <a:ext cx="4663440" cy="27432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Ilmiy maqola va tezislar</a:t>
            </a:r>
            <a:endParaRPr lang="en-US" sz="1250" dirty="0"/>
          </a:p>
        </p:txBody>
      </p:sp>
      <p:sp>
        <p:nvSpPr>
          <p:cNvPr id="10" name="Text 7"/>
          <p:cNvSpPr txBox="1"/>
          <p:nvPr/>
        </p:nvSpPr>
        <p:spPr>
          <a:xfrm>
            <a:off x="777240" y="2121408"/>
            <a:ext cx="4663440" cy="365760"/>
          </a:xfrm>
          <a:prstGeom prst="rect">
            <a:avLst/>
          </a:prstGeom>
          <a:noFill/>
          <a:ln/>
        </p:spPr>
        <p:txBody>
          <a:bodyPr wrap="square" lIns="0" tIns="0" rIns="0" bIns="0" rtlCol="0" anchor="t">
            <a:normAutofit/>
          </a:bodyPr>
          <a:lstStyle/>
          <a:p>
            <a:pPr indent="0" marL="0">
              <a:buNone/>
            </a:pPr>
            <a:r>
              <a:rPr lang="en-US" sz="1150" b="1" dirty="0">
                <a:solidFill>
                  <a:srgbClr val="8A5A00"/>
                </a:solidFill>
                <a:highlight>
                  <a:srgbClr val="FFF1C2"/>
                </a:highlight>
                <a:latin typeface="Calibri" pitchFamily="34" charset="0"/>
                <a:ea typeface="Calibri" pitchFamily="34" charset="-122"/>
                <a:cs typeface="Calibri" pitchFamily="34" charset="-120"/>
              </a:rPr>
              <a:t>[Muallif(lar), maqola nomi, jurnal yoki konferensiya, yil]</a:t>
            </a:r>
            <a:endParaRPr lang="en-US" sz="1150" dirty="0"/>
          </a:p>
        </p:txBody>
      </p:sp>
      <p:sp>
        <p:nvSpPr>
          <p:cNvPr id="11" name="Shape 8"/>
          <p:cNvSpPr/>
          <p:nvPr/>
        </p:nvSpPr>
        <p:spPr>
          <a:xfrm>
            <a:off x="548640" y="2670048"/>
            <a:ext cx="5120640" cy="822960"/>
          </a:xfrm>
          <a:prstGeom prst="roundRect">
            <a:avLst>
              <a:gd name="adj" fmla="val 6667"/>
            </a:avLst>
          </a:prstGeom>
          <a:solidFill>
            <a:srgbClr val="FFFBEF"/>
          </a:solidFill>
          <a:ln w="12700">
            <a:solidFill>
              <a:srgbClr val="E8CE8A"/>
            </a:solidFill>
            <a:prstDash val="solid"/>
          </a:ln>
        </p:spPr>
      </p:sp>
      <p:sp>
        <p:nvSpPr>
          <p:cNvPr id="12" name="Text 9"/>
          <p:cNvSpPr txBox="1"/>
          <p:nvPr/>
        </p:nvSpPr>
        <p:spPr>
          <a:xfrm>
            <a:off x="777240" y="2743200"/>
            <a:ext cx="4663440" cy="27432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Patent va guvohnomalar</a:t>
            </a:r>
            <a:endParaRPr lang="en-US" sz="1250" dirty="0"/>
          </a:p>
        </p:txBody>
      </p:sp>
      <p:sp>
        <p:nvSpPr>
          <p:cNvPr id="13" name="Text 10"/>
          <p:cNvSpPr txBox="1"/>
          <p:nvPr/>
        </p:nvSpPr>
        <p:spPr>
          <a:xfrm>
            <a:off x="777240" y="3054096"/>
            <a:ext cx="4663440" cy="365760"/>
          </a:xfrm>
          <a:prstGeom prst="rect">
            <a:avLst/>
          </a:prstGeom>
          <a:noFill/>
          <a:ln/>
        </p:spPr>
        <p:txBody>
          <a:bodyPr wrap="square" lIns="0" tIns="0" rIns="0" bIns="0" rtlCol="0" anchor="t">
            <a:normAutofit/>
          </a:bodyPr>
          <a:lstStyle/>
          <a:p>
            <a:pPr indent="0" marL="0">
              <a:buNone/>
            </a:pPr>
            <a:r>
              <a:rPr lang="en-US" sz="1150" b="1" dirty="0">
                <a:solidFill>
                  <a:srgbClr val="8A5A00"/>
                </a:solidFill>
                <a:highlight>
                  <a:srgbClr val="FFF1C2"/>
                </a:highlight>
                <a:latin typeface="Calibri" pitchFamily="34" charset="0"/>
                <a:ea typeface="Calibri" pitchFamily="34" charset="-122"/>
                <a:cs typeface="Calibri" pitchFamily="34" charset="-120"/>
              </a:rPr>
              <a:t>[Raqami va sanasi — mavjud bo‘lsa]</a:t>
            </a:r>
            <a:endParaRPr lang="en-US" sz="1150" dirty="0"/>
          </a:p>
        </p:txBody>
      </p:sp>
      <p:sp>
        <p:nvSpPr>
          <p:cNvPr id="14" name="Shape 11"/>
          <p:cNvSpPr/>
          <p:nvPr/>
        </p:nvSpPr>
        <p:spPr>
          <a:xfrm>
            <a:off x="548640" y="3602736"/>
            <a:ext cx="5120640" cy="822960"/>
          </a:xfrm>
          <a:prstGeom prst="roundRect">
            <a:avLst>
              <a:gd name="adj" fmla="val 6667"/>
            </a:avLst>
          </a:prstGeom>
          <a:solidFill>
            <a:srgbClr val="FFFBEF"/>
          </a:solidFill>
          <a:ln w="12700">
            <a:solidFill>
              <a:srgbClr val="E8CE8A"/>
            </a:solidFill>
            <a:prstDash val="solid"/>
          </a:ln>
        </p:spPr>
      </p:sp>
      <p:sp>
        <p:nvSpPr>
          <p:cNvPr id="15" name="Text 12"/>
          <p:cNvSpPr txBox="1"/>
          <p:nvPr/>
        </p:nvSpPr>
        <p:spPr>
          <a:xfrm>
            <a:off x="777240" y="3675888"/>
            <a:ext cx="4663440" cy="27432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Tanlov, olimpiada, loyihalar</a:t>
            </a:r>
            <a:endParaRPr lang="en-US" sz="1250" dirty="0"/>
          </a:p>
        </p:txBody>
      </p:sp>
      <p:sp>
        <p:nvSpPr>
          <p:cNvPr id="16" name="Text 13"/>
          <p:cNvSpPr txBox="1"/>
          <p:nvPr/>
        </p:nvSpPr>
        <p:spPr>
          <a:xfrm>
            <a:off x="777240" y="3986784"/>
            <a:ext cx="4663440" cy="365760"/>
          </a:xfrm>
          <a:prstGeom prst="rect">
            <a:avLst/>
          </a:prstGeom>
          <a:noFill/>
          <a:ln/>
        </p:spPr>
        <p:txBody>
          <a:bodyPr wrap="square" lIns="0" tIns="0" rIns="0" bIns="0" rtlCol="0" anchor="t">
            <a:normAutofit/>
          </a:bodyPr>
          <a:lstStyle/>
          <a:p>
            <a:pPr indent="0" marL="0">
              <a:buNone/>
            </a:pPr>
            <a:r>
              <a:rPr lang="en-US" sz="1150" b="1" dirty="0">
                <a:solidFill>
                  <a:srgbClr val="8A5A00"/>
                </a:solidFill>
                <a:highlight>
                  <a:srgbClr val="FFF1C2"/>
                </a:highlight>
                <a:latin typeface="Calibri" pitchFamily="34" charset="0"/>
                <a:ea typeface="Calibri" pitchFamily="34" charset="-122"/>
                <a:cs typeface="Calibri" pitchFamily="34" charset="-120"/>
              </a:rPr>
              <a:t>[Mavjud bo‘lsa — nomi va yili]</a:t>
            </a:r>
            <a:endParaRPr lang="en-US" sz="1150" dirty="0"/>
          </a:p>
        </p:txBody>
      </p:sp>
      <p:sp>
        <p:nvSpPr>
          <p:cNvPr id="17" name="Shape 14"/>
          <p:cNvSpPr/>
          <p:nvPr/>
        </p:nvSpPr>
        <p:spPr>
          <a:xfrm>
            <a:off x="5897880" y="1737360"/>
            <a:ext cx="5760720" cy="4434840"/>
          </a:xfrm>
          <a:prstGeom prst="roundRect">
            <a:avLst>
              <a:gd name="adj" fmla="val 1237"/>
            </a:avLst>
          </a:prstGeom>
          <a:solidFill>
            <a:srgbClr val="1E2761"/>
          </a:solidFill>
          <a:ln w="12700">
            <a:solidFill>
              <a:srgbClr val="1E2761"/>
            </a:solidFill>
            <a:prstDash val="solid"/>
          </a:ln>
        </p:spPr>
      </p:sp>
      <p:sp>
        <p:nvSpPr>
          <p:cNvPr id="18" name="Text 15"/>
          <p:cNvSpPr txBox="1"/>
          <p:nvPr/>
        </p:nvSpPr>
        <p:spPr>
          <a:xfrm>
            <a:off x="6172200" y="1901952"/>
            <a:ext cx="5303520" cy="228600"/>
          </a:xfrm>
          <a:prstGeom prst="rect">
            <a:avLst/>
          </a:prstGeom>
          <a:noFill/>
          <a:ln/>
        </p:spPr>
        <p:txBody>
          <a:bodyPr wrap="square" lIns="0" tIns="0" rIns="0" bIns="0" rtlCol="0" anchor="t"/>
          <a:lstStyle/>
          <a:p>
            <a:pPr indent="0" marL="0">
              <a:buNone/>
            </a:pPr>
            <a:r>
              <a:rPr lang="en-US" sz="950" b="1" spc="120" kern="0" dirty="0">
                <a:solidFill>
                  <a:srgbClr val="C9A227"/>
                </a:solidFill>
                <a:latin typeface="Calibri" pitchFamily="34" charset="0"/>
                <a:ea typeface="Calibri" pitchFamily="34" charset="-122"/>
                <a:cs typeface="Calibri" pitchFamily="34" charset="-120"/>
              </a:rPr>
              <a:t>E’LON QILINMAGAN DASTLABKI IZLANISHLAR</a:t>
            </a:r>
            <a:endParaRPr lang="en-US" sz="950" dirty="0"/>
          </a:p>
        </p:txBody>
      </p:sp>
      <p:sp>
        <p:nvSpPr>
          <p:cNvPr id="19" name="Text 16"/>
          <p:cNvSpPr txBox="1"/>
          <p:nvPr/>
        </p:nvSpPr>
        <p:spPr>
          <a:xfrm>
            <a:off x="6172200" y="2267712"/>
            <a:ext cx="5257800" cy="3063240"/>
          </a:xfrm>
          <a:prstGeom prst="rect">
            <a:avLst/>
          </a:prstGeom>
          <a:noFill/>
          <a:ln/>
        </p:spPr>
        <p:txBody>
          <a:bodyPr wrap="square" lIns="0" tIns="0" rIns="0" bIns="0" rtlCol="0" anchor="t">
            <a:normAutofit/>
          </a:bodyPr>
          <a:lstStyle/>
          <a:p>
            <a:pPr marL="342900" indent="-342900">
              <a:spcAft>
                <a:spcPts val="1400"/>
              </a:spcAft>
              <a:buSzPct val="100000"/>
              <a:buChar char="■"/>
            </a:pPr>
            <a:r>
              <a:rPr lang="en-US" sz="1450" dirty="0">
                <a:solidFill>
                  <a:srgbClr val="FFFFFF"/>
                </a:solidFill>
                <a:latin typeface="Calibri" pitchFamily="34" charset="0"/>
                <a:ea typeface="Calibri" pitchFamily="34" charset="-122"/>
                <a:cs typeface="Calibri" pitchFamily="34" charset="-120"/>
              </a:rPr>
              <a:t>Dissertatsiya loyihasi: 7 bobli tuzilma, 50 slaydli batafsil reja</a:t>
            </a:r>
            <a:endParaRPr lang="en-US" sz="1450" dirty="0"/>
          </a:p>
          <a:p>
            <a:pPr marL="342900" indent="-342900">
              <a:spcAft>
                <a:spcPts val="1400"/>
              </a:spcAft>
              <a:buSzPct val="100000"/>
              <a:buChar char="■"/>
            </a:pPr>
            <a:r>
              <a:rPr lang="en-US" sz="1450" dirty="0">
                <a:solidFill>
                  <a:srgbClr val="FFFFFF"/>
                </a:solidFill>
                <a:latin typeface="Calibri" pitchFamily="34" charset="0"/>
                <a:ea typeface="Calibri" pitchFamily="34" charset="-122"/>
                <a:cs typeface="Calibri" pitchFamily="34" charset="-120"/>
              </a:rPr>
              <a:t>Chiqindi manbalarini aniqlash va tasdiqlash metodikasi (hujjat — suhbat — namuna)</a:t>
            </a:r>
            <a:endParaRPr lang="en-US" sz="1450" dirty="0"/>
          </a:p>
          <a:p>
            <a:pPr marL="342900" indent="-342900">
              <a:spcAft>
                <a:spcPts val="1400"/>
              </a:spcAft>
              <a:buSzPct val="100000"/>
              <a:buChar char="■"/>
            </a:pPr>
            <a:r>
              <a:rPr lang="en-US" sz="1450" dirty="0">
                <a:solidFill>
                  <a:srgbClr val="FFFFFF"/>
                </a:solidFill>
                <a:latin typeface="Calibri" pitchFamily="34" charset="0"/>
                <a:ea typeface="Calibri" pitchFamily="34" charset="-122"/>
                <a:cs typeface="Calibri" pitchFamily="34" charset="-120"/>
              </a:rPr>
              <a:t>Uchta nomzod chiqindini dastlabki qiyoslash jadvali</a:t>
            </a:r>
            <a:endParaRPr lang="en-US" sz="1450" dirty="0"/>
          </a:p>
          <a:p>
            <a:pPr marL="342900" indent="-342900">
              <a:spcAft>
                <a:spcPts val="1400"/>
              </a:spcAft>
              <a:buSzPct val="100000"/>
              <a:buChar char="■"/>
            </a:pPr>
            <a:r>
              <a:rPr lang="en-US" sz="1450" dirty="0">
                <a:solidFill>
                  <a:srgbClr val="FFFFFF"/>
                </a:solidFill>
                <a:latin typeface="Calibri" pitchFamily="34" charset="0"/>
                <a:ea typeface="Calibri" pitchFamily="34" charset="-122"/>
                <a:cs typeface="Calibri" pitchFamily="34" charset="-120"/>
              </a:rPr>
              <a:t>Adabiyotlar tahlili: 2021–2024-yillardagi xalqaro manbalar</a:t>
            </a:r>
            <a:endParaRPr lang="en-US" sz="1450" dirty="0"/>
          </a:p>
          <a:p>
            <a:pPr marL="342900" indent="-342900">
              <a:spcAft>
                <a:spcPts val="1400"/>
              </a:spcAft>
              <a:buSzPct val="100000"/>
              <a:buChar char="■"/>
            </a:pPr>
            <a:r>
              <a:rPr lang="en-US" sz="1450" dirty="0">
                <a:solidFill>
                  <a:srgbClr val="FFFFFF"/>
                </a:solidFill>
                <a:latin typeface="Calibri" pitchFamily="34" charset="0"/>
                <a:ea typeface="Calibri" pitchFamily="34" charset="-122"/>
                <a:cs typeface="Calibri" pitchFamily="34" charset="-120"/>
              </a:rPr>
              <a:t>Loyihaning interaktiv veb-versiyasi (UZ/RU)</a:t>
            </a:r>
            <a:endParaRPr lang="en-US" sz="1450" dirty="0"/>
          </a:p>
        </p:txBody>
      </p:sp>
      <p:sp>
        <p:nvSpPr>
          <p:cNvPr id="20" name="Text 17">
            <a:hlinkClick r:id="rId1" tooltip=""/>
          </p:cNvPr>
          <p:cNvSpPr txBox="1"/>
          <p:nvPr/>
        </p:nvSpPr>
        <p:spPr>
          <a:xfrm>
            <a:off x="6172200" y="5577840"/>
            <a:ext cx="5257800" cy="365760"/>
          </a:xfrm>
          <a:prstGeom prst="rect">
            <a:avLst/>
          </a:prstGeom>
          <a:noFill/>
          <a:ln/>
        </p:spPr>
        <p:txBody>
          <a:bodyPr wrap="square" lIns="0" tIns="0" rIns="0" bIns="0" rtlCol="0" anchor="t"/>
          <a:lstStyle/>
          <a:p>
            <a:pPr indent="0" marL="0">
              <a:buNone/>
            </a:pPr>
            <a:r>
              <a:rPr lang="en-US" sz="1300" b="1" u="sng" dirty="0">
                <a:solidFill>
                  <a:srgbClr val="C9A227"/>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b98658110-droid.github.io/oil</a:t>
            </a:r>
            <a:endParaRPr lang="en-US" sz="1300" dirty="0"/>
          </a:p>
        </p:txBody>
      </p:sp>
      <p:pic>
        <p:nvPicPr>
          <p:cNvPr id="21" name="Image 0" descr="/tmp/claude-0/-home-claude/1a0f1fcd-2772-57a1-9475-1557efb8a840/scratchpad/phd/img/b01.jpg">    </p:cNvPr>
          <p:cNvPicPr>
            <a:picLocks noChangeAspect="1"/>
          </p:cNvPicPr>
          <p:nvPr/>
        </p:nvPicPr>
        <p:blipFill>
          <a:blip r:embed="rId2"/>
          <a:srcRect l="0" r="0" t="0" b="0"/>
          <a:stretch/>
        </p:blipFill>
        <p:spPr>
          <a:xfrm>
            <a:off x="548640" y="4572000"/>
            <a:ext cx="5120640" cy="1600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7772400" cy="228600"/>
          </a:xfrm>
          <a:prstGeom prst="rect">
            <a:avLst/>
          </a:prstGeom>
          <a:noFill/>
          <a:ln/>
        </p:spPr>
        <p:txBody>
          <a:bodyPr wrap="square" lIns="0" tIns="0" rIns="0" bIns="0" rtlCol="0" anchor="t"/>
          <a:lstStyle/>
          <a:p>
            <a:pPr indent="0" marL="0">
              <a:buNone/>
            </a:pPr>
            <a:r>
              <a:rPr lang="en-US" sz="1000" b="1" spc="150" kern="0" dirty="0">
                <a:solidFill>
                  <a:srgbClr val="C9A227"/>
                </a:solidFill>
                <a:latin typeface="Calibri" pitchFamily="34" charset="0"/>
                <a:ea typeface="Calibri" pitchFamily="34" charset="-122"/>
                <a:cs typeface="Calibri" pitchFamily="34" charset="-120"/>
              </a:rPr>
              <a:t>DASTURNING 9-BANDI · 9-XATBOSHI</a:t>
            </a:r>
            <a:endParaRPr lang="en-US" sz="1000" dirty="0"/>
          </a:p>
        </p:txBody>
      </p:sp>
      <p:sp>
        <p:nvSpPr>
          <p:cNvPr id="3" name="Text 1"/>
          <p:cNvSpPr txBox="1"/>
          <p:nvPr/>
        </p:nvSpPr>
        <p:spPr>
          <a:xfrm>
            <a:off x="548640" y="658368"/>
            <a:ext cx="8778240" cy="868680"/>
          </a:xfrm>
          <a:prstGeom prst="rect">
            <a:avLst/>
          </a:prstGeom>
          <a:noFill/>
          <a:ln/>
        </p:spPr>
        <p:txBody>
          <a:bodyPr wrap="square" lIns="0" tIns="0" rIns="0" bIns="0" rtlCol="0" anchor="ctr">
            <a:normAutofit/>
          </a:bodyPr>
          <a:lstStyle/>
          <a:p>
            <a:pPr indent="0" marL="0">
              <a:buNone/>
            </a:pPr>
            <a:r>
              <a:rPr lang="en-US" sz="2400" b="1" dirty="0">
                <a:solidFill>
                  <a:srgbClr val="1E2761"/>
                </a:solidFill>
                <a:latin typeface="Cambria" pitchFamily="34" charset="0"/>
                <a:ea typeface="Cambria" pitchFamily="34" charset="-122"/>
                <a:cs typeface="Cambria" pitchFamily="34" charset="-120"/>
              </a:rPr>
              <a:t>Kutilayotgan natijalar, tatbiq va tijoratlashtirish istiqbollari</a:t>
            </a:r>
            <a:endParaRPr lang="en-US" sz="2400" dirty="0"/>
          </a:p>
        </p:txBody>
      </p:sp>
      <p:sp>
        <p:nvSpPr>
          <p:cNvPr id="4" name="mezon"/>
          <p:cNvSpPr/>
          <p:nvPr/>
        </p:nvSpPr>
        <p:spPr>
          <a:xfrm>
            <a:off x="9921240" y="457200"/>
            <a:ext cx="1737360" cy="566928"/>
          </a:xfrm>
          <a:prstGeom prst="roundRect">
            <a:avLst>
              <a:gd name="adj" fmla="val 9677"/>
            </a:avLst>
          </a:prstGeom>
          <a:solidFill>
            <a:srgbClr val="1E2761"/>
          </a:solidFill>
          <a:ln w="12700">
            <a:solidFill>
              <a:srgbClr val="1E2761"/>
            </a:solidFill>
            <a:prstDash val="solid"/>
          </a:ln>
        </p:spPr>
      </p:sp>
      <p:sp>
        <p:nvSpPr>
          <p:cNvPr id="5" name="Text 3"/>
          <p:cNvSpPr txBox="1"/>
          <p:nvPr/>
        </p:nvSpPr>
        <p:spPr>
          <a:xfrm>
            <a:off x="9921240" y="457200"/>
            <a:ext cx="1737360" cy="566928"/>
          </a:xfrm>
          <a:prstGeom prst="rect">
            <a:avLst/>
          </a:prstGeom>
          <a:noFill/>
          <a:ln/>
        </p:spPr>
        <p:txBody>
          <a:bodyPr wrap="square" lIns="0" tIns="0" rIns="0" bIns="0" rtlCol="0" anchor="ctr"/>
          <a:lstStyle/>
          <a:p>
            <a:pPr algn="ctr" indent="0" marL="0">
              <a:buNone/>
            </a:pPr>
            <a:r>
              <a:rPr lang="en-US" sz="1100" b="1" spc="100" kern="0" dirty="0">
                <a:solidFill>
                  <a:srgbClr val="C9A227"/>
                </a:solidFill>
                <a:latin typeface="Calibri" pitchFamily="34" charset="0"/>
                <a:ea typeface="Calibri" pitchFamily="34" charset="-122"/>
                <a:cs typeface="Calibri" pitchFamily="34" charset="-120"/>
              </a:rPr>
              <a:t>4-MEZON</a:t>
            </a:r>
            <a:endParaRPr lang="en-US" sz="1100" dirty="0"/>
          </a:p>
        </p:txBody>
      </p:sp>
      <p:sp>
        <p:nvSpPr>
          <p:cNvPr id="6" name="Text 4"/>
          <p:cNvSpPr txBox="1"/>
          <p:nvPr/>
        </p:nvSpPr>
        <p:spPr>
          <a:xfrm>
            <a:off x="10241280" y="6419088"/>
            <a:ext cx="1417320" cy="274320"/>
          </a:xfrm>
          <a:prstGeom prst="rect">
            <a:avLst/>
          </a:prstGeom>
          <a:noFill/>
          <a:ln/>
        </p:spPr>
        <p:txBody>
          <a:bodyPr wrap="square" lIns="0" tIns="0" rIns="0" bIns="0" rtlCol="0" anchor="t"/>
          <a:lstStyle/>
          <a:p>
            <a:pPr algn="r" indent="0" marL="0">
              <a:buNone/>
            </a:pPr>
            <a:r>
              <a:rPr lang="en-US" sz="900" dirty="0">
                <a:solidFill>
                  <a:srgbClr val="8A93AE"/>
                </a:solidFill>
                <a:latin typeface="Calibri" pitchFamily="34" charset="0"/>
                <a:ea typeface="Calibri" pitchFamily="34" charset="-122"/>
                <a:cs typeface="Calibri" pitchFamily="34" charset="-120"/>
              </a:rPr>
              <a:t>14 / 15</a:t>
            </a:r>
            <a:endParaRPr lang="en-US" sz="900" dirty="0"/>
          </a:p>
        </p:txBody>
      </p:sp>
      <p:sp>
        <p:nvSpPr>
          <p:cNvPr id="8" name="Text 5"/>
          <p:cNvSpPr txBox="1"/>
          <p:nvPr/>
        </p:nvSpPr>
        <p:spPr>
          <a:xfrm>
            <a:off x="548640" y="1719072"/>
            <a:ext cx="7315200" cy="228600"/>
          </a:xfrm>
          <a:prstGeom prst="rect">
            <a:avLst/>
          </a:prstGeom>
          <a:noFill/>
          <a:ln/>
        </p:spPr>
        <p:txBody>
          <a:bodyPr wrap="square" lIns="0" tIns="0" rIns="0" bIns="0" rtlCol="0" anchor="t"/>
          <a:lstStyle/>
          <a:p>
            <a:pPr indent="0" marL="0">
              <a:buNone/>
            </a:pPr>
            <a:r>
              <a:rPr lang="en-US" sz="950" b="1" spc="120" kern="0" dirty="0">
                <a:solidFill>
                  <a:srgbClr val="C9A227"/>
                </a:solidFill>
                <a:latin typeface="Calibri" pitchFamily="34" charset="0"/>
                <a:ea typeface="Calibri" pitchFamily="34" charset="-122"/>
                <a:cs typeface="Calibri" pitchFamily="34" charset="-120"/>
              </a:rPr>
              <a:t>O‘LCHANADIGAN NATIJALAR</a:t>
            </a:r>
            <a:endParaRPr lang="en-US" sz="950" dirty="0"/>
          </a:p>
        </p:txBody>
      </p:sp>
      <p:sp>
        <p:nvSpPr>
          <p:cNvPr id="9" name="Shape 6"/>
          <p:cNvSpPr/>
          <p:nvPr/>
        </p:nvSpPr>
        <p:spPr>
          <a:xfrm>
            <a:off x="548640" y="2011680"/>
            <a:ext cx="1737360" cy="1417320"/>
          </a:xfrm>
          <a:prstGeom prst="roundRect">
            <a:avLst>
              <a:gd name="adj" fmla="val 3871"/>
            </a:avLst>
          </a:prstGeom>
          <a:solidFill>
            <a:srgbClr val="1E2761"/>
          </a:solidFill>
          <a:ln w="12700">
            <a:solidFill>
              <a:srgbClr val="1E2761"/>
            </a:solidFill>
            <a:prstDash val="solid"/>
          </a:ln>
        </p:spPr>
      </p:sp>
      <p:sp>
        <p:nvSpPr>
          <p:cNvPr id="10" name="Text 7"/>
          <p:cNvSpPr txBox="1"/>
          <p:nvPr/>
        </p:nvSpPr>
        <p:spPr>
          <a:xfrm>
            <a:off x="658368" y="2084832"/>
            <a:ext cx="1517904" cy="640080"/>
          </a:xfrm>
          <a:prstGeom prst="rect">
            <a:avLst/>
          </a:prstGeom>
          <a:noFill/>
          <a:ln/>
        </p:spPr>
        <p:txBody>
          <a:bodyPr wrap="square" lIns="0" tIns="0" rIns="0" bIns="0" rtlCol="0" anchor="ctr">
            <a:normAutofit/>
          </a:bodyPr>
          <a:lstStyle/>
          <a:p>
            <a:pPr algn="ctr" indent="0" marL="0">
              <a:buNone/>
            </a:pPr>
            <a:r>
              <a:rPr lang="en-US" sz="2600" b="1" dirty="0">
                <a:solidFill>
                  <a:srgbClr val="C9A227"/>
                </a:solidFill>
                <a:latin typeface="Cambria" pitchFamily="34" charset="0"/>
                <a:ea typeface="Cambria" pitchFamily="34" charset="-122"/>
                <a:cs typeface="Cambria" pitchFamily="34" charset="-120"/>
              </a:rPr>
              <a:t>≥ 3</a:t>
            </a:r>
            <a:endParaRPr lang="en-US" sz="2600" dirty="0"/>
          </a:p>
        </p:txBody>
      </p:sp>
      <p:sp>
        <p:nvSpPr>
          <p:cNvPr id="11" name="Text 8"/>
          <p:cNvSpPr txBox="1"/>
          <p:nvPr/>
        </p:nvSpPr>
        <p:spPr>
          <a:xfrm>
            <a:off x="658368" y="2743200"/>
            <a:ext cx="1517904" cy="621792"/>
          </a:xfrm>
          <a:prstGeom prst="rect">
            <a:avLst/>
          </a:prstGeom>
          <a:noFill/>
          <a:ln/>
        </p:spPr>
        <p:txBody>
          <a:bodyPr wrap="square" lIns="0" tIns="0" rIns="0" bIns="0" rtlCol="0" anchor="t">
            <a:normAutofit/>
          </a:bodyPr>
          <a:lstStyle/>
          <a:p>
            <a:pPr algn="ctr" indent="0" marL="0">
              <a:buNone/>
            </a:pPr>
            <a:r>
              <a:rPr lang="en-US" sz="1100" dirty="0">
                <a:solidFill>
                  <a:srgbClr val="FFFFFF"/>
                </a:solidFill>
                <a:latin typeface="Calibri" pitchFamily="34" charset="0"/>
                <a:ea typeface="Calibri" pitchFamily="34" charset="-122"/>
                <a:cs typeface="Calibri" pitchFamily="34" charset="-120"/>
              </a:rPr>
              <a:t>chiqindi pasporti</a:t>
            </a:r>
            <a:endParaRPr lang="en-US" sz="1100" dirty="0"/>
          </a:p>
        </p:txBody>
      </p:sp>
      <p:sp>
        <p:nvSpPr>
          <p:cNvPr id="12" name="Shape 9"/>
          <p:cNvSpPr/>
          <p:nvPr/>
        </p:nvSpPr>
        <p:spPr>
          <a:xfrm>
            <a:off x="2414016" y="2011680"/>
            <a:ext cx="1737360" cy="1417320"/>
          </a:xfrm>
          <a:prstGeom prst="roundRect">
            <a:avLst>
              <a:gd name="adj" fmla="val 3871"/>
            </a:avLst>
          </a:prstGeom>
          <a:solidFill>
            <a:srgbClr val="F4F6FB"/>
          </a:solidFill>
          <a:ln w="12700">
            <a:solidFill>
              <a:srgbClr val="CADCFC"/>
            </a:solidFill>
            <a:prstDash val="solid"/>
          </a:ln>
        </p:spPr>
      </p:sp>
      <p:sp>
        <p:nvSpPr>
          <p:cNvPr id="13" name="Text 10"/>
          <p:cNvSpPr txBox="1"/>
          <p:nvPr/>
        </p:nvSpPr>
        <p:spPr>
          <a:xfrm>
            <a:off x="2523744" y="2084832"/>
            <a:ext cx="1517904" cy="640080"/>
          </a:xfrm>
          <a:prstGeom prst="rect">
            <a:avLst/>
          </a:prstGeom>
          <a:noFill/>
          <a:ln/>
        </p:spPr>
        <p:txBody>
          <a:bodyPr wrap="square" lIns="0" tIns="0" rIns="0" bIns="0" rtlCol="0" anchor="ctr">
            <a:normAutofit/>
          </a:bodyPr>
          <a:lstStyle/>
          <a:p>
            <a:pPr algn="ctr" indent="0" marL="0">
              <a:buNone/>
            </a:pPr>
            <a:r>
              <a:rPr lang="en-US" sz="2600" b="1" dirty="0">
                <a:solidFill>
                  <a:srgbClr val="1E2761"/>
                </a:solidFill>
                <a:latin typeface="Cambria" pitchFamily="34" charset="0"/>
                <a:ea typeface="Cambria" pitchFamily="34" charset="-122"/>
                <a:cs typeface="Cambria" pitchFamily="34" charset="-120"/>
              </a:rPr>
              <a:t>5 × 3</a:t>
            </a:r>
            <a:endParaRPr lang="en-US" sz="2600" dirty="0"/>
          </a:p>
        </p:txBody>
      </p:sp>
      <p:sp>
        <p:nvSpPr>
          <p:cNvPr id="14" name="Text 11"/>
          <p:cNvSpPr txBox="1"/>
          <p:nvPr/>
        </p:nvSpPr>
        <p:spPr>
          <a:xfrm>
            <a:off x="2523744" y="2743200"/>
            <a:ext cx="1517904" cy="621792"/>
          </a:xfrm>
          <a:prstGeom prst="rect">
            <a:avLst/>
          </a:prstGeom>
          <a:noFill/>
          <a:ln/>
        </p:spPr>
        <p:txBody>
          <a:bodyPr wrap="square" lIns="0" tIns="0" rIns="0" bIns="0" rtlCol="0" anchor="t">
            <a:normAutofit/>
          </a:bodyPr>
          <a:lstStyle/>
          <a:p>
            <a:pPr algn="ctr" indent="0" marL="0">
              <a:buNone/>
            </a:pPr>
            <a:r>
              <a:rPr lang="en-US" sz="1100" dirty="0">
                <a:solidFill>
                  <a:srgbClr val="1F2633"/>
                </a:solidFill>
                <a:latin typeface="Calibri" pitchFamily="34" charset="0"/>
                <a:ea typeface="Calibri" pitchFamily="34" charset="-122"/>
                <a:cs typeface="Calibri" pitchFamily="34" charset="-120"/>
              </a:rPr>
              <a:t>tarkib × takror seriyalari</a:t>
            </a:r>
            <a:endParaRPr lang="en-US" sz="1100" dirty="0"/>
          </a:p>
        </p:txBody>
      </p:sp>
      <p:sp>
        <p:nvSpPr>
          <p:cNvPr id="15" name="Shape 12"/>
          <p:cNvSpPr/>
          <p:nvPr/>
        </p:nvSpPr>
        <p:spPr>
          <a:xfrm>
            <a:off x="4279392" y="2011680"/>
            <a:ext cx="1737360" cy="1417320"/>
          </a:xfrm>
          <a:prstGeom prst="roundRect">
            <a:avLst>
              <a:gd name="adj" fmla="val 3871"/>
            </a:avLst>
          </a:prstGeom>
          <a:solidFill>
            <a:srgbClr val="1E2761"/>
          </a:solidFill>
          <a:ln w="12700">
            <a:solidFill>
              <a:srgbClr val="1E2761"/>
            </a:solidFill>
            <a:prstDash val="solid"/>
          </a:ln>
        </p:spPr>
      </p:sp>
      <p:sp>
        <p:nvSpPr>
          <p:cNvPr id="16" name="Text 13"/>
          <p:cNvSpPr txBox="1"/>
          <p:nvPr/>
        </p:nvSpPr>
        <p:spPr>
          <a:xfrm>
            <a:off x="4389120" y="2084832"/>
            <a:ext cx="1517904" cy="640080"/>
          </a:xfrm>
          <a:prstGeom prst="rect">
            <a:avLst/>
          </a:prstGeom>
          <a:noFill/>
          <a:ln/>
        </p:spPr>
        <p:txBody>
          <a:bodyPr wrap="square" lIns="0" tIns="0" rIns="0" bIns="0" rtlCol="0" anchor="ctr">
            <a:normAutofit/>
          </a:bodyPr>
          <a:lstStyle/>
          <a:p>
            <a:pPr algn="ctr" indent="0" marL="0">
              <a:buNone/>
            </a:pPr>
            <a:r>
              <a:rPr lang="en-US" sz="2600" b="1" dirty="0">
                <a:solidFill>
                  <a:srgbClr val="C9A227"/>
                </a:solidFill>
                <a:latin typeface="Cambria" pitchFamily="34" charset="0"/>
                <a:ea typeface="Cambria" pitchFamily="34" charset="-122"/>
                <a:cs typeface="Cambria" pitchFamily="34" charset="-120"/>
              </a:rPr>
              <a:t>1</a:t>
            </a:r>
            <a:endParaRPr lang="en-US" sz="2600" dirty="0"/>
          </a:p>
        </p:txBody>
      </p:sp>
      <p:sp>
        <p:nvSpPr>
          <p:cNvPr id="17" name="Text 14"/>
          <p:cNvSpPr txBox="1"/>
          <p:nvPr/>
        </p:nvSpPr>
        <p:spPr>
          <a:xfrm>
            <a:off x="4389120" y="2743200"/>
            <a:ext cx="1517904" cy="621792"/>
          </a:xfrm>
          <a:prstGeom prst="rect">
            <a:avLst/>
          </a:prstGeom>
          <a:noFill/>
          <a:ln/>
        </p:spPr>
        <p:txBody>
          <a:bodyPr wrap="square" lIns="0" tIns="0" rIns="0" bIns="0" rtlCol="0" anchor="t">
            <a:normAutofit/>
          </a:bodyPr>
          <a:lstStyle/>
          <a:p>
            <a:pPr algn="ctr" indent="0" marL="0">
              <a:buNone/>
            </a:pPr>
            <a:r>
              <a:rPr lang="en-US" sz="1100" dirty="0">
                <a:solidFill>
                  <a:srgbClr val="FFFFFF"/>
                </a:solidFill>
                <a:latin typeface="Calibri" pitchFamily="34" charset="0"/>
                <a:ea typeface="Calibri" pitchFamily="34" charset="-122"/>
                <a:cs typeface="Calibri" pitchFamily="34" charset="-120"/>
              </a:rPr>
              <a:t>regressiya modeli va optimal diapazon</a:t>
            </a:r>
            <a:endParaRPr lang="en-US" sz="1100" dirty="0"/>
          </a:p>
        </p:txBody>
      </p:sp>
      <p:sp>
        <p:nvSpPr>
          <p:cNvPr id="18" name="Shape 15"/>
          <p:cNvSpPr/>
          <p:nvPr/>
        </p:nvSpPr>
        <p:spPr>
          <a:xfrm>
            <a:off x="6144768" y="2011680"/>
            <a:ext cx="1737360" cy="1417320"/>
          </a:xfrm>
          <a:prstGeom prst="roundRect">
            <a:avLst>
              <a:gd name="adj" fmla="val 3871"/>
            </a:avLst>
          </a:prstGeom>
          <a:solidFill>
            <a:srgbClr val="F4F6FB"/>
          </a:solidFill>
          <a:ln w="12700">
            <a:solidFill>
              <a:srgbClr val="CADCFC"/>
            </a:solidFill>
            <a:prstDash val="solid"/>
          </a:ln>
        </p:spPr>
      </p:sp>
      <p:sp>
        <p:nvSpPr>
          <p:cNvPr id="19" name="Text 16"/>
          <p:cNvSpPr txBox="1"/>
          <p:nvPr/>
        </p:nvSpPr>
        <p:spPr>
          <a:xfrm>
            <a:off x="6254496" y="2084832"/>
            <a:ext cx="1517904" cy="640080"/>
          </a:xfrm>
          <a:prstGeom prst="rect">
            <a:avLst/>
          </a:prstGeom>
          <a:noFill/>
          <a:ln/>
        </p:spPr>
        <p:txBody>
          <a:bodyPr wrap="square" lIns="0" tIns="0" rIns="0" bIns="0" rtlCol="0" anchor="ctr">
            <a:normAutofit/>
          </a:bodyPr>
          <a:lstStyle/>
          <a:p>
            <a:pPr algn="ctr" indent="0" marL="0">
              <a:buNone/>
            </a:pPr>
            <a:r>
              <a:rPr lang="en-US" sz="2600" b="1" dirty="0">
                <a:solidFill>
                  <a:srgbClr val="1E2761"/>
                </a:solidFill>
                <a:latin typeface="Cambria" pitchFamily="34" charset="0"/>
                <a:ea typeface="Cambria" pitchFamily="34" charset="-122"/>
                <a:cs typeface="Cambria" pitchFamily="34" charset="-120"/>
              </a:rPr>
              <a:t>≥ 3</a:t>
            </a:r>
            <a:endParaRPr lang="en-US" sz="2600" dirty="0"/>
          </a:p>
        </p:txBody>
      </p:sp>
      <p:sp>
        <p:nvSpPr>
          <p:cNvPr id="20" name="Text 17"/>
          <p:cNvSpPr txBox="1"/>
          <p:nvPr/>
        </p:nvSpPr>
        <p:spPr>
          <a:xfrm>
            <a:off x="6254496" y="2743200"/>
            <a:ext cx="1517904" cy="621792"/>
          </a:xfrm>
          <a:prstGeom prst="rect">
            <a:avLst/>
          </a:prstGeom>
          <a:noFill/>
          <a:ln/>
        </p:spPr>
        <p:txBody>
          <a:bodyPr wrap="square" lIns="0" tIns="0" rIns="0" bIns="0" rtlCol="0" anchor="t">
            <a:normAutofit/>
          </a:bodyPr>
          <a:lstStyle/>
          <a:p>
            <a:pPr algn="ctr" indent="0" marL="0">
              <a:buNone/>
            </a:pPr>
            <a:r>
              <a:rPr lang="en-US" sz="1100" dirty="0">
                <a:solidFill>
                  <a:srgbClr val="1F2633"/>
                </a:solidFill>
                <a:latin typeface="Calibri" pitchFamily="34" charset="0"/>
                <a:ea typeface="Calibri" pitchFamily="34" charset="-122"/>
                <a:cs typeface="Calibri" pitchFamily="34" charset="-120"/>
              </a:rPr>
              <a:t>ilmiy maqola (OAK, xalqaro)</a:t>
            </a:r>
            <a:endParaRPr lang="en-US" sz="1100" dirty="0"/>
          </a:p>
        </p:txBody>
      </p:sp>
      <p:sp>
        <p:nvSpPr>
          <p:cNvPr id="21" name="Shape 18"/>
          <p:cNvSpPr/>
          <p:nvPr/>
        </p:nvSpPr>
        <p:spPr>
          <a:xfrm>
            <a:off x="8010144" y="2011680"/>
            <a:ext cx="1737360" cy="1417320"/>
          </a:xfrm>
          <a:prstGeom prst="roundRect">
            <a:avLst>
              <a:gd name="adj" fmla="val 3871"/>
            </a:avLst>
          </a:prstGeom>
          <a:solidFill>
            <a:srgbClr val="1E2761"/>
          </a:solidFill>
          <a:ln w="12700">
            <a:solidFill>
              <a:srgbClr val="1E2761"/>
            </a:solidFill>
            <a:prstDash val="solid"/>
          </a:ln>
        </p:spPr>
      </p:sp>
      <p:sp>
        <p:nvSpPr>
          <p:cNvPr id="22" name="Text 19"/>
          <p:cNvSpPr txBox="1"/>
          <p:nvPr/>
        </p:nvSpPr>
        <p:spPr>
          <a:xfrm>
            <a:off x="8119872" y="2084832"/>
            <a:ext cx="1517904" cy="640080"/>
          </a:xfrm>
          <a:prstGeom prst="rect">
            <a:avLst/>
          </a:prstGeom>
          <a:noFill/>
          <a:ln/>
        </p:spPr>
        <p:txBody>
          <a:bodyPr wrap="square" lIns="0" tIns="0" rIns="0" bIns="0" rtlCol="0" anchor="ctr">
            <a:normAutofit/>
          </a:bodyPr>
          <a:lstStyle/>
          <a:p>
            <a:pPr algn="ctr" indent="0" marL="0">
              <a:buNone/>
            </a:pPr>
            <a:r>
              <a:rPr lang="en-US" sz="2600" b="1" dirty="0">
                <a:solidFill>
                  <a:srgbClr val="C9A227"/>
                </a:solidFill>
                <a:latin typeface="Cambria" pitchFamily="34" charset="0"/>
                <a:ea typeface="Cambria" pitchFamily="34" charset="-122"/>
                <a:cs typeface="Cambria" pitchFamily="34" charset="-120"/>
              </a:rPr>
              <a:t>1</a:t>
            </a:r>
            <a:endParaRPr lang="en-US" sz="2600" dirty="0"/>
          </a:p>
        </p:txBody>
      </p:sp>
      <p:sp>
        <p:nvSpPr>
          <p:cNvPr id="23" name="Text 20"/>
          <p:cNvSpPr txBox="1"/>
          <p:nvPr/>
        </p:nvSpPr>
        <p:spPr>
          <a:xfrm>
            <a:off x="8119872" y="2743200"/>
            <a:ext cx="1517904" cy="621792"/>
          </a:xfrm>
          <a:prstGeom prst="rect">
            <a:avLst/>
          </a:prstGeom>
          <a:noFill/>
          <a:ln/>
        </p:spPr>
        <p:txBody>
          <a:bodyPr wrap="square" lIns="0" tIns="0" rIns="0" bIns="0" rtlCol="0" anchor="t">
            <a:normAutofit/>
          </a:bodyPr>
          <a:lstStyle/>
          <a:p>
            <a:pPr algn="ctr" indent="0" marL="0">
              <a:buNone/>
            </a:pPr>
            <a:r>
              <a:rPr lang="en-US" sz="1100" dirty="0">
                <a:solidFill>
                  <a:srgbClr val="FFFFFF"/>
                </a:solidFill>
                <a:latin typeface="Calibri" pitchFamily="34" charset="0"/>
                <a:ea typeface="Calibri" pitchFamily="34" charset="-122"/>
                <a:cs typeface="Calibri" pitchFamily="34" charset="-120"/>
              </a:rPr>
              <a:t>ixtiro patentiga talabnoma</a:t>
            </a:r>
            <a:endParaRPr lang="en-US" sz="1100" dirty="0"/>
          </a:p>
        </p:txBody>
      </p:sp>
      <p:sp>
        <p:nvSpPr>
          <p:cNvPr id="24" name="Shape 21"/>
          <p:cNvSpPr/>
          <p:nvPr/>
        </p:nvSpPr>
        <p:spPr>
          <a:xfrm>
            <a:off x="9875520" y="2011680"/>
            <a:ext cx="1737360" cy="1417320"/>
          </a:xfrm>
          <a:prstGeom prst="roundRect">
            <a:avLst>
              <a:gd name="adj" fmla="val 3871"/>
            </a:avLst>
          </a:prstGeom>
          <a:solidFill>
            <a:srgbClr val="F4F6FB"/>
          </a:solidFill>
          <a:ln w="12700">
            <a:solidFill>
              <a:srgbClr val="CADCFC"/>
            </a:solidFill>
            <a:prstDash val="solid"/>
          </a:ln>
        </p:spPr>
      </p:sp>
      <p:sp>
        <p:nvSpPr>
          <p:cNvPr id="25" name="Text 22"/>
          <p:cNvSpPr txBox="1"/>
          <p:nvPr/>
        </p:nvSpPr>
        <p:spPr>
          <a:xfrm>
            <a:off x="9985248" y="2084832"/>
            <a:ext cx="1517904" cy="640080"/>
          </a:xfrm>
          <a:prstGeom prst="rect">
            <a:avLst/>
          </a:prstGeom>
          <a:noFill/>
          <a:ln/>
        </p:spPr>
        <p:txBody>
          <a:bodyPr wrap="square" lIns="0" tIns="0" rIns="0" bIns="0" rtlCol="0" anchor="ctr">
            <a:normAutofit/>
          </a:bodyPr>
          <a:lstStyle/>
          <a:p>
            <a:pPr algn="ctr" indent="0" marL="0">
              <a:buNone/>
            </a:pPr>
            <a:r>
              <a:rPr lang="en-US" sz="2600" b="1" dirty="0">
                <a:solidFill>
                  <a:srgbClr val="1E2761"/>
                </a:solidFill>
                <a:latin typeface="Cambria" pitchFamily="34" charset="0"/>
                <a:ea typeface="Cambria" pitchFamily="34" charset="-122"/>
                <a:cs typeface="Cambria" pitchFamily="34" charset="-120"/>
              </a:rPr>
              <a:t>1</a:t>
            </a:r>
            <a:endParaRPr lang="en-US" sz="2600" dirty="0"/>
          </a:p>
        </p:txBody>
      </p:sp>
      <p:sp>
        <p:nvSpPr>
          <p:cNvPr id="26" name="Text 23"/>
          <p:cNvSpPr txBox="1"/>
          <p:nvPr/>
        </p:nvSpPr>
        <p:spPr>
          <a:xfrm>
            <a:off x="9985248" y="2743200"/>
            <a:ext cx="1517904" cy="621792"/>
          </a:xfrm>
          <a:prstGeom prst="rect">
            <a:avLst/>
          </a:prstGeom>
          <a:noFill/>
          <a:ln/>
        </p:spPr>
        <p:txBody>
          <a:bodyPr wrap="square" lIns="0" tIns="0" rIns="0" bIns="0" rtlCol="0" anchor="t">
            <a:normAutofit/>
          </a:bodyPr>
          <a:lstStyle/>
          <a:p>
            <a:pPr algn="ctr" indent="0" marL="0">
              <a:buNone/>
            </a:pPr>
            <a:r>
              <a:rPr lang="en-US" sz="1100" dirty="0">
                <a:solidFill>
                  <a:srgbClr val="1F2633"/>
                </a:solidFill>
                <a:latin typeface="Calibri" pitchFamily="34" charset="0"/>
                <a:ea typeface="Calibri" pitchFamily="34" charset="-122"/>
                <a:cs typeface="Calibri" pitchFamily="34" charset="-120"/>
              </a:rPr>
              <a:t>tatbiq dalolatnomasi (pilot)</a:t>
            </a:r>
            <a:endParaRPr lang="en-US" sz="1100" dirty="0"/>
          </a:p>
        </p:txBody>
      </p:sp>
      <p:sp>
        <p:nvSpPr>
          <p:cNvPr id="27" name="Shape 24"/>
          <p:cNvSpPr/>
          <p:nvPr/>
        </p:nvSpPr>
        <p:spPr>
          <a:xfrm>
            <a:off x="548640" y="3657600"/>
            <a:ext cx="3611880" cy="2514600"/>
          </a:xfrm>
          <a:prstGeom prst="roundRect">
            <a:avLst>
              <a:gd name="adj" fmla="val 2182"/>
            </a:avLst>
          </a:prstGeom>
          <a:solidFill>
            <a:srgbClr val="FFFFFF"/>
          </a:solidFill>
          <a:ln w="12700">
            <a:solidFill>
              <a:srgbClr val="CADCFC"/>
            </a:solidFill>
            <a:prstDash val="solid"/>
          </a:ln>
        </p:spPr>
      </p:sp>
      <p:sp>
        <p:nvSpPr>
          <p:cNvPr id="28" name="Shape 25"/>
          <p:cNvSpPr/>
          <p:nvPr/>
        </p:nvSpPr>
        <p:spPr>
          <a:xfrm>
            <a:off x="749808" y="3822192"/>
            <a:ext cx="384048" cy="384048"/>
          </a:xfrm>
          <a:prstGeom prst="ellipse">
            <a:avLst/>
          </a:prstGeom>
          <a:solidFill>
            <a:srgbClr val="C9A227"/>
          </a:solidFill>
          <a:ln w="12700">
            <a:solidFill>
              <a:srgbClr val="C9A227"/>
            </a:solidFill>
            <a:prstDash val="solid"/>
          </a:ln>
        </p:spPr>
      </p:sp>
      <p:sp>
        <p:nvSpPr>
          <p:cNvPr id="29" name="Text 26"/>
          <p:cNvSpPr txBox="1"/>
          <p:nvPr/>
        </p:nvSpPr>
        <p:spPr>
          <a:xfrm>
            <a:off x="749808" y="3822192"/>
            <a:ext cx="384048" cy="384048"/>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1</a:t>
            </a:r>
            <a:endParaRPr lang="en-US" sz="1300" dirty="0"/>
          </a:p>
        </p:txBody>
      </p:sp>
      <p:sp>
        <p:nvSpPr>
          <p:cNvPr id="30" name="Text 27"/>
          <p:cNvSpPr txBox="1"/>
          <p:nvPr/>
        </p:nvSpPr>
        <p:spPr>
          <a:xfrm>
            <a:off x="1261872" y="3822192"/>
            <a:ext cx="2743200" cy="384048"/>
          </a:xfrm>
          <a:prstGeom prst="rect">
            <a:avLst/>
          </a:prstGeom>
          <a:noFill/>
          <a:ln/>
        </p:spPr>
        <p:txBody>
          <a:bodyPr wrap="square" lIns="0" tIns="0" rIns="0" bIns="0" rtlCol="0" anchor="ctr">
            <a:normAutofit/>
          </a:bodyPr>
          <a:lstStyle/>
          <a:p>
            <a:pPr indent="0" marL="0">
              <a:buNone/>
            </a:pPr>
            <a:r>
              <a:rPr lang="en-US" sz="1300" b="1" dirty="0">
                <a:solidFill>
                  <a:srgbClr val="1E2761"/>
                </a:solidFill>
                <a:latin typeface="Calibri" pitchFamily="34" charset="0"/>
                <a:ea typeface="Calibri" pitchFamily="34" charset="-122"/>
                <a:cs typeface="Calibri" pitchFamily="34" charset="-120"/>
              </a:rPr>
              <a:t>Ilmiy-amaliy ahamiyati</a:t>
            </a:r>
            <a:endParaRPr lang="en-US" sz="1300" dirty="0"/>
          </a:p>
        </p:txBody>
      </p:sp>
      <p:sp>
        <p:nvSpPr>
          <p:cNvPr id="31" name="Text 28"/>
          <p:cNvSpPr txBox="1"/>
          <p:nvPr/>
        </p:nvSpPr>
        <p:spPr>
          <a:xfrm>
            <a:off x="749808" y="4343400"/>
            <a:ext cx="3200400" cy="1737360"/>
          </a:xfrm>
          <a:prstGeom prst="rect">
            <a:avLst/>
          </a:prstGeom>
          <a:noFill/>
          <a:ln/>
        </p:spPr>
        <p:txBody>
          <a:bodyPr wrap="square" lIns="0" tIns="0" rIns="0" bIns="0" rtlCol="0" anchor="t">
            <a:normAutofit/>
          </a:bodyPr>
          <a:lstStyle/>
          <a:p>
            <a:pPr indent="0" marL="0">
              <a:buNone/>
            </a:pPr>
            <a:r>
              <a:rPr lang="en-US" sz="1350" dirty="0">
                <a:solidFill>
                  <a:srgbClr val="1F2633"/>
                </a:solidFill>
                <a:latin typeface="Calibri" pitchFamily="34" charset="0"/>
                <a:ea typeface="Calibri" pitchFamily="34" charset="-122"/>
                <a:cs typeface="Calibri" pitchFamily="34" charset="-120"/>
              </a:rPr>
              <a:t>Chiqindi tarkibi va kompozit xossalari bog‘liqligi asoslanadi; xomashyo tanlash, tayyorlash va sifat nazorati bo‘yicha tavsiyalar ishlab chiqiladi.</a:t>
            </a:r>
            <a:endParaRPr lang="en-US" sz="1350" dirty="0"/>
          </a:p>
        </p:txBody>
      </p:sp>
      <p:sp>
        <p:nvSpPr>
          <p:cNvPr id="32" name="Shape 29"/>
          <p:cNvSpPr/>
          <p:nvPr/>
        </p:nvSpPr>
        <p:spPr>
          <a:xfrm>
            <a:off x="4297680" y="3657600"/>
            <a:ext cx="3611880" cy="2514600"/>
          </a:xfrm>
          <a:prstGeom prst="roundRect">
            <a:avLst>
              <a:gd name="adj" fmla="val 2182"/>
            </a:avLst>
          </a:prstGeom>
          <a:solidFill>
            <a:srgbClr val="FFFFFF"/>
          </a:solidFill>
          <a:ln w="12700">
            <a:solidFill>
              <a:srgbClr val="CADCFC"/>
            </a:solidFill>
            <a:prstDash val="solid"/>
          </a:ln>
        </p:spPr>
      </p:sp>
      <p:sp>
        <p:nvSpPr>
          <p:cNvPr id="33" name="Shape 30"/>
          <p:cNvSpPr/>
          <p:nvPr/>
        </p:nvSpPr>
        <p:spPr>
          <a:xfrm>
            <a:off x="4498848" y="3822192"/>
            <a:ext cx="384048" cy="384048"/>
          </a:xfrm>
          <a:prstGeom prst="ellipse">
            <a:avLst/>
          </a:prstGeom>
          <a:solidFill>
            <a:srgbClr val="C9A227"/>
          </a:solidFill>
          <a:ln w="12700">
            <a:solidFill>
              <a:srgbClr val="C9A227"/>
            </a:solidFill>
            <a:prstDash val="solid"/>
          </a:ln>
        </p:spPr>
      </p:sp>
      <p:sp>
        <p:nvSpPr>
          <p:cNvPr id="34" name="Text 31"/>
          <p:cNvSpPr txBox="1"/>
          <p:nvPr/>
        </p:nvSpPr>
        <p:spPr>
          <a:xfrm>
            <a:off x="4498848" y="3822192"/>
            <a:ext cx="384048" cy="384048"/>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2</a:t>
            </a:r>
            <a:endParaRPr lang="en-US" sz="1300" dirty="0"/>
          </a:p>
        </p:txBody>
      </p:sp>
      <p:sp>
        <p:nvSpPr>
          <p:cNvPr id="35" name="Text 32"/>
          <p:cNvSpPr txBox="1"/>
          <p:nvPr/>
        </p:nvSpPr>
        <p:spPr>
          <a:xfrm>
            <a:off x="5010912" y="3822192"/>
            <a:ext cx="2743200" cy="384048"/>
          </a:xfrm>
          <a:prstGeom prst="rect">
            <a:avLst/>
          </a:prstGeom>
          <a:noFill/>
          <a:ln/>
        </p:spPr>
        <p:txBody>
          <a:bodyPr wrap="square" lIns="0" tIns="0" rIns="0" bIns="0" rtlCol="0" anchor="ctr">
            <a:normAutofit/>
          </a:bodyPr>
          <a:lstStyle/>
          <a:p>
            <a:pPr indent="0" marL="0">
              <a:buNone/>
            </a:pPr>
            <a:r>
              <a:rPr lang="en-US" sz="1300" b="1" dirty="0">
                <a:solidFill>
                  <a:srgbClr val="1E2761"/>
                </a:solidFill>
                <a:latin typeface="Calibri" pitchFamily="34" charset="0"/>
                <a:ea typeface="Calibri" pitchFamily="34" charset="-122"/>
                <a:cs typeface="Calibri" pitchFamily="34" charset="-120"/>
              </a:rPr>
              <a:t>Tatbiq mexanizmi</a:t>
            </a:r>
            <a:endParaRPr lang="en-US" sz="1300" dirty="0"/>
          </a:p>
        </p:txBody>
      </p:sp>
      <p:sp>
        <p:nvSpPr>
          <p:cNvPr id="36" name="Text 33"/>
          <p:cNvSpPr txBox="1"/>
          <p:nvPr/>
        </p:nvSpPr>
        <p:spPr>
          <a:xfrm>
            <a:off x="4498848" y="4343400"/>
            <a:ext cx="3200400" cy="1737360"/>
          </a:xfrm>
          <a:prstGeom prst="rect">
            <a:avLst/>
          </a:prstGeom>
          <a:noFill/>
          <a:ln/>
        </p:spPr>
        <p:txBody>
          <a:bodyPr wrap="square" lIns="0" tIns="0" rIns="0" bIns="0" rtlCol="0" anchor="t">
            <a:normAutofit/>
          </a:bodyPr>
          <a:lstStyle/>
          <a:p>
            <a:pPr indent="0" marL="0">
              <a:buNone/>
            </a:pPr>
            <a:r>
              <a:rPr lang="en-US" sz="1350" dirty="0">
                <a:solidFill>
                  <a:srgbClr val="1F2633"/>
                </a:solidFill>
                <a:latin typeface="Calibri" pitchFamily="34" charset="0"/>
                <a:ea typeface="Calibri" pitchFamily="34" charset="-122"/>
                <a:cs typeface="Calibri" pitchFamily="34" charset="-120"/>
              </a:rPr>
              <a:t>Laboratoriya → pilot partiya qurilish materiallari korxonasida </a:t>
            </a:r>
            <a:pPr indent="0" marL="0">
              <a:buNone/>
            </a:pPr>
            <a:r>
              <a:rPr lang="en-US" sz="1350" b="1" dirty="0">
                <a:solidFill>
                  <a:srgbClr val="8A5A00"/>
                </a:solidFill>
                <a:highlight>
                  <a:srgbClr val="FFF1C2"/>
                </a:highlight>
                <a:latin typeface="Calibri" pitchFamily="34" charset="0"/>
                <a:ea typeface="Calibri" pitchFamily="34" charset="-122"/>
                <a:cs typeface="Calibri" pitchFamily="34" charset="-120"/>
              </a:rPr>
              <a:t>[korxona]</a:t>
            </a:r>
            <a:pPr indent="0" marL="0">
              <a:buNone/>
            </a:pPr>
            <a:r>
              <a:rPr lang="en-US" sz="1350" dirty="0">
                <a:solidFill>
                  <a:srgbClr val="1F2633"/>
                </a:solidFill>
                <a:latin typeface="Calibri" pitchFamily="34" charset="0"/>
                <a:ea typeface="Calibri" pitchFamily="34" charset="-122"/>
                <a:cs typeface="Calibri" pitchFamily="34" charset="-120"/>
              </a:rPr>
              <a:t> → tatbiq dalolatnomasi → texnologik reglament.</a:t>
            </a:r>
            <a:endParaRPr lang="en-US" sz="1350" dirty="0"/>
          </a:p>
        </p:txBody>
      </p:sp>
      <p:sp>
        <p:nvSpPr>
          <p:cNvPr id="37" name="Shape 34"/>
          <p:cNvSpPr/>
          <p:nvPr/>
        </p:nvSpPr>
        <p:spPr>
          <a:xfrm>
            <a:off x="8046720" y="3657600"/>
            <a:ext cx="3611880" cy="2514600"/>
          </a:xfrm>
          <a:prstGeom prst="roundRect">
            <a:avLst>
              <a:gd name="adj" fmla="val 2182"/>
            </a:avLst>
          </a:prstGeom>
          <a:solidFill>
            <a:srgbClr val="FFFFFF"/>
          </a:solidFill>
          <a:ln w="12700">
            <a:solidFill>
              <a:srgbClr val="CADCFC"/>
            </a:solidFill>
            <a:prstDash val="solid"/>
          </a:ln>
        </p:spPr>
      </p:sp>
      <p:sp>
        <p:nvSpPr>
          <p:cNvPr id="38" name="Shape 35"/>
          <p:cNvSpPr/>
          <p:nvPr/>
        </p:nvSpPr>
        <p:spPr>
          <a:xfrm>
            <a:off x="8247888" y="3822192"/>
            <a:ext cx="384048" cy="384048"/>
          </a:xfrm>
          <a:prstGeom prst="ellipse">
            <a:avLst/>
          </a:prstGeom>
          <a:solidFill>
            <a:srgbClr val="C9A227"/>
          </a:solidFill>
          <a:ln w="12700">
            <a:solidFill>
              <a:srgbClr val="C9A227"/>
            </a:solidFill>
            <a:prstDash val="solid"/>
          </a:ln>
        </p:spPr>
      </p:sp>
      <p:sp>
        <p:nvSpPr>
          <p:cNvPr id="39" name="Text 36"/>
          <p:cNvSpPr txBox="1"/>
          <p:nvPr/>
        </p:nvSpPr>
        <p:spPr>
          <a:xfrm>
            <a:off x="8247888" y="3822192"/>
            <a:ext cx="384048" cy="384048"/>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3</a:t>
            </a:r>
            <a:endParaRPr lang="en-US" sz="1300" dirty="0"/>
          </a:p>
        </p:txBody>
      </p:sp>
      <p:sp>
        <p:nvSpPr>
          <p:cNvPr id="40" name="Text 37"/>
          <p:cNvSpPr txBox="1"/>
          <p:nvPr/>
        </p:nvSpPr>
        <p:spPr>
          <a:xfrm>
            <a:off x="8759952" y="3822192"/>
            <a:ext cx="2743200" cy="384048"/>
          </a:xfrm>
          <a:prstGeom prst="rect">
            <a:avLst/>
          </a:prstGeom>
          <a:noFill/>
          <a:ln/>
        </p:spPr>
        <p:txBody>
          <a:bodyPr wrap="square" lIns="0" tIns="0" rIns="0" bIns="0" rtlCol="0" anchor="ctr">
            <a:normAutofit/>
          </a:bodyPr>
          <a:lstStyle/>
          <a:p>
            <a:pPr indent="0" marL="0">
              <a:buNone/>
            </a:pPr>
            <a:r>
              <a:rPr lang="en-US" sz="1300" b="1" dirty="0">
                <a:solidFill>
                  <a:srgbClr val="1E2761"/>
                </a:solidFill>
                <a:latin typeface="Calibri" pitchFamily="34" charset="0"/>
                <a:ea typeface="Calibri" pitchFamily="34" charset="-122"/>
                <a:cs typeface="Calibri" pitchFamily="34" charset="-120"/>
              </a:rPr>
              <a:t>Tijoratlashtirish</a:t>
            </a:r>
            <a:endParaRPr lang="en-US" sz="1300" dirty="0"/>
          </a:p>
        </p:txBody>
      </p:sp>
      <p:sp>
        <p:nvSpPr>
          <p:cNvPr id="41" name="Text 38"/>
          <p:cNvSpPr txBox="1"/>
          <p:nvPr/>
        </p:nvSpPr>
        <p:spPr>
          <a:xfrm>
            <a:off x="8247888" y="4343400"/>
            <a:ext cx="3200400" cy="1737360"/>
          </a:xfrm>
          <a:prstGeom prst="rect">
            <a:avLst/>
          </a:prstGeom>
          <a:noFill/>
          <a:ln/>
        </p:spPr>
        <p:txBody>
          <a:bodyPr wrap="square" lIns="0" tIns="0" rIns="0" bIns="0" rtlCol="0" anchor="t">
            <a:normAutofit/>
          </a:bodyPr>
          <a:lstStyle/>
          <a:p>
            <a:pPr indent="0" marL="0">
              <a:buNone/>
            </a:pPr>
            <a:r>
              <a:rPr lang="en-US" sz="1350" dirty="0">
                <a:solidFill>
                  <a:srgbClr val="1F2633"/>
                </a:solidFill>
                <a:latin typeface="Calibri" pitchFamily="34" charset="0"/>
                <a:ea typeface="Calibri" pitchFamily="34" charset="-122"/>
                <a:cs typeface="Calibri" pitchFamily="34" charset="-120"/>
              </a:rPr>
              <a:t>Mahsulot: devor bloklari, yo‘lka plitalari. Patent asosida litsenziya yoki texnologiya transferi; NQIZ uchun chiqindi utilizatsiyasi xizmati.</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84048"/>
            <a:ext cx="7772400" cy="228600"/>
          </a:xfrm>
          <a:prstGeom prst="rect">
            <a:avLst/>
          </a:prstGeom>
          <a:noFill/>
          <a:ln/>
        </p:spPr>
        <p:txBody>
          <a:bodyPr wrap="square" lIns="0" tIns="0" rIns="0" bIns="0" rtlCol="0" anchor="t"/>
          <a:lstStyle/>
          <a:p>
            <a:pPr indent="0" marL="0">
              <a:buNone/>
            </a:pPr>
            <a:r>
              <a:rPr lang="en-US" sz="1000" b="1" spc="150" kern="0" dirty="0">
                <a:solidFill>
                  <a:srgbClr val="C9A227"/>
                </a:solidFill>
                <a:latin typeface="Calibri" pitchFamily="34" charset="0"/>
                <a:ea typeface="Calibri" pitchFamily="34" charset="-122"/>
                <a:cs typeface="Calibri" pitchFamily="34" charset="-120"/>
              </a:rPr>
              <a:t>DASTURNING 9-BANDI · 10-XATBOSHI</a:t>
            </a:r>
            <a:endParaRPr lang="en-US" sz="1000" dirty="0"/>
          </a:p>
        </p:txBody>
      </p:sp>
      <p:sp>
        <p:nvSpPr>
          <p:cNvPr id="3" name="Text 1"/>
          <p:cNvSpPr txBox="1"/>
          <p:nvPr/>
        </p:nvSpPr>
        <p:spPr>
          <a:xfrm>
            <a:off x="548640" y="658368"/>
            <a:ext cx="8778240" cy="868680"/>
          </a:xfrm>
          <a:prstGeom prst="rect">
            <a:avLst/>
          </a:prstGeom>
          <a:noFill/>
          <a:ln/>
        </p:spPr>
        <p:txBody>
          <a:bodyPr wrap="square" lIns="0" tIns="0" rIns="0" bIns="0" rtlCol="0" anchor="ctr">
            <a:normAutofit/>
          </a:bodyPr>
          <a:lstStyle/>
          <a:p>
            <a:pPr indent="0" marL="0">
              <a:buNone/>
            </a:pPr>
            <a:r>
              <a:rPr lang="en-US" sz="2400" b="1" dirty="0">
                <a:solidFill>
                  <a:srgbClr val="1E2761"/>
                </a:solidFill>
                <a:latin typeface="Cambria" pitchFamily="34" charset="0"/>
                <a:ea typeface="Cambria" pitchFamily="34" charset="-122"/>
                <a:cs typeface="Cambria" pitchFamily="34" charset="-120"/>
              </a:rPr>
              <a:t>Tadqiqot ishining ish rejasi va bosqichlari</a:t>
            </a:r>
            <a:endParaRPr lang="en-US" sz="2400" dirty="0"/>
          </a:p>
        </p:txBody>
      </p:sp>
      <p:sp>
        <p:nvSpPr>
          <p:cNvPr id="4" name="mezon"/>
          <p:cNvSpPr/>
          <p:nvPr/>
        </p:nvSpPr>
        <p:spPr>
          <a:xfrm>
            <a:off x="9921240" y="457200"/>
            <a:ext cx="1737360" cy="566928"/>
          </a:xfrm>
          <a:prstGeom prst="roundRect">
            <a:avLst>
              <a:gd name="adj" fmla="val 9677"/>
            </a:avLst>
          </a:prstGeom>
          <a:solidFill>
            <a:srgbClr val="1E2761"/>
          </a:solidFill>
          <a:ln w="12700">
            <a:solidFill>
              <a:srgbClr val="1E2761"/>
            </a:solidFill>
            <a:prstDash val="solid"/>
          </a:ln>
        </p:spPr>
      </p:sp>
      <p:sp>
        <p:nvSpPr>
          <p:cNvPr id="5" name="Text 3"/>
          <p:cNvSpPr txBox="1"/>
          <p:nvPr/>
        </p:nvSpPr>
        <p:spPr>
          <a:xfrm>
            <a:off x="9921240" y="457200"/>
            <a:ext cx="1737360" cy="566928"/>
          </a:xfrm>
          <a:prstGeom prst="rect">
            <a:avLst/>
          </a:prstGeom>
          <a:noFill/>
          <a:ln/>
        </p:spPr>
        <p:txBody>
          <a:bodyPr wrap="square" lIns="0" tIns="0" rIns="0" bIns="0" rtlCol="0" anchor="ctr"/>
          <a:lstStyle/>
          <a:p>
            <a:pPr algn="ctr" indent="0" marL="0">
              <a:buNone/>
            </a:pPr>
            <a:r>
              <a:rPr lang="en-US" sz="1100" b="1" spc="100" kern="0" dirty="0">
                <a:solidFill>
                  <a:srgbClr val="C9A227"/>
                </a:solidFill>
                <a:latin typeface="Calibri" pitchFamily="34" charset="0"/>
                <a:ea typeface="Calibri" pitchFamily="34" charset="-122"/>
                <a:cs typeface="Calibri" pitchFamily="34" charset="-120"/>
              </a:rPr>
              <a:t>4-MEZON</a:t>
            </a:r>
            <a:endParaRPr lang="en-US" sz="1100" dirty="0"/>
          </a:p>
        </p:txBody>
      </p:sp>
      <p:sp>
        <p:nvSpPr>
          <p:cNvPr id="6" name="Text 4"/>
          <p:cNvSpPr txBox="1"/>
          <p:nvPr/>
        </p:nvSpPr>
        <p:spPr>
          <a:xfrm>
            <a:off x="10241280" y="6419088"/>
            <a:ext cx="1417320" cy="274320"/>
          </a:xfrm>
          <a:prstGeom prst="rect">
            <a:avLst/>
          </a:prstGeom>
          <a:noFill/>
          <a:ln/>
        </p:spPr>
        <p:txBody>
          <a:bodyPr wrap="square" lIns="0" tIns="0" rIns="0" bIns="0" rtlCol="0" anchor="t"/>
          <a:lstStyle/>
          <a:p>
            <a:pPr algn="r" indent="0" marL="0">
              <a:buNone/>
            </a:pPr>
            <a:r>
              <a:rPr lang="en-US" sz="900" dirty="0">
                <a:solidFill>
                  <a:srgbClr val="8A93AE"/>
                </a:solidFill>
                <a:latin typeface="Calibri" pitchFamily="34" charset="0"/>
                <a:ea typeface="Calibri" pitchFamily="34" charset="-122"/>
                <a:cs typeface="Calibri" pitchFamily="34" charset="-120"/>
              </a:rPr>
              <a:t>15 / 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109960" cy="914400"/>
        </p:xfrm>
        <a:graphic>
          <a:graphicData uri="http://schemas.openxmlformats.org/drawingml/2006/table">
            <a:tbl>
              <a:tblPr/>
              <a:tblGrid>
                <a:gridCol w="2148840"/>
                <a:gridCol w="5486400"/>
                <a:gridCol w="3474720"/>
              </a:tblGrid>
              <a:tr h="54864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Bosqich</a:t>
                      </a:r>
                      <a:endParaRPr lang="en-US" sz="1250" dirty="0">
                        <a:latin typeface="Calibri" charset="0"/>
                        <a:ea typeface="Calibri" charset="0"/>
                        <a:cs typeface="Calibri" charset="0"/>
                      </a:endParaRPr>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Asosiy ishlar</a:t>
                      </a:r>
                      <a:endParaRPr lang="en-US" sz="1250" dirty="0">
                        <a:latin typeface="Calibri" charset="0"/>
                        <a:ea typeface="Calibri" charset="0"/>
                        <a:cs typeface="Calibri" charset="0"/>
                      </a:endParaRPr>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Ilmiy mahsulot</a:t>
                      </a:r>
                      <a:endParaRPr lang="en-US" sz="1250" dirty="0">
                        <a:latin typeface="Calibri" charset="0"/>
                        <a:ea typeface="Calibri" charset="0"/>
                        <a:cs typeface="Calibri" charset="0"/>
                      </a:endParaRPr>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r>
              <a:tr h="548640">
                <a:tc>
                  <a:txBody>
                    <a:bodyPr/>
                    <a:lstStyle/>
                    <a:p>
                      <a:pPr indent="0" marL="0">
                        <a:buNone/>
                      </a:pPr>
                      <a:r>
                        <a:rPr lang="en-US" sz="1300" b="1" dirty="0">
                          <a:solidFill>
                            <a:srgbClr val="1F2633"/>
                          </a:solidFill>
                          <a:latin typeface="Calibri" pitchFamily="34" charset="0"/>
                          <a:ea typeface="Calibri" pitchFamily="34" charset="-122"/>
                          <a:cs typeface="Calibri" pitchFamily="34" charset="-120"/>
                        </a:rPr>
                        <a:t>1-yil · 1-semestr</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300" dirty="0">
                          <a:solidFill>
                            <a:srgbClr val="1F2633"/>
                          </a:solidFill>
                          <a:latin typeface="Calibri" pitchFamily="34" charset="0"/>
                          <a:ea typeface="Calibri" pitchFamily="34" charset="-122"/>
                          <a:cs typeface="Calibri" pitchFamily="34" charset="-120"/>
                        </a:rPr>
                        <a:t>Adabiyotlar tahlili, manbalar xaritasi, namuna olish</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300" dirty="0">
                          <a:solidFill>
                            <a:srgbClr val="1F2633"/>
                          </a:solidFill>
                          <a:latin typeface="Calibri" pitchFamily="34" charset="0"/>
                          <a:ea typeface="Calibri" pitchFamily="34" charset="-122"/>
                          <a:cs typeface="Calibri" pitchFamily="34" charset="-120"/>
                        </a:rPr>
                        <a:t>Sharh maqola</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r>
              <a:tr h="548640">
                <a:tc>
                  <a:txBody>
                    <a:bodyPr/>
                    <a:lstStyle/>
                    <a:p>
                      <a:pPr indent="0" marL="0">
                        <a:buNone/>
                      </a:pPr>
                      <a:r>
                        <a:rPr lang="en-US" sz="1300" b="1" dirty="0">
                          <a:solidFill>
                            <a:srgbClr val="1F2633"/>
                          </a:solidFill>
                          <a:latin typeface="Calibri" pitchFamily="34" charset="0"/>
                          <a:ea typeface="Calibri" pitchFamily="34" charset="-122"/>
                          <a:cs typeface="Calibri" pitchFamily="34" charset="-120"/>
                        </a:rPr>
                        <a:t>1-yil · 2-semestr</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300" dirty="0">
                          <a:solidFill>
                            <a:srgbClr val="1F2633"/>
                          </a:solidFill>
                          <a:latin typeface="Calibri" pitchFamily="34" charset="0"/>
                          <a:ea typeface="Calibri" pitchFamily="34" charset="-122"/>
                          <a:cs typeface="Calibri" pitchFamily="34" charset="-120"/>
                        </a:rPr>
                        <a:t>Chiqindilarni tavsiflash (PXRD, FTIR, TG/DSC, SEM)</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300" dirty="0">
                          <a:solidFill>
                            <a:srgbClr val="1F2633"/>
                          </a:solidFill>
                          <a:latin typeface="Calibri" pitchFamily="34" charset="0"/>
                          <a:ea typeface="Calibri" pitchFamily="34" charset="-122"/>
                          <a:cs typeface="Calibri" pitchFamily="34" charset="-120"/>
                        </a:rPr>
                        <a:t>Chiqindi pasportlari, tezis</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F2633"/>
                          </a:solidFill>
                          <a:latin typeface="Calibri" pitchFamily="34" charset="0"/>
                          <a:ea typeface="Calibri" pitchFamily="34" charset="-122"/>
                          <a:cs typeface="Calibri" pitchFamily="34" charset="-120"/>
                        </a:rPr>
                        <a:t>2-yil · 3-semestr</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300" dirty="0">
                          <a:solidFill>
                            <a:srgbClr val="1F2633"/>
                          </a:solidFill>
                          <a:latin typeface="Calibri" pitchFamily="34" charset="0"/>
                          <a:ea typeface="Calibri" pitchFamily="34" charset="-122"/>
                          <a:cs typeface="Calibri" pitchFamily="34" charset="-120"/>
                        </a:rPr>
                        <a:t>Tayyorlash va modifikatsiya, kompozit seriyalari</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300" dirty="0">
                          <a:solidFill>
                            <a:srgbClr val="1F2633"/>
                          </a:solidFill>
                          <a:latin typeface="Calibri" pitchFamily="34" charset="0"/>
                          <a:ea typeface="Calibri" pitchFamily="34" charset="-122"/>
                          <a:cs typeface="Calibri" pitchFamily="34" charset="-120"/>
                        </a:rPr>
                        <a:t>Maqola (OAK)</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r>
              <a:tr h="548640">
                <a:tc>
                  <a:txBody>
                    <a:bodyPr/>
                    <a:lstStyle/>
                    <a:p>
                      <a:pPr indent="0" marL="0">
                        <a:buNone/>
                      </a:pPr>
                      <a:r>
                        <a:rPr lang="en-US" sz="1300" b="1" dirty="0">
                          <a:solidFill>
                            <a:srgbClr val="1F2633"/>
                          </a:solidFill>
                          <a:latin typeface="Calibri" pitchFamily="34" charset="0"/>
                          <a:ea typeface="Calibri" pitchFamily="34" charset="-122"/>
                          <a:cs typeface="Calibri" pitchFamily="34" charset="-120"/>
                        </a:rPr>
                        <a:t>2-yil · 4-semestr</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300" dirty="0">
                          <a:solidFill>
                            <a:srgbClr val="1F2633"/>
                          </a:solidFill>
                          <a:latin typeface="Calibri" pitchFamily="34" charset="0"/>
                          <a:ea typeface="Calibri" pitchFamily="34" charset="-122"/>
                          <a:cs typeface="Calibri" pitchFamily="34" charset="-120"/>
                        </a:rPr>
                        <a:t>Fizik-mexanik va ekologik sinovlar</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300" dirty="0">
                          <a:solidFill>
                            <a:srgbClr val="1F2633"/>
                          </a:solidFill>
                          <a:latin typeface="Calibri" pitchFamily="34" charset="0"/>
                          <a:ea typeface="Calibri" pitchFamily="34" charset="-122"/>
                          <a:cs typeface="Calibri" pitchFamily="34" charset="-120"/>
                        </a:rPr>
                        <a:t>Maqola (xalqaro), patentga talabnoma</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F2633"/>
                          </a:solidFill>
                          <a:latin typeface="Calibri" pitchFamily="34" charset="0"/>
                          <a:ea typeface="Calibri" pitchFamily="34" charset="-122"/>
                          <a:cs typeface="Calibri" pitchFamily="34" charset="-120"/>
                        </a:rPr>
                        <a:t>3-yil · 5-semestr</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300" dirty="0">
                          <a:solidFill>
                            <a:srgbClr val="1F2633"/>
                          </a:solidFill>
                          <a:latin typeface="Calibri" pitchFamily="34" charset="0"/>
                          <a:ea typeface="Calibri" pitchFamily="34" charset="-122"/>
                          <a:cs typeface="Calibri" pitchFamily="34" charset="-120"/>
                        </a:rPr>
                        <a:t>Optimallashtirish, pilot partiya, texnik-iqtisodiy baho</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c>
                  <a:txBody>
                    <a:bodyPr/>
                    <a:lstStyle/>
                    <a:p>
                      <a:pPr indent="0" marL="0">
                        <a:buNone/>
                      </a:pPr>
                      <a:r>
                        <a:rPr lang="en-US" sz="1300" dirty="0">
                          <a:solidFill>
                            <a:srgbClr val="1F2633"/>
                          </a:solidFill>
                          <a:latin typeface="Calibri" pitchFamily="34" charset="0"/>
                          <a:ea typeface="Calibri" pitchFamily="34" charset="-122"/>
                          <a:cs typeface="Calibri" pitchFamily="34" charset="-120"/>
                        </a:rPr>
                        <a:t>Tatbiq dalolatnomasi</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4F6FB"/>
                    </a:solidFill>
                  </a:tcPr>
                </a:tc>
              </a:tr>
              <a:tr h="548640">
                <a:tc>
                  <a:txBody>
                    <a:bodyPr/>
                    <a:lstStyle/>
                    <a:p>
                      <a:pPr indent="0" marL="0">
                        <a:buNone/>
                      </a:pPr>
                      <a:r>
                        <a:rPr lang="en-US" sz="1300" b="1" dirty="0">
                          <a:solidFill>
                            <a:srgbClr val="1F2633"/>
                          </a:solidFill>
                          <a:latin typeface="Calibri" pitchFamily="34" charset="0"/>
                          <a:ea typeface="Calibri" pitchFamily="34" charset="-122"/>
                          <a:cs typeface="Calibri" pitchFamily="34" charset="-120"/>
                        </a:rPr>
                        <a:t>3-yil · 6-semestr</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300" dirty="0">
                          <a:solidFill>
                            <a:srgbClr val="1F2633"/>
                          </a:solidFill>
                          <a:latin typeface="Calibri" pitchFamily="34" charset="0"/>
                          <a:ea typeface="Calibri" pitchFamily="34" charset="-122"/>
                          <a:cs typeface="Calibri" pitchFamily="34" charset="-120"/>
                        </a:rPr>
                        <a:t>Dissertatsiyani yakunlash, dastlabki ekspertiza, himoya</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indent="0" marL="0">
                        <a:buNone/>
                      </a:pPr>
                      <a:r>
                        <a:rPr lang="en-US" sz="1300" dirty="0">
                          <a:solidFill>
                            <a:srgbClr val="1F2633"/>
                          </a:solidFill>
                          <a:latin typeface="Calibri" pitchFamily="34" charset="0"/>
                          <a:ea typeface="Calibri" pitchFamily="34" charset="-122"/>
                          <a:cs typeface="Calibri" pitchFamily="34" charset="-120"/>
                        </a:rPr>
                        <a:t>Dissertatsiya, avtoreferat</a:t>
                      </a:r>
                      <a:endParaRPr lang="en-US" sz="1200" dirty="0"/>
                    </a:p>
                  </a:txBody>
                  <a:tcPr marL="82296" marR="82296"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548640" y="5715000"/>
            <a:ext cx="11109960" cy="502920"/>
          </a:xfrm>
          <a:prstGeom prst="rect">
            <a:avLst/>
          </a:prstGeom>
          <a:noFill/>
          <a:ln/>
        </p:spPr>
        <p:txBody>
          <a:bodyPr wrap="square" lIns="0" tIns="0" rIns="0" bIns="0" rtlCol="0" anchor="ctr"/>
          <a:lstStyle/>
          <a:p>
            <a:pPr algn="ctr" indent="0" marL="0">
              <a:buNone/>
            </a:pPr>
            <a:r>
              <a:rPr lang="en-US" sz="2200" b="1" i="1" dirty="0">
                <a:solidFill>
                  <a:srgbClr val="1E2761"/>
                </a:solidFill>
                <a:latin typeface="Cambria" pitchFamily="34" charset="0"/>
                <a:ea typeface="Cambria" pitchFamily="34" charset="-122"/>
                <a:cs typeface="Cambria" pitchFamily="34" charset="-120"/>
              </a:rPr>
              <a:t>E’tiboringiz uchun rahmat!</a:t>
            </a:r>
            <a:endParaRPr lang="en-US" sz="2200" dirty="0"/>
          </a:p>
        </p:txBody>
      </p:sp>
    </p:spTree>
  </p:cSld>
  <p:clrMapOvr>
    <a:masterClrMapping/>
  </p:clrMapOvr>
</p:sld>
</file>

<file path=ppt/theme/theme1.xml><?xml version="1.0" encoding="utf-8"?>
<a:theme xmlns:a="http://schemas.openxmlformats.org/drawingml/2006/main" name="PhD B-blok">
  <a:themeElements>
    <a:clrScheme name="PhD B-blok">
      <a:dk1>
        <a:srgbClr val="1F2633"/>
      </a:dk1>
      <a:lt1>
        <a:srgbClr val="FFFFFF"/>
      </a:lt1>
      <a:dk2>
        <a:srgbClr val="1E2761"/>
      </a:dk2>
      <a:lt2>
        <a:srgbClr val="F4F6FB"/>
      </a:lt2>
      <a:accent1>
        <a:srgbClr val="1E2761"/>
      </a:accent1>
      <a:accent2>
        <a:srgbClr val="C9A227"/>
      </a:accent2>
      <a:accent3>
        <a:srgbClr val="3B4A8C"/>
      </a:accent3>
      <a:accent4>
        <a:srgbClr val="6A7290"/>
      </a:accent4>
      <a:accent5>
        <a:srgbClr val="CADCFC"/>
      </a:accent5>
      <a:accent6>
        <a:srgbClr val="E8CE8A"/>
      </a:accent6>
      <a:hlink>
        <a:srgbClr val="3B4A8C"/>
      </a:hlink>
      <a:folHlink>
        <a:srgbClr val="6A7290"/>
      </a:folHlink>
    </a:clrScheme>
    <a:fontScheme name="PhD B-bl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Neft va neft-kimyo chiqindilari qurilish kompozitlari uchun ikkilamchi xomashyo sifatida</dc:title>
  <dc:subject>PptxGenJS Presentation</dc:subject>
  <dc:creator>Raxmanov Anvar Akramovich</dc:creator>
  <cp:lastModifiedBy>Raxmanov Anvar Akramovich</cp:lastModifiedBy>
  <cp:revision>1</cp:revision>
  <dcterms:created xsi:type="dcterms:W3CDTF">2026-10-21T14:15:44Z</dcterms:created>
  <dcterms:modified xsi:type="dcterms:W3CDTF">2026-10-21T14:15:44Z</dcterms:modified>
</cp:coreProperties>
</file>